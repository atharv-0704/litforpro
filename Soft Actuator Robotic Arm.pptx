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318" r:id="rId5"/>
    <p:sldId id="310" r:id="rId6"/>
    <p:sldId id="311" r:id="rId7"/>
    <p:sldId id="312" r:id="rId8"/>
    <p:sldId id="313" r:id="rId9"/>
    <p:sldId id="314" r:id="rId10"/>
    <p:sldId id="315" r:id="rId11"/>
    <p:sldId id="316" r:id="rId12"/>
    <p:sldId id="317" r:id="rId13"/>
    <p:sldId id="31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19" autoAdjust="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8/22/2026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7225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8/22/2026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52010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8/22/2026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70401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8/22/2026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52231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8/22/2026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16775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8/22/2026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42260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8/22/2026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40723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8/22/2026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411850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8/22/2026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84398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8/22/2026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90708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034CC-FCCB-2A8B-F537-85E28A039E2C}"/>
              </a:ext>
            </a:extLst>
          </p:cNvPr>
          <p:cNvSpPr>
            <a:spLocks noGrp="1"/>
          </p:cNvSpPr>
          <p:nvPr>
            <p:ph type="title"/>
          </p:nvPr>
        </p:nvSpPr>
        <p:spPr>
          <a:xfrm>
            <a:off x="1097280" y="286603"/>
            <a:ext cx="10058400" cy="1565057"/>
          </a:xfrm>
        </p:spPr>
        <p:txBody>
          <a:bodyPr anchor="t">
            <a:normAutofit fontScale="90000"/>
          </a:bodyPr>
          <a:lstStyle/>
          <a:p>
            <a:pPr algn="ctr"/>
            <a:r>
              <a:rPr lang="en-IN" sz="5300" dirty="0"/>
              <a:t>Soft Actuator Robotic Arm</a:t>
            </a:r>
            <a:br>
              <a:rPr lang="en-IN" sz="2000" dirty="0"/>
            </a:br>
            <a:br>
              <a:rPr lang="en-IN" sz="2000" dirty="0"/>
            </a:br>
            <a:r>
              <a:rPr lang="en-IN" sz="1600" dirty="0"/>
              <a:t>Atharv Nagvekar [RBT23ME069]</a:t>
            </a:r>
            <a:br>
              <a:rPr lang="en-IN" sz="2000" dirty="0"/>
            </a:br>
            <a:br>
              <a:rPr lang="en-IN" sz="2000" dirty="0"/>
            </a:br>
            <a:r>
              <a:rPr lang="en-IN" sz="2000" dirty="0"/>
              <a:t>Under guidance of :- Arvind Bansode (Sc-E)</a:t>
            </a:r>
          </a:p>
        </p:txBody>
      </p:sp>
      <p:pic>
        <p:nvPicPr>
          <p:cNvPr id="9" name="Content Placeholder 8">
            <a:extLst>
              <a:ext uri="{FF2B5EF4-FFF2-40B4-BE49-F238E27FC236}">
                <a16:creationId xmlns:a16="http://schemas.microsoft.com/office/drawing/2014/main" id="{D86AE540-0C8D-CBBF-A776-2CDC551D0DAF}"/>
              </a:ext>
            </a:extLst>
          </p:cNvPr>
          <p:cNvPicPr>
            <a:picLocks noGrp="1" noChangeAspect="1"/>
          </p:cNvPicPr>
          <p:nvPr>
            <p:ph idx="1"/>
          </p:nvPr>
        </p:nvPicPr>
        <p:blipFill>
          <a:blip r:embed="rId2"/>
          <a:stretch>
            <a:fillRect/>
          </a:stretch>
        </p:blipFill>
        <p:spPr>
          <a:xfrm>
            <a:off x="5273040" y="2039620"/>
            <a:ext cx="5882640" cy="3760788"/>
          </a:xfrm>
          <a:prstGeom prst="rect">
            <a:avLst/>
          </a:prstGeom>
        </p:spPr>
      </p:pic>
      <p:sp>
        <p:nvSpPr>
          <p:cNvPr id="10" name="TextBox 9">
            <a:extLst>
              <a:ext uri="{FF2B5EF4-FFF2-40B4-BE49-F238E27FC236}">
                <a16:creationId xmlns:a16="http://schemas.microsoft.com/office/drawing/2014/main" id="{25D2FC5E-D39D-5E06-C043-53E98B3A7771}"/>
              </a:ext>
            </a:extLst>
          </p:cNvPr>
          <p:cNvSpPr txBox="1"/>
          <p:nvPr/>
        </p:nvSpPr>
        <p:spPr>
          <a:xfrm>
            <a:off x="1097280" y="2029460"/>
            <a:ext cx="3924300" cy="3662541"/>
          </a:xfrm>
          <a:prstGeom prst="rect">
            <a:avLst/>
          </a:prstGeom>
          <a:noFill/>
        </p:spPr>
        <p:txBody>
          <a:bodyPr wrap="square" rtlCol="0">
            <a:spAutoFit/>
          </a:bodyPr>
          <a:lstStyle/>
          <a:p>
            <a:r>
              <a:rPr lang="en-IN" dirty="0"/>
              <a:t>Soft Actuator :</a:t>
            </a:r>
            <a:br>
              <a:rPr lang="en-IN" dirty="0"/>
            </a:br>
            <a:r>
              <a:rPr lang="en-IN" sz="1400" dirty="0"/>
              <a:t>Soft actuators mimic biological muscles by producing motion through deformation rather than rigid mechanical joints. They are lightweight, flexible, compliant, and capable of safe interaction with humans and unstructured environments.</a:t>
            </a:r>
          </a:p>
          <a:p>
            <a:endParaRPr lang="en-IN" sz="1400" dirty="0"/>
          </a:p>
          <a:p>
            <a:r>
              <a:rPr lang="en-IN" sz="1400" b="1" dirty="0"/>
              <a:t>Key Features:</a:t>
            </a:r>
            <a:endParaRPr lang="en-IN" sz="1400" dirty="0"/>
          </a:p>
          <a:p>
            <a:pPr marL="285750" lvl="0" indent="-285750">
              <a:buFont typeface="Arial" panose="020B0604020202020204" pitchFamily="34" charset="0"/>
              <a:buChar char="•"/>
            </a:pPr>
            <a:r>
              <a:rPr lang="en-IN" sz="1400" dirty="0"/>
              <a:t>Flexible and lightweight </a:t>
            </a:r>
          </a:p>
          <a:p>
            <a:pPr marL="285750" lvl="0" indent="-285750">
              <a:buFont typeface="Arial" panose="020B0604020202020204" pitchFamily="34" charset="0"/>
              <a:buChar char="•"/>
            </a:pPr>
            <a:r>
              <a:rPr lang="en-IN" sz="1400" dirty="0"/>
              <a:t>Muscle-like contraction and extension </a:t>
            </a:r>
          </a:p>
          <a:p>
            <a:pPr marL="285750" lvl="0" indent="-285750">
              <a:buFont typeface="Arial" panose="020B0604020202020204" pitchFamily="34" charset="0"/>
              <a:buChar char="•"/>
            </a:pPr>
            <a:r>
              <a:rPr lang="en-IN" sz="1400" dirty="0"/>
              <a:t>High compliance and adaptability </a:t>
            </a:r>
          </a:p>
          <a:p>
            <a:pPr marL="285750" lvl="0" indent="-285750">
              <a:buFont typeface="Arial" panose="020B0604020202020204" pitchFamily="34" charset="0"/>
              <a:buChar char="•"/>
            </a:pPr>
            <a:r>
              <a:rPr lang="en-IN" sz="1400" dirty="0"/>
              <a:t>Safe for human–robot interaction </a:t>
            </a:r>
          </a:p>
          <a:p>
            <a:pPr marL="285750" lvl="0" indent="-285750">
              <a:buFont typeface="Arial" panose="020B0604020202020204" pitchFamily="34" charset="0"/>
              <a:buChar char="•"/>
            </a:pPr>
            <a:r>
              <a:rPr lang="en-IN" sz="1400" dirty="0"/>
              <a:t>Can be actuated using pneumatic, hydraulic, electrical, or smart materials </a:t>
            </a:r>
          </a:p>
          <a:p>
            <a:endParaRPr lang="en-IN" dirty="0"/>
          </a:p>
        </p:txBody>
      </p:sp>
    </p:spTree>
    <p:extLst>
      <p:ext uri="{BB962C8B-B14F-4D97-AF65-F5344CB8AC3E}">
        <p14:creationId xmlns:p14="http://schemas.microsoft.com/office/powerpoint/2010/main" val="23326634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6CB32-901A-4DA0-AA8A-9A7B5A88BFCD}"/>
              </a:ext>
            </a:extLst>
          </p:cNvPr>
          <p:cNvSpPr>
            <a:spLocks noGrp="1"/>
          </p:cNvSpPr>
          <p:nvPr>
            <p:ph type="title"/>
          </p:nvPr>
        </p:nvSpPr>
        <p:spPr>
          <a:xfrm>
            <a:off x="1097280" y="286603"/>
            <a:ext cx="10058400" cy="1450757"/>
          </a:xfrm>
        </p:spPr>
        <p:txBody>
          <a:bodyPr>
            <a:normAutofit/>
          </a:bodyPr>
          <a:lstStyle/>
          <a:p>
            <a:r>
              <a:rPr lang="en-US" dirty="0"/>
              <a:t>Robotic Arm </a:t>
            </a:r>
          </a:p>
        </p:txBody>
      </p:sp>
      <p:sp>
        <p:nvSpPr>
          <p:cNvPr id="4" name="Content Placeholder 3">
            <a:extLst>
              <a:ext uri="{FF2B5EF4-FFF2-40B4-BE49-F238E27FC236}">
                <a16:creationId xmlns:a16="http://schemas.microsoft.com/office/drawing/2014/main" id="{AAF53AA5-7B24-3B08-A2FD-940A4106FC9C}"/>
              </a:ext>
            </a:extLst>
          </p:cNvPr>
          <p:cNvSpPr>
            <a:spLocks noGrp="1"/>
          </p:cNvSpPr>
          <p:nvPr>
            <p:ph idx="1"/>
          </p:nvPr>
        </p:nvSpPr>
        <p:spPr/>
        <p:txBody>
          <a:bodyPr/>
          <a:lstStyle/>
          <a:p>
            <a:r>
              <a:rPr lang="en-IN" dirty="0"/>
              <a:t>A </a:t>
            </a:r>
            <a:r>
              <a:rPr lang="en-IN" b="1" dirty="0"/>
              <a:t>soft actuator robotic arm</a:t>
            </a:r>
            <a:r>
              <a:rPr lang="en-IN" dirty="0"/>
              <a:t> uses flexible and deformable actuators to produce movement by mimicking the contraction and relaxation of human muscles. These actuators can bend, expand, contract, or twist to generate motion. Different actuators can represent muscles such as the biceps for flexion and triceps for extension. Soft robotic arms are lightweight, flexible, and safer for human interaction than conventional rigid robotic systems. They can also adapt to different shapes and environments due to their compliant structure. Soft actuator robotic arms have applications in rehabilitation, prosthetics, assistive devices, medical robotics, and human–robot interaction.</a:t>
            </a:r>
          </a:p>
          <a:p>
            <a:endParaRPr lang="en-IN" dirty="0"/>
          </a:p>
        </p:txBody>
      </p:sp>
    </p:spTree>
    <p:extLst>
      <p:ext uri="{BB962C8B-B14F-4D97-AF65-F5344CB8AC3E}">
        <p14:creationId xmlns:p14="http://schemas.microsoft.com/office/powerpoint/2010/main" val="24825468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C3AE8-A300-DE92-E317-A2998546FD15}"/>
              </a:ext>
            </a:extLst>
          </p:cNvPr>
          <p:cNvSpPr>
            <a:spLocks noGrp="1"/>
          </p:cNvSpPr>
          <p:nvPr>
            <p:ph type="title"/>
          </p:nvPr>
        </p:nvSpPr>
        <p:spPr/>
        <p:txBody>
          <a:bodyPr/>
          <a:lstStyle/>
          <a:p>
            <a:r>
              <a:rPr lang="en-IN" dirty="0"/>
              <a:t>Muscle involved in this movements</a:t>
            </a:r>
          </a:p>
        </p:txBody>
      </p:sp>
      <p:sp>
        <p:nvSpPr>
          <p:cNvPr id="3" name="Content Placeholder 2">
            <a:extLst>
              <a:ext uri="{FF2B5EF4-FFF2-40B4-BE49-F238E27FC236}">
                <a16:creationId xmlns:a16="http://schemas.microsoft.com/office/drawing/2014/main" id="{D5FE4B48-5793-857D-367E-C6CD17ED0771}"/>
              </a:ext>
            </a:extLst>
          </p:cNvPr>
          <p:cNvSpPr>
            <a:spLocks noGrp="1"/>
          </p:cNvSpPr>
          <p:nvPr>
            <p:ph idx="1"/>
          </p:nvPr>
        </p:nvSpPr>
        <p:spPr/>
        <p:txBody>
          <a:bodyPr/>
          <a:lstStyle/>
          <a:p>
            <a:r>
              <a:rPr lang="en-IN" dirty="0"/>
              <a:t>Flexion: Biceps brachii, Brachialis, Brachioradialis, </a:t>
            </a:r>
          </a:p>
          <a:p>
            <a:r>
              <a:rPr lang="en-IN" dirty="0"/>
              <a:t>Extension : Triceps Brachii , </a:t>
            </a:r>
            <a:r>
              <a:rPr lang="en-IN" dirty="0" err="1"/>
              <a:t>Anconeus</a:t>
            </a:r>
            <a:endParaRPr lang="en-IN" dirty="0"/>
          </a:p>
          <a:p>
            <a:r>
              <a:rPr lang="en-IN" dirty="0"/>
              <a:t>Pronation : Pronator teres, Pronator quadratus</a:t>
            </a:r>
          </a:p>
          <a:p>
            <a:r>
              <a:rPr lang="en-IN" dirty="0"/>
              <a:t>Supination : Supinator</a:t>
            </a:r>
          </a:p>
          <a:p>
            <a:endParaRPr lang="en-IN" dirty="0"/>
          </a:p>
        </p:txBody>
      </p:sp>
      <p:pic>
        <p:nvPicPr>
          <p:cNvPr id="5" name="Picture 4">
            <a:extLst>
              <a:ext uri="{FF2B5EF4-FFF2-40B4-BE49-F238E27FC236}">
                <a16:creationId xmlns:a16="http://schemas.microsoft.com/office/drawing/2014/main" id="{6FC87FC9-E2F4-8CA7-2C2A-E4B6F6081B7C}"/>
              </a:ext>
            </a:extLst>
          </p:cNvPr>
          <p:cNvPicPr>
            <a:picLocks noChangeAspect="1"/>
          </p:cNvPicPr>
          <p:nvPr/>
        </p:nvPicPr>
        <p:blipFill>
          <a:blip r:embed="rId2"/>
          <a:stretch>
            <a:fillRect/>
          </a:stretch>
        </p:blipFill>
        <p:spPr>
          <a:xfrm>
            <a:off x="1051560" y="53340"/>
            <a:ext cx="10149840" cy="6286500"/>
          </a:xfrm>
          <a:prstGeom prst="rect">
            <a:avLst/>
          </a:prstGeom>
        </p:spPr>
      </p:pic>
    </p:spTree>
    <p:extLst>
      <p:ext uri="{BB962C8B-B14F-4D97-AF65-F5344CB8AC3E}">
        <p14:creationId xmlns:p14="http://schemas.microsoft.com/office/powerpoint/2010/main" val="22781572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8CE5B-F395-1C7C-2FE7-527F23816ECE}"/>
              </a:ext>
            </a:extLst>
          </p:cNvPr>
          <p:cNvSpPr>
            <a:spLocks noGrp="1"/>
          </p:cNvSpPr>
          <p:nvPr>
            <p:ph type="title"/>
          </p:nvPr>
        </p:nvSpPr>
        <p:spPr/>
        <p:txBody>
          <a:bodyPr/>
          <a:lstStyle/>
          <a:p>
            <a:r>
              <a:rPr lang="en-IN" dirty="0"/>
              <a:t>Biceps brachii</a:t>
            </a:r>
          </a:p>
        </p:txBody>
      </p:sp>
      <p:pic>
        <p:nvPicPr>
          <p:cNvPr id="10" name="Content Placeholder 9">
            <a:extLst>
              <a:ext uri="{FF2B5EF4-FFF2-40B4-BE49-F238E27FC236}">
                <a16:creationId xmlns:a16="http://schemas.microsoft.com/office/drawing/2014/main" id="{8D4D0FB1-B428-C61C-1AA1-CDA8E08873AE}"/>
              </a:ext>
            </a:extLst>
          </p:cNvPr>
          <p:cNvPicPr>
            <a:picLocks noGrp="1" noChangeAspect="1"/>
          </p:cNvPicPr>
          <p:nvPr>
            <p:ph idx="1"/>
          </p:nvPr>
        </p:nvPicPr>
        <p:blipFill>
          <a:blip r:embed="rId2"/>
          <a:stretch>
            <a:fillRect/>
          </a:stretch>
        </p:blipFill>
        <p:spPr>
          <a:xfrm>
            <a:off x="1097279" y="1921933"/>
            <a:ext cx="10058399" cy="3947055"/>
          </a:xfrm>
          <a:prstGeom prst="rect">
            <a:avLst/>
          </a:prstGeom>
        </p:spPr>
      </p:pic>
    </p:spTree>
    <p:extLst>
      <p:ext uri="{BB962C8B-B14F-4D97-AF65-F5344CB8AC3E}">
        <p14:creationId xmlns:p14="http://schemas.microsoft.com/office/powerpoint/2010/main" val="14264678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2C6EB-93F7-05B1-F9AB-DF43DE88A10D}"/>
              </a:ext>
            </a:extLst>
          </p:cNvPr>
          <p:cNvSpPr>
            <a:spLocks noGrp="1"/>
          </p:cNvSpPr>
          <p:nvPr>
            <p:ph type="title"/>
          </p:nvPr>
        </p:nvSpPr>
        <p:spPr/>
        <p:txBody>
          <a:bodyPr/>
          <a:lstStyle/>
          <a:p>
            <a:r>
              <a:rPr lang="en-IN" dirty="0"/>
              <a:t>Brachialis</a:t>
            </a:r>
          </a:p>
        </p:txBody>
      </p:sp>
      <p:pic>
        <p:nvPicPr>
          <p:cNvPr id="5" name="Content Placeholder 4">
            <a:extLst>
              <a:ext uri="{FF2B5EF4-FFF2-40B4-BE49-F238E27FC236}">
                <a16:creationId xmlns:a16="http://schemas.microsoft.com/office/drawing/2014/main" id="{F0992CD5-A63F-F80C-9A1E-473B9E4E33BE}"/>
              </a:ext>
            </a:extLst>
          </p:cNvPr>
          <p:cNvPicPr>
            <a:picLocks noGrp="1" noChangeAspect="1"/>
          </p:cNvPicPr>
          <p:nvPr>
            <p:ph idx="1"/>
          </p:nvPr>
        </p:nvPicPr>
        <p:blipFill>
          <a:blip r:embed="rId2"/>
          <a:stretch>
            <a:fillRect/>
          </a:stretch>
        </p:blipFill>
        <p:spPr>
          <a:xfrm>
            <a:off x="1026160" y="1981200"/>
            <a:ext cx="10139680" cy="3937000"/>
          </a:xfrm>
          <a:prstGeom prst="rect">
            <a:avLst/>
          </a:prstGeom>
        </p:spPr>
      </p:pic>
    </p:spTree>
    <p:extLst>
      <p:ext uri="{BB962C8B-B14F-4D97-AF65-F5344CB8AC3E}">
        <p14:creationId xmlns:p14="http://schemas.microsoft.com/office/powerpoint/2010/main" val="16176929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86E6F-3955-29AD-1D9E-26FB4AF05853}"/>
              </a:ext>
            </a:extLst>
          </p:cNvPr>
          <p:cNvSpPr>
            <a:spLocks noGrp="1"/>
          </p:cNvSpPr>
          <p:nvPr>
            <p:ph type="title"/>
          </p:nvPr>
        </p:nvSpPr>
        <p:spPr/>
        <p:txBody>
          <a:bodyPr/>
          <a:lstStyle/>
          <a:p>
            <a:r>
              <a:rPr lang="en-IN" dirty="0"/>
              <a:t>Brachioradialis</a:t>
            </a:r>
          </a:p>
        </p:txBody>
      </p:sp>
      <p:pic>
        <p:nvPicPr>
          <p:cNvPr id="5" name="Content Placeholder 4">
            <a:extLst>
              <a:ext uri="{FF2B5EF4-FFF2-40B4-BE49-F238E27FC236}">
                <a16:creationId xmlns:a16="http://schemas.microsoft.com/office/drawing/2014/main" id="{10AFFED2-2197-AEE3-9C27-9F44743203B9}"/>
              </a:ext>
            </a:extLst>
          </p:cNvPr>
          <p:cNvPicPr>
            <a:picLocks noGrp="1" noChangeAspect="1"/>
          </p:cNvPicPr>
          <p:nvPr>
            <p:ph idx="1"/>
          </p:nvPr>
        </p:nvPicPr>
        <p:blipFill>
          <a:blip r:embed="rId2"/>
          <a:stretch>
            <a:fillRect/>
          </a:stretch>
        </p:blipFill>
        <p:spPr>
          <a:xfrm>
            <a:off x="1097279" y="2108200"/>
            <a:ext cx="10121053" cy="3760788"/>
          </a:xfrm>
          <a:prstGeom prst="rect">
            <a:avLst/>
          </a:prstGeom>
        </p:spPr>
      </p:pic>
    </p:spTree>
    <p:extLst>
      <p:ext uri="{BB962C8B-B14F-4D97-AF65-F5344CB8AC3E}">
        <p14:creationId xmlns:p14="http://schemas.microsoft.com/office/powerpoint/2010/main" val="33171820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3AE2E-355A-C7E9-E79F-DAF54C8E91CA}"/>
              </a:ext>
            </a:extLst>
          </p:cNvPr>
          <p:cNvSpPr>
            <a:spLocks noGrp="1"/>
          </p:cNvSpPr>
          <p:nvPr>
            <p:ph type="title"/>
          </p:nvPr>
        </p:nvSpPr>
        <p:spPr/>
        <p:txBody>
          <a:bodyPr/>
          <a:lstStyle/>
          <a:p>
            <a:r>
              <a:rPr lang="en-IN" dirty="0"/>
              <a:t>Pronator Teres</a:t>
            </a:r>
          </a:p>
        </p:txBody>
      </p:sp>
      <p:pic>
        <p:nvPicPr>
          <p:cNvPr id="5" name="Content Placeholder 4">
            <a:extLst>
              <a:ext uri="{FF2B5EF4-FFF2-40B4-BE49-F238E27FC236}">
                <a16:creationId xmlns:a16="http://schemas.microsoft.com/office/drawing/2014/main" id="{378C808E-4E1D-FD79-6A46-B69639F2E655}"/>
              </a:ext>
            </a:extLst>
          </p:cNvPr>
          <p:cNvPicPr>
            <a:picLocks noGrp="1" noChangeAspect="1"/>
          </p:cNvPicPr>
          <p:nvPr>
            <p:ph idx="1"/>
          </p:nvPr>
        </p:nvPicPr>
        <p:blipFill>
          <a:blip r:embed="rId2"/>
          <a:stretch>
            <a:fillRect/>
          </a:stretch>
        </p:blipFill>
        <p:spPr>
          <a:xfrm>
            <a:off x="1097279" y="2108200"/>
            <a:ext cx="10058399" cy="3760788"/>
          </a:xfrm>
          <a:prstGeom prst="rect">
            <a:avLst/>
          </a:prstGeom>
        </p:spPr>
      </p:pic>
    </p:spTree>
    <p:extLst>
      <p:ext uri="{BB962C8B-B14F-4D97-AF65-F5344CB8AC3E}">
        <p14:creationId xmlns:p14="http://schemas.microsoft.com/office/powerpoint/2010/main" val="23949586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FF7CA-9EB4-6B41-E36B-97102462DA6E}"/>
              </a:ext>
            </a:extLst>
          </p:cNvPr>
          <p:cNvSpPr>
            <a:spLocks noGrp="1"/>
          </p:cNvSpPr>
          <p:nvPr>
            <p:ph type="title"/>
          </p:nvPr>
        </p:nvSpPr>
        <p:spPr/>
        <p:txBody>
          <a:bodyPr/>
          <a:lstStyle/>
          <a:p>
            <a:r>
              <a:rPr lang="en-IN" dirty="0"/>
              <a:t>Triceps Brachii</a:t>
            </a:r>
          </a:p>
        </p:txBody>
      </p:sp>
      <p:pic>
        <p:nvPicPr>
          <p:cNvPr id="5" name="Content Placeholder 4">
            <a:extLst>
              <a:ext uri="{FF2B5EF4-FFF2-40B4-BE49-F238E27FC236}">
                <a16:creationId xmlns:a16="http://schemas.microsoft.com/office/drawing/2014/main" id="{DBAC90FE-1B82-0553-28E1-72D8CE153AA1}"/>
              </a:ext>
            </a:extLst>
          </p:cNvPr>
          <p:cNvPicPr>
            <a:picLocks noGrp="1" noChangeAspect="1"/>
          </p:cNvPicPr>
          <p:nvPr>
            <p:ph idx="1"/>
          </p:nvPr>
        </p:nvPicPr>
        <p:blipFill>
          <a:blip r:embed="rId2"/>
          <a:stretch>
            <a:fillRect/>
          </a:stretch>
        </p:blipFill>
        <p:spPr>
          <a:xfrm>
            <a:off x="1097279" y="2108200"/>
            <a:ext cx="10058399" cy="3760788"/>
          </a:xfrm>
          <a:prstGeom prst="rect">
            <a:avLst/>
          </a:prstGeom>
        </p:spPr>
      </p:pic>
    </p:spTree>
    <p:extLst>
      <p:ext uri="{BB962C8B-B14F-4D97-AF65-F5344CB8AC3E}">
        <p14:creationId xmlns:p14="http://schemas.microsoft.com/office/powerpoint/2010/main" val="6380459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3FDC0-26AF-9656-878D-B81F6A764D91}"/>
              </a:ext>
            </a:extLst>
          </p:cNvPr>
          <p:cNvSpPr>
            <a:spLocks noGrp="1"/>
          </p:cNvSpPr>
          <p:nvPr>
            <p:ph type="title"/>
          </p:nvPr>
        </p:nvSpPr>
        <p:spPr/>
        <p:txBody>
          <a:bodyPr/>
          <a:lstStyle/>
          <a:p>
            <a:r>
              <a:rPr lang="en-IN" dirty="0" err="1"/>
              <a:t>Anconeus</a:t>
            </a:r>
            <a:endParaRPr lang="en-IN" dirty="0"/>
          </a:p>
        </p:txBody>
      </p:sp>
      <p:pic>
        <p:nvPicPr>
          <p:cNvPr id="5" name="Content Placeholder 4">
            <a:extLst>
              <a:ext uri="{FF2B5EF4-FFF2-40B4-BE49-F238E27FC236}">
                <a16:creationId xmlns:a16="http://schemas.microsoft.com/office/drawing/2014/main" id="{20E0B893-E857-3BEB-2AE9-424689ED43B4}"/>
              </a:ext>
            </a:extLst>
          </p:cNvPr>
          <p:cNvPicPr>
            <a:picLocks noGrp="1" noChangeAspect="1"/>
          </p:cNvPicPr>
          <p:nvPr>
            <p:ph idx="1"/>
          </p:nvPr>
        </p:nvPicPr>
        <p:blipFill>
          <a:blip r:embed="rId2"/>
          <a:stretch>
            <a:fillRect/>
          </a:stretch>
        </p:blipFill>
        <p:spPr>
          <a:xfrm>
            <a:off x="1097280" y="2108200"/>
            <a:ext cx="10058400" cy="3760788"/>
          </a:xfrm>
          <a:prstGeom prst="rect">
            <a:avLst/>
          </a:prstGeom>
        </p:spPr>
      </p:pic>
    </p:spTree>
    <p:extLst>
      <p:ext uri="{BB962C8B-B14F-4D97-AF65-F5344CB8AC3E}">
        <p14:creationId xmlns:p14="http://schemas.microsoft.com/office/powerpoint/2010/main" val="31883591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7724D-8BD5-EA03-0098-4121F03AD3D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0902A10-DFF4-C725-236A-CF5A133C81A7}"/>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4229990509"/>
      </p:ext>
    </p:extLst>
  </p:cSld>
  <p:clrMapOvr>
    <a:masterClrMapping/>
  </p:clrMapOvr>
</p:sld>
</file>

<file path=ppt/theme/theme1.xml><?xml version="1.0" encoding="utf-8"?>
<a:theme xmlns:a="http://schemas.openxmlformats.org/drawingml/2006/main" name="1_RetrospectVTI">
  <a:themeElements>
    <a:clrScheme name="Custom 34">
      <a:dk1>
        <a:sysClr val="windowText" lastClr="000000"/>
      </a:dk1>
      <a:lt1>
        <a:sysClr val="window" lastClr="FFFFFF"/>
      </a:lt1>
      <a:dk2>
        <a:srgbClr val="39302A"/>
      </a:dk2>
      <a:lt2>
        <a:srgbClr val="E5DEDB"/>
      </a:lt2>
      <a:accent1>
        <a:srgbClr val="EC7016"/>
      </a:accent1>
      <a:accent2>
        <a:srgbClr val="F8931D"/>
      </a:accent2>
      <a:accent3>
        <a:srgbClr val="CE8D3E"/>
      </a:accent3>
      <a:accent4>
        <a:srgbClr val="E64823"/>
      </a:accent4>
      <a:accent5>
        <a:srgbClr val="FFCA08"/>
      </a:accent5>
      <a:accent6>
        <a:srgbClr val="9C6A6A"/>
      </a:accent6>
      <a:hlink>
        <a:srgbClr val="2998E3"/>
      </a:hlink>
      <a:folHlink>
        <a:srgbClr val="7F723D"/>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Override1.xml><?xml version="1.0" encoding="utf-8"?>
<a:themeOverride xmlns:a="http://schemas.openxmlformats.org/drawingml/2006/main">
  <a:clrScheme name="Custom 41">
    <a:dk1>
      <a:sysClr val="windowText" lastClr="000000"/>
    </a:dk1>
    <a:lt1>
      <a:sysClr val="window" lastClr="FFFFFF"/>
    </a:lt1>
    <a:dk2>
      <a:srgbClr val="39302A"/>
    </a:dk2>
    <a:lt2>
      <a:srgbClr val="E5DEDB"/>
    </a:lt2>
    <a:accent1>
      <a:srgbClr val="F36826"/>
    </a:accent1>
    <a:accent2>
      <a:srgbClr val="FB8E09"/>
    </a:accent2>
    <a:accent3>
      <a:srgbClr val="D48B32"/>
    </a:accent3>
    <a:accent4>
      <a:srgbClr val="E64823"/>
    </a:accent4>
    <a:accent5>
      <a:srgbClr val="FFCA08"/>
    </a:accent5>
    <a:accent6>
      <a:srgbClr val="AF695B"/>
    </a:accent6>
    <a:hlink>
      <a:srgbClr val="2998E3"/>
    </a:hlink>
    <a:folHlink>
      <a:srgbClr val="7F723D"/>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38A3B04-B0F3-4C12-A722-52B5CF6D9723}">
  <ds:schemaRefs>
    <ds:schemaRef ds:uri="http://schemas.microsoft.com/sharepoint/v3/contenttype/forms"/>
  </ds:schemaRefs>
</ds:datastoreItem>
</file>

<file path=customXml/itemProps2.xml><?xml version="1.0" encoding="utf-8"?>
<ds:datastoreItem xmlns:ds="http://schemas.openxmlformats.org/officeDocument/2006/customXml" ds:itemID="{4F5B1FD9-3BB6-4DA9-A089-3B68C2323D4F}">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1747A963-53E0-44AF-AF13-963FE676C6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{E35BF63E-B6DA-444F-8107-D65F845D6858}TF427093bb-7ddc-497b-80f4-fe945bcee621ff7241c0_win32-add2936a5c77</Template>
  <TotalTime>330</TotalTime>
  <Words>246</Words>
  <Application>Microsoft Office PowerPoint</Application>
  <PresentationFormat>Widescreen</PresentationFormat>
  <Paragraphs>22</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Bookman Old Style</vt:lpstr>
      <vt:lpstr>Calibri</vt:lpstr>
      <vt:lpstr>Franklin Gothic Book</vt:lpstr>
      <vt:lpstr>1_RetrospectVTI</vt:lpstr>
      <vt:lpstr>Soft Actuator Robotic Arm  Atharv Nagvekar [RBT23ME069]  Under guidance of :- Arvind Bansode (Sc-E)</vt:lpstr>
      <vt:lpstr>Robotic Arm </vt:lpstr>
      <vt:lpstr>Muscle involved in this movements</vt:lpstr>
      <vt:lpstr>Biceps brachii</vt:lpstr>
      <vt:lpstr>Brachialis</vt:lpstr>
      <vt:lpstr>Brachioradialis</vt:lpstr>
      <vt:lpstr>Pronator Teres</vt:lpstr>
      <vt:lpstr>Triceps Brachii</vt:lpstr>
      <vt:lpstr>Anconeus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Atharv Nagvekar</dc:creator>
  <cp:lastModifiedBy>Atharv Nagvekar</cp:lastModifiedBy>
  <cp:revision>1</cp:revision>
  <dcterms:created xsi:type="dcterms:W3CDTF">2026-08-21T15:03:51Z</dcterms:created>
  <dcterms:modified xsi:type="dcterms:W3CDTF">2026-08-22T11:24:17Z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