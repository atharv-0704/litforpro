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2.xml" ContentType="application/vnd.openxmlformats-officedocument.theme+xml"/>
  <Override PartName="/ppt/slideLayouts/slideLayout14.xml" ContentType="application/vnd.openxmlformats-officedocument.presentationml.slideLayout+xml"/>
  <Override PartName="/ppt/theme/theme1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3"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80" r:id="rId37"/>
    <p:sldId id="279" r:id="rId3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51" autoAdjust="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presProps" Target="presProps.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2"/>
          </p:nvPr>
        </p:nvSpPr>
        <p:spPr/>
        <p:txBody>
          <a:bodyPr/>
          <a:lstStyle/>
          <a:p>
            <a:fld id="{1EA3D191-4F7A-4BF8-A167-1168D720579F}"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and Vertical Tex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AD5C82AD-425A-4B87-A85F-D74B6D8D26D0}"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Vertical Title and Tex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4AC18B23-1410-420F-906E-CE833DD847A1}" type="slidenum">
              <a:t>‹#›</a:t>
            </a:fld>
            <a:endParaRPr/>
          </a:p>
        </p:txBody>
      </p:sp>
      <p:sp>
        <p:nvSpPr>
          <p:cNvPr id="6" name="PlaceHolder 5"/>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E37A2EDA-B455-4408-8868-B612458F1E74}"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930E3808-6D87-4550-B2CE-D35699622B82}" type="slidenum">
              <a:t>‹#›</a:t>
            </a:fld>
            <a:endParaRPr/>
          </a:p>
        </p:txBody>
      </p:sp>
      <p:sp>
        <p:nvSpPr>
          <p:cNvPr id="6" name="PlaceHolder 5"/>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6B7D9A8F-120E-4872-A379-A3CDC6139ED7}" type="slidenum">
              <a:t>‹#›</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Comparison">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9"/>
          </p:nvPr>
        </p:nvSpPr>
        <p:spPr/>
        <p:txBody>
          <a:bodyPr/>
          <a:lstStyle/>
          <a:p>
            <a:r>
              <a:t>Footer</a:t>
            </a:r>
          </a:p>
        </p:txBody>
      </p:sp>
      <p:sp>
        <p:nvSpPr>
          <p:cNvPr id="5" name="PlaceHolder 4"/>
          <p:cNvSpPr>
            <a:spLocks noGrp="1"/>
          </p:cNvSpPr>
          <p:nvPr>
            <p:ph type="sldNum" idx="20"/>
          </p:nvPr>
        </p:nvSpPr>
        <p:spPr/>
        <p:txBody>
          <a:bodyPr/>
          <a:lstStyle/>
          <a:p>
            <a:fld id="{85D6F8A2-312E-498E-A0CE-06A10183BB9A}" type="slidenum">
              <a:t>‹#›</a:t>
            </a:fld>
            <a:endParaRPr/>
          </a:p>
        </p:txBody>
      </p:sp>
      <p:sp>
        <p:nvSpPr>
          <p:cNvPr id="6" name="PlaceHolder 5"/>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2"/>
          </p:nvPr>
        </p:nvSpPr>
        <p:spPr/>
        <p:txBody>
          <a:bodyPr/>
          <a:lstStyle/>
          <a:p>
            <a:r>
              <a:t>Footer</a:t>
            </a:r>
          </a:p>
        </p:txBody>
      </p:sp>
      <p:sp>
        <p:nvSpPr>
          <p:cNvPr id="5" name="PlaceHolder 4"/>
          <p:cNvSpPr>
            <a:spLocks noGrp="1"/>
          </p:cNvSpPr>
          <p:nvPr>
            <p:ph type="sldNum" idx="23"/>
          </p:nvPr>
        </p:nvSpPr>
        <p:spPr/>
        <p:txBody>
          <a:bodyPr/>
          <a:lstStyle/>
          <a:p>
            <a:fld id="{EC83C99E-53B6-4C89-AB4D-A401F9514BA5}" type="slidenum">
              <a:t>‹#›</a:t>
            </a:fld>
            <a:endParaRPr/>
          </a:p>
        </p:txBody>
      </p:sp>
      <p:sp>
        <p:nvSpPr>
          <p:cNvPr id="6" name="PlaceHolder 5"/>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5"/>
          </p:nvPr>
        </p:nvSpPr>
        <p:spPr/>
        <p:txBody>
          <a:bodyPr/>
          <a:lstStyle/>
          <a:p>
            <a:r>
              <a:t>Footer</a:t>
            </a:r>
          </a:p>
        </p:txBody>
      </p:sp>
      <p:sp>
        <p:nvSpPr>
          <p:cNvPr id="5" name="PlaceHolder 4"/>
          <p:cNvSpPr>
            <a:spLocks noGrp="1"/>
          </p:cNvSpPr>
          <p:nvPr>
            <p:ph type="sldNum" idx="26"/>
          </p:nvPr>
        </p:nvSpPr>
        <p:spPr/>
        <p:txBody>
          <a:bodyPr/>
          <a:lstStyle/>
          <a:p>
            <a:fld id="{1A2AEB4B-3A1D-4187-8E6E-DA33B44A6B8C}" type="slidenum">
              <a:t>‹#›</a:t>
            </a:fld>
            <a:endParaRPr/>
          </a:p>
        </p:txBody>
      </p:sp>
      <p:sp>
        <p:nvSpPr>
          <p:cNvPr id="6" name="PlaceHolder 5"/>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Content with Caption">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8"/>
          </p:nvPr>
        </p:nvSpPr>
        <p:spPr/>
        <p:txBody>
          <a:bodyPr/>
          <a:lstStyle/>
          <a:p>
            <a:r>
              <a:t>Footer</a:t>
            </a:r>
          </a:p>
        </p:txBody>
      </p:sp>
      <p:sp>
        <p:nvSpPr>
          <p:cNvPr id="5" name="PlaceHolder 4"/>
          <p:cNvSpPr>
            <a:spLocks noGrp="1"/>
          </p:cNvSpPr>
          <p:nvPr>
            <p:ph type="sldNum" idx="29"/>
          </p:nvPr>
        </p:nvSpPr>
        <p:spPr/>
        <p:txBody>
          <a:bodyPr/>
          <a:lstStyle/>
          <a:p>
            <a:fld id="{BB7B3355-C932-45F4-AE94-E5F775125E59}" type="slidenum">
              <a:t>‹#›</a:t>
            </a:fld>
            <a:endParaRPr/>
          </a:p>
        </p:txBody>
      </p:sp>
      <p:sp>
        <p:nvSpPr>
          <p:cNvPr id="6" name="PlaceHolder 5"/>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Picture with Caption">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31"/>
          </p:nvPr>
        </p:nvSpPr>
        <p:spPr/>
        <p:txBody>
          <a:bodyPr/>
          <a:lstStyle/>
          <a:p>
            <a:r>
              <a:t>Footer</a:t>
            </a:r>
          </a:p>
        </p:txBody>
      </p:sp>
      <p:sp>
        <p:nvSpPr>
          <p:cNvPr id="5" name="PlaceHolder 4"/>
          <p:cNvSpPr>
            <a:spLocks noGrp="1"/>
          </p:cNvSpPr>
          <p:nvPr>
            <p:ph type="sldNum" idx="32"/>
          </p:nvPr>
        </p:nvSpPr>
        <p:spPr/>
        <p:txBody>
          <a:bodyPr/>
          <a:lstStyle/>
          <a:p>
            <a:fld id="{B11801A8-F304-4316-91A0-8EB463B5FEFC}" type="slidenum">
              <a:t>‹#›</a:t>
            </a:fld>
            <a:endParaRPr/>
          </a:p>
        </p:txBody>
      </p:sp>
      <p:sp>
        <p:nvSpPr>
          <p:cNvPr id="6" name="PlaceHolder 5"/>
          <p:cNvSpPr>
            <a:spLocks noGrp="1"/>
          </p:cNvSpPr>
          <p:nvPr>
            <p:ph type="dt" idx="3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Progress">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34"/>
          </p:nvPr>
        </p:nvSpPr>
        <p:spPr/>
        <p:txBody>
          <a:bodyPr/>
          <a:lstStyle/>
          <a:p>
            <a:r>
              <a:t>Footer</a:t>
            </a:r>
          </a:p>
        </p:txBody>
      </p:sp>
      <p:sp>
        <p:nvSpPr>
          <p:cNvPr id="5" name="PlaceHolder 4"/>
          <p:cNvSpPr>
            <a:spLocks noGrp="1"/>
          </p:cNvSpPr>
          <p:nvPr>
            <p:ph type="sldNum" idx="35"/>
          </p:nvPr>
        </p:nvSpPr>
        <p:spPr/>
        <p:txBody>
          <a:bodyPr/>
          <a:lstStyle/>
          <a:p>
            <a:fld id="{937ECF5F-C8C5-489D-AA86-F89AE75CFD11}" type="slidenum">
              <a:t>‹#›</a:t>
            </a:fld>
            <a:endParaRPr/>
          </a:p>
        </p:txBody>
      </p:sp>
      <p:sp>
        <p:nvSpPr>
          <p:cNvPr id="6" name="PlaceHolder 5"/>
          <p:cNvSpPr>
            <a:spLocks noGrp="1"/>
          </p:cNvSpPr>
          <p:nvPr>
            <p:ph type="dt" idx="36"/>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Progress">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lstStyle/>
          <a:p>
            <a:r>
              <a:t>Footer</a:t>
            </a:r>
          </a:p>
        </p:txBody>
      </p:sp>
      <p:sp>
        <p:nvSpPr>
          <p:cNvPr id="3" name="PlaceHolder 2"/>
          <p:cNvSpPr>
            <a:spLocks noGrp="1"/>
          </p:cNvSpPr>
          <p:nvPr>
            <p:ph type="sldNum" idx="35"/>
          </p:nvPr>
        </p:nvSpPr>
        <p:spPr/>
        <p:txBody>
          <a:bodyPr/>
          <a:lstStyle/>
          <a:p>
            <a:fld id="{FECFB8BD-1312-446B-A228-9D4BC009714C}" type="slidenum">
              <a:t>‹#›</a:t>
            </a:fld>
            <a:endParaRPr/>
          </a:p>
        </p:txBody>
      </p:sp>
      <p:sp>
        <p:nvSpPr>
          <p:cNvPr id="4" name="PlaceHolder 3"/>
          <p:cNvSpPr>
            <a:spLocks noGrp="1"/>
          </p:cNvSpPr>
          <p:nvPr>
            <p:ph type="dt" idx="3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37"/>
          </p:nvPr>
        </p:nvSpPr>
        <p:spPr/>
        <p:txBody>
          <a:bodyPr/>
          <a:lstStyle/>
          <a:p>
            <a:r>
              <a:t>Footer</a:t>
            </a:r>
          </a:p>
        </p:txBody>
      </p:sp>
      <p:sp>
        <p:nvSpPr>
          <p:cNvPr id="5" name="PlaceHolder 4"/>
          <p:cNvSpPr>
            <a:spLocks noGrp="1"/>
          </p:cNvSpPr>
          <p:nvPr>
            <p:ph type="sldNum" idx="38"/>
          </p:nvPr>
        </p:nvSpPr>
        <p:spPr/>
        <p:txBody>
          <a:bodyPr/>
          <a:lstStyle/>
          <a:p>
            <a:fld id="{B71A8829-AC22-4CE9-9F87-62CF3845753C}" type="slidenum">
              <a:t>‹#›</a:t>
            </a:fld>
            <a:endParaRPr/>
          </a:p>
        </p:txBody>
      </p:sp>
      <p:sp>
        <p:nvSpPr>
          <p:cNvPr id="6" name="PlaceHolder 5"/>
          <p:cNvSpPr>
            <a:spLocks noGrp="1"/>
          </p:cNvSpPr>
          <p:nvPr>
            <p:ph type="dt" idx="39"/>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563760" y="2016000"/>
            <a:ext cx="10887120" cy="49773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5" name="PlaceHolder 2"/>
          <p:cNvSpPr>
            <a:spLocks noGrp="1"/>
          </p:cNvSpPr>
          <p:nvPr>
            <p:ph type="ftr" idx="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 name="PlaceHolder 3"/>
          <p:cNvSpPr>
            <a:spLocks noGrp="1"/>
          </p:cNvSpPr>
          <p:nvPr>
            <p:ph type="sldNum" idx="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58994052-02BA-47C9-BDBC-2AE7862A5F54}"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 name="PlaceHolder 4"/>
          <p:cNvSpPr>
            <a:spLocks noGrp="1"/>
          </p:cNvSpPr>
          <p:nvPr>
            <p:ph type="dt" idx="3"/>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7" name="PlaceHolder 2"/>
          <p:cNvSpPr>
            <a:spLocks noGrp="1"/>
          </p:cNvSpPr>
          <p:nvPr>
            <p:ph type="sldNum" idx="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9D2878AD-5CF7-46DF-B30C-9432D53722D5}"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8" name="PlaceHolder 3"/>
          <p:cNvSpPr>
            <a:spLocks noGrp="1"/>
          </p:cNvSpPr>
          <p:nvPr>
            <p:ph type="dt" idx="6"/>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ftr" idx="7"/>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2" name="PlaceHolder 2"/>
          <p:cNvSpPr>
            <a:spLocks noGrp="1"/>
          </p:cNvSpPr>
          <p:nvPr>
            <p:ph type="sldNum" idx="8"/>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D4503E04-C258-4DA3-A3DE-099494537E35}"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13" name="PlaceHolder 3"/>
          <p:cNvSpPr>
            <a:spLocks noGrp="1"/>
          </p:cNvSpPr>
          <p:nvPr>
            <p:ph type="dt" idx="9"/>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63760" y="2016000"/>
            <a:ext cx="10887120" cy="49773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17" name="PlaceHolder 2"/>
          <p:cNvSpPr>
            <a:spLocks noGrp="1"/>
          </p:cNvSpPr>
          <p:nvPr>
            <p:ph type="body"/>
          </p:nvPr>
        </p:nvSpPr>
        <p:spPr>
          <a:xfrm>
            <a:off x="329400" y="5136120"/>
            <a:ext cx="10646280" cy="8526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
        <p:nvSpPr>
          <p:cNvPr id="18" name="PlaceHolder 3"/>
          <p:cNvSpPr>
            <a:spLocks noGrp="1"/>
          </p:cNvSpPr>
          <p:nvPr>
            <p:ph type="ftr" idx="1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9" name="PlaceHolder 4"/>
          <p:cNvSpPr>
            <a:spLocks noGrp="1"/>
          </p:cNvSpPr>
          <p:nvPr>
            <p:ph type="sldNum" idx="1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2BE4CB4D-DAF6-4A0F-AF94-6C8E00FD08A4}"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0" name="PlaceHolder 5"/>
          <p:cNvSpPr>
            <a:spLocks noGrp="1"/>
          </p:cNvSpPr>
          <p:nvPr>
            <p:ph type="dt" idx="12"/>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ftr" idx="13"/>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4" name="PlaceHolder 2"/>
          <p:cNvSpPr>
            <a:spLocks noGrp="1"/>
          </p:cNvSpPr>
          <p:nvPr>
            <p:ph type="sldNum" idx="14"/>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DD245854-EA55-40DC-B1F3-C68ED4CBA9C2}"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25" name="PlaceHolder 3"/>
          <p:cNvSpPr>
            <a:spLocks noGrp="1"/>
          </p:cNvSpPr>
          <p:nvPr>
            <p:ph type="dt" idx="15"/>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63760" y="2016000"/>
            <a:ext cx="10887120" cy="49773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29" name="PlaceHolder 2"/>
          <p:cNvSpPr>
            <a:spLocks noGrp="1"/>
          </p:cNvSpPr>
          <p:nvPr>
            <p:ph type="body"/>
          </p:nvPr>
        </p:nvSpPr>
        <p:spPr>
          <a:xfrm>
            <a:off x="329400" y="5136120"/>
            <a:ext cx="5195160" cy="8526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
        <p:nvSpPr>
          <p:cNvPr id="30" name="PlaceHolder 3"/>
          <p:cNvSpPr>
            <a:spLocks noGrp="1"/>
          </p:cNvSpPr>
          <p:nvPr>
            <p:ph type="body"/>
          </p:nvPr>
        </p:nvSpPr>
        <p:spPr>
          <a:xfrm>
            <a:off x="5785200" y="5136120"/>
            <a:ext cx="5195160" cy="8526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
        <p:nvSpPr>
          <p:cNvPr id="31" name="PlaceHolder 4"/>
          <p:cNvSpPr>
            <a:spLocks noGrp="1"/>
          </p:cNvSpPr>
          <p:nvPr>
            <p:ph type="ftr" idx="16"/>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2" name="PlaceHolder 5"/>
          <p:cNvSpPr>
            <a:spLocks noGrp="1"/>
          </p:cNvSpPr>
          <p:nvPr>
            <p:ph type="sldNum" idx="17"/>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A2F6040E-4C66-4799-BDC1-310B7CD5F352}"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3" name="PlaceHolder 6"/>
          <p:cNvSpPr>
            <a:spLocks noGrp="1"/>
          </p:cNvSpPr>
          <p:nvPr>
            <p:ph type="dt" idx="18"/>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ftr" idx="19"/>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7" name="PlaceHolder 2"/>
          <p:cNvSpPr>
            <a:spLocks noGrp="1"/>
          </p:cNvSpPr>
          <p:nvPr>
            <p:ph type="sldNum" idx="20"/>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1DA2CF83-D6FD-4640-A4AD-DF2A8FCB3513}"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38" name="PlaceHolder 3"/>
          <p:cNvSpPr>
            <a:spLocks noGrp="1"/>
          </p:cNvSpPr>
          <p:nvPr>
            <p:ph type="dt" idx="21"/>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563760" y="2016000"/>
            <a:ext cx="10887120" cy="49773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2" name="PlaceHolder 2"/>
          <p:cNvSpPr>
            <a:spLocks noGrp="1"/>
          </p:cNvSpPr>
          <p:nvPr>
            <p:ph type="ftr" idx="2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3" name="PlaceHolder 3"/>
          <p:cNvSpPr>
            <a:spLocks noGrp="1"/>
          </p:cNvSpPr>
          <p:nvPr>
            <p:ph type="sldNum" idx="2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904378A8-D9E7-4BC6-AF86-12F0EFE43ED9}"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4" name="PlaceHolder 4"/>
          <p:cNvSpPr>
            <a:spLocks noGrp="1"/>
          </p:cNvSpPr>
          <p:nvPr>
            <p:ph type="dt" idx="24"/>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25"/>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8" name="PlaceHolder 2"/>
          <p:cNvSpPr>
            <a:spLocks noGrp="1"/>
          </p:cNvSpPr>
          <p:nvPr>
            <p:ph type="sldNum" idx="26"/>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67FE116F-BBF8-44C9-898B-37283153BD94}"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49" name="PlaceHolder 3"/>
          <p:cNvSpPr>
            <a:spLocks noGrp="1"/>
          </p:cNvSpPr>
          <p:nvPr>
            <p:ph type="dt" idx="27"/>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ftr" idx="28"/>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53" name="PlaceHolder 2"/>
          <p:cNvSpPr>
            <a:spLocks noGrp="1"/>
          </p:cNvSpPr>
          <p:nvPr>
            <p:ph type="sldNum" idx="29"/>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F6FB0EDB-E9B6-4021-9C51-9DAF9EA86F14}"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4" name="PlaceHolder 3"/>
          <p:cNvSpPr>
            <a:spLocks noGrp="1"/>
          </p:cNvSpPr>
          <p:nvPr>
            <p:ph type="dt" idx="30"/>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ftr" idx="3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58" name="PlaceHolder 2"/>
          <p:cNvSpPr>
            <a:spLocks noGrp="1"/>
          </p:cNvSpPr>
          <p:nvPr>
            <p:ph type="sldNum" idx="3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strike="noStrike" spc="-1">
                <a:solidFill>
                  <a:schemeClr val="dk1">
                    <a:tint val="75000"/>
                  </a:schemeClr>
                </a:solidFill>
                <a:latin typeface="Calibri"/>
              </a:defRPr>
            </a:lvl1pPr>
          </a:lstStyle>
          <a:p>
            <a:pPr indent="0" algn="r" defTabSz="914400">
              <a:lnSpc>
                <a:spcPct val="100000"/>
              </a:lnSpc>
              <a:buNone/>
              <a:tabLst>
                <a:tab pos="0" algn="l"/>
              </a:tabLst>
            </a:pPr>
            <a:fld id="{3FD671ED-E168-4ADE-8503-8C6404B40057}" type="slidenum">
              <a:rPr lang="en-IN"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9" name="PlaceHolder 3"/>
          <p:cNvSpPr>
            <a:spLocks noGrp="1"/>
          </p:cNvSpPr>
          <p:nvPr>
            <p:ph type="dt" idx="33"/>
          </p:nvPr>
        </p:nvSpPr>
        <p:spPr>
          <a:xfrm>
            <a:off x="838080" y="6356520"/>
            <a:ext cx="2742120" cy="36396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Freeform: Shape 61"/>
          <p:cNvSpPr/>
          <p:nvPr/>
        </p:nvSpPr>
        <p:spPr>
          <a:xfrm>
            <a:off x="0" y="0"/>
            <a:ext cx="12192120" cy="5142600"/>
          </a:xfrm>
          <a:custGeom>
            <a:avLst/>
            <a:gdLst>
              <a:gd name="textAreaLeft" fmla="*/ 0 w 12192120"/>
              <a:gd name="textAreaRight" fmla="*/ 12192480 w 12192120"/>
              <a:gd name="textAreaTop" fmla="*/ 0 h 5142600"/>
              <a:gd name="textAreaBottom" fmla="*/ 5142960 h 5142600"/>
            </a:gdLst>
            <a:ahLst/>
            <a:cxnLst/>
            <a:rect l="textAreaLeft" t="textAreaTop" r="textAreaRight" b="textAreaBottom"/>
            <a:pathLst>
              <a:path w="33868" h="14286">
                <a:moveTo>
                  <a:pt x="0" y="14286"/>
                </a:moveTo>
                <a:lnTo>
                  <a:pt x="0" y="0"/>
                </a:lnTo>
                <a:lnTo>
                  <a:pt x="33868" y="0"/>
                </a:lnTo>
                <a:lnTo>
                  <a:pt x="33868" y="9448"/>
                </a:lnTo>
                <a:lnTo>
                  <a:pt x="0" y="14286"/>
                </a:lnTo>
                <a:close/>
              </a:path>
            </a:pathLst>
          </a:custGeom>
          <a:solidFill>
            <a:srgbClr val="DDDDDD"/>
          </a:solidFill>
          <a:ln w="10800">
            <a:solidFill>
              <a:srgbClr val="99999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63" name="PlaceHolder 1"/>
          <p:cNvSpPr>
            <a:spLocks noGrp="1"/>
          </p:cNvSpPr>
          <p:nvPr>
            <p:ph type="ftr" idx="34"/>
          </p:nvPr>
        </p:nvSpPr>
        <p:spPr>
          <a:xfrm>
            <a:off x="6748560" y="6204240"/>
            <a:ext cx="5224680" cy="47304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rgbClr val="000000"/>
                </a:solidFill>
                <a:latin typeface="Liberation Sans Narrow"/>
              </a:defRPr>
            </a:lvl1pPr>
          </a:lstStyle>
          <a:p>
            <a:pPr indent="0" algn="r">
              <a:lnSpc>
                <a:spcPct val="100000"/>
              </a:lnSpc>
              <a:buNone/>
              <a:tabLst>
                <a:tab pos="0" algn="l"/>
              </a:tabLst>
            </a:pPr>
            <a:r>
              <a:rPr lang="en-US" sz="1400" b="0" strike="noStrike" spc="-1">
                <a:solidFill>
                  <a:srgbClr val="000000"/>
                </a:solidFill>
                <a:latin typeface="Liberation Sans Narrow"/>
              </a:rPr>
              <a:t>&lt;footer&gt;</a:t>
            </a:r>
            <a:endParaRPr lang="en-US" sz="1400" b="0" strike="noStrike" spc="-1">
              <a:solidFill>
                <a:srgbClr val="000000"/>
              </a:solidFill>
              <a:latin typeface="Times New Roman"/>
            </a:endParaRPr>
          </a:p>
        </p:txBody>
      </p:sp>
      <p:sp>
        <p:nvSpPr>
          <p:cNvPr id="64" name="PlaceHolder 2"/>
          <p:cNvSpPr>
            <a:spLocks noGrp="1"/>
          </p:cNvSpPr>
          <p:nvPr>
            <p:ph type="sldNum" idx="35"/>
          </p:nvPr>
        </p:nvSpPr>
        <p:spPr>
          <a:xfrm>
            <a:off x="8925840" y="5551200"/>
            <a:ext cx="3047760" cy="473040"/>
          </a:xfrm>
          <a:prstGeom prst="rect">
            <a:avLst/>
          </a:prstGeom>
          <a:noFill/>
          <a:ln w="0">
            <a:noFill/>
          </a:ln>
        </p:spPr>
        <p:txBody>
          <a:bodyPr lIns="0" tIns="0" rIns="0" bIns="0" anchor="t">
            <a:noAutofit/>
          </a:bodyPr>
          <a:lstStyle>
            <a:lvl1pPr indent="0" algn="r">
              <a:lnSpc>
                <a:spcPct val="100000"/>
              </a:lnSpc>
              <a:buNone/>
              <a:tabLst>
                <a:tab pos="0" algn="l"/>
              </a:tabLst>
              <a:defRPr lang="en-US" sz="2600" b="0" strike="noStrike" spc="-1">
                <a:solidFill>
                  <a:srgbClr val="000000"/>
                </a:solidFill>
                <a:latin typeface="Liberation Sans Narrow"/>
              </a:defRPr>
            </a:lvl1pPr>
          </a:lstStyle>
          <a:p>
            <a:pPr indent="0" algn="r">
              <a:lnSpc>
                <a:spcPct val="100000"/>
              </a:lnSpc>
              <a:buNone/>
              <a:tabLst>
                <a:tab pos="0" algn="l"/>
              </a:tabLst>
            </a:pPr>
            <a:fld id="{A38D7258-8700-4195-AC1E-9926BF8606FB}" type="slidenum">
              <a:rPr lang="en-US" sz="2600" b="0" strike="noStrike" spc="-1">
                <a:solidFill>
                  <a:srgbClr val="000000"/>
                </a:solidFill>
                <a:latin typeface="Liberation Sans Narrow"/>
              </a:rPr>
              <a:t>‹#›</a:t>
            </a:fld>
            <a:endParaRPr lang="en-US" sz="2600" b="0" strike="noStrike" spc="-1">
              <a:solidFill>
                <a:srgbClr val="000000"/>
              </a:solidFill>
              <a:latin typeface="Times New Roman"/>
            </a:endParaRPr>
          </a:p>
        </p:txBody>
      </p:sp>
      <p:sp>
        <p:nvSpPr>
          <p:cNvPr id="65" name="PlaceHolder 3"/>
          <p:cNvSpPr>
            <a:spLocks noGrp="1"/>
          </p:cNvSpPr>
          <p:nvPr>
            <p:ph type="dt" idx="36"/>
          </p:nvPr>
        </p:nvSpPr>
        <p:spPr>
          <a:xfrm>
            <a:off x="8490240" y="5942880"/>
            <a:ext cx="3483000" cy="47304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6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6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Freeform: Shape 69"/>
          <p:cNvSpPr/>
          <p:nvPr/>
        </p:nvSpPr>
        <p:spPr>
          <a:xfrm>
            <a:off x="0" y="0"/>
            <a:ext cx="12192120" cy="5142600"/>
          </a:xfrm>
          <a:custGeom>
            <a:avLst/>
            <a:gdLst>
              <a:gd name="textAreaLeft" fmla="*/ 0 w 12192120"/>
              <a:gd name="textAreaRight" fmla="*/ 12192480 w 12192120"/>
              <a:gd name="textAreaTop" fmla="*/ 0 h 5142600"/>
              <a:gd name="textAreaBottom" fmla="*/ 5142960 h 5142600"/>
            </a:gdLst>
            <a:ahLst/>
            <a:cxnLst/>
            <a:rect l="textAreaLeft" t="textAreaTop" r="textAreaRight" b="textAreaBottom"/>
            <a:pathLst>
              <a:path w="33868" h="14286">
                <a:moveTo>
                  <a:pt x="0" y="14286"/>
                </a:moveTo>
                <a:lnTo>
                  <a:pt x="0" y="0"/>
                </a:lnTo>
                <a:lnTo>
                  <a:pt x="33868" y="0"/>
                </a:lnTo>
                <a:lnTo>
                  <a:pt x="33868" y="9448"/>
                </a:lnTo>
                <a:lnTo>
                  <a:pt x="0" y="14286"/>
                </a:lnTo>
                <a:close/>
              </a:path>
            </a:pathLst>
          </a:custGeom>
          <a:solidFill>
            <a:srgbClr val="DDDDDD"/>
          </a:solidFill>
          <a:ln w="10800">
            <a:solidFill>
              <a:srgbClr val="99999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71" name="PlaceHolder 1"/>
          <p:cNvSpPr>
            <a:spLocks noGrp="1"/>
          </p:cNvSpPr>
          <p:nvPr>
            <p:ph type="title"/>
          </p:nvPr>
        </p:nvSpPr>
        <p:spPr>
          <a:xfrm>
            <a:off x="563760" y="2016000"/>
            <a:ext cx="10887120" cy="497736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72" name="PlaceHolder 2"/>
          <p:cNvSpPr>
            <a:spLocks noGrp="1"/>
          </p:cNvSpPr>
          <p:nvPr>
            <p:ph type="ftr" idx="37"/>
          </p:nvPr>
        </p:nvSpPr>
        <p:spPr>
          <a:xfrm>
            <a:off x="6748560" y="6204240"/>
            <a:ext cx="5224680" cy="473040"/>
          </a:xfrm>
          <a:prstGeom prst="rect">
            <a:avLst/>
          </a:prstGeom>
          <a:noFill/>
          <a:ln w="0">
            <a:noFill/>
          </a:ln>
        </p:spPr>
        <p:txBody>
          <a:bodyPr lIns="0" tIns="0" rIns="0" bIns="0" anchor="t">
            <a:noAutofit/>
          </a:bodyPr>
          <a:lstStyle>
            <a:lvl1pPr indent="0" algn="r">
              <a:lnSpc>
                <a:spcPct val="100000"/>
              </a:lnSpc>
              <a:buNone/>
              <a:tabLst>
                <a:tab pos="0" algn="l"/>
              </a:tabLst>
              <a:defRPr lang="en-US" sz="1400" b="0" strike="noStrike" spc="-1">
                <a:solidFill>
                  <a:srgbClr val="000000"/>
                </a:solidFill>
                <a:latin typeface="Liberation Sans Narrow"/>
              </a:defRPr>
            </a:lvl1pPr>
          </a:lstStyle>
          <a:p>
            <a:pPr indent="0" algn="r">
              <a:lnSpc>
                <a:spcPct val="100000"/>
              </a:lnSpc>
              <a:buNone/>
              <a:tabLst>
                <a:tab pos="0" algn="l"/>
              </a:tabLst>
            </a:pPr>
            <a:r>
              <a:rPr lang="en-US" sz="1400" b="0" strike="noStrike" spc="-1">
                <a:solidFill>
                  <a:srgbClr val="000000"/>
                </a:solidFill>
                <a:latin typeface="Liberation Sans Narrow"/>
              </a:rPr>
              <a:t>&lt;footer&gt;</a:t>
            </a:r>
            <a:endParaRPr lang="en-US" sz="1400" b="0" strike="noStrike" spc="-1">
              <a:solidFill>
                <a:srgbClr val="000000"/>
              </a:solidFill>
              <a:latin typeface="Times New Roman"/>
            </a:endParaRPr>
          </a:p>
        </p:txBody>
      </p:sp>
      <p:sp>
        <p:nvSpPr>
          <p:cNvPr id="73" name="PlaceHolder 3"/>
          <p:cNvSpPr>
            <a:spLocks noGrp="1"/>
          </p:cNvSpPr>
          <p:nvPr>
            <p:ph type="sldNum" idx="38"/>
          </p:nvPr>
        </p:nvSpPr>
        <p:spPr>
          <a:xfrm>
            <a:off x="8925840" y="5551200"/>
            <a:ext cx="3047760" cy="473040"/>
          </a:xfrm>
          <a:prstGeom prst="rect">
            <a:avLst/>
          </a:prstGeom>
          <a:noFill/>
          <a:ln w="0">
            <a:noFill/>
          </a:ln>
        </p:spPr>
        <p:txBody>
          <a:bodyPr lIns="0" tIns="0" rIns="0" bIns="0" anchor="t">
            <a:noAutofit/>
          </a:bodyPr>
          <a:lstStyle>
            <a:lvl1pPr indent="0" algn="r">
              <a:lnSpc>
                <a:spcPct val="100000"/>
              </a:lnSpc>
              <a:buNone/>
              <a:tabLst>
                <a:tab pos="0" algn="l"/>
              </a:tabLst>
              <a:defRPr lang="en-US" sz="2600" b="0" strike="noStrike" spc="-1">
                <a:solidFill>
                  <a:srgbClr val="000000"/>
                </a:solidFill>
                <a:latin typeface="Liberation Sans Narrow"/>
              </a:defRPr>
            </a:lvl1pPr>
          </a:lstStyle>
          <a:p>
            <a:pPr indent="0" algn="r">
              <a:lnSpc>
                <a:spcPct val="100000"/>
              </a:lnSpc>
              <a:buNone/>
              <a:tabLst>
                <a:tab pos="0" algn="l"/>
              </a:tabLst>
            </a:pPr>
            <a:fld id="{8D208637-C38F-48A8-9133-19A4813F4C03}" type="slidenum">
              <a:rPr lang="en-US" sz="2600" b="0" strike="noStrike" spc="-1">
                <a:solidFill>
                  <a:srgbClr val="000000"/>
                </a:solidFill>
                <a:latin typeface="Liberation Sans Narrow"/>
              </a:rPr>
              <a:t>‹#›</a:t>
            </a:fld>
            <a:endParaRPr lang="en-US" sz="2600" b="0" strike="noStrike" spc="-1">
              <a:solidFill>
                <a:srgbClr val="000000"/>
              </a:solidFill>
              <a:latin typeface="Times New Roman"/>
            </a:endParaRPr>
          </a:p>
        </p:txBody>
      </p:sp>
      <p:sp>
        <p:nvSpPr>
          <p:cNvPr id="74" name="PlaceHolder 4"/>
          <p:cNvSpPr>
            <a:spLocks noGrp="1"/>
          </p:cNvSpPr>
          <p:nvPr>
            <p:ph type="dt" idx="39"/>
          </p:nvPr>
        </p:nvSpPr>
        <p:spPr>
          <a:xfrm>
            <a:off x="8490240" y="5942880"/>
            <a:ext cx="3483000" cy="473040"/>
          </a:xfrm>
          <a:prstGeom prst="rect">
            <a:avLst/>
          </a:prstGeom>
          <a:noFill/>
          <a:ln w="0">
            <a:noFill/>
          </a:ln>
        </p:spPr>
        <p:txBody>
          <a:bodyPr lIns="0" tIns="0" rIns="0" bIns="0" anchor="t">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7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91440" y="132080"/>
            <a:ext cx="11592560" cy="4368800"/>
          </a:xfrm>
          <a:prstGeom prst="rect">
            <a:avLst/>
          </a:prstGeom>
          <a:noFill/>
          <a:ln w="0">
            <a:noFill/>
          </a:ln>
        </p:spPr>
        <p:txBody>
          <a:bodyPr lIns="91440" tIns="45720" rIns="91440" bIns="45720" anchor="ctr">
            <a:noAutofit/>
          </a:bodyPr>
          <a:lstStyle/>
          <a:p>
            <a:pPr algn="ctr">
              <a:tabLst>
                <a:tab pos="0" algn="l"/>
              </a:tabLst>
            </a:pPr>
            <a:r>
              <a:rPr lang="en-IN" sz="3600" spc="-1" dirty="0">
                <a:solidFill>
                  <a:schemeClr val="dk1"/>
                </a:solidFill>
              </a:rPr>
              <a:t>Bio-Mechanics Study of Human Arm based on human muscle capability and analysis &amp; simulation of Bio-Mechanics using available software.</a:t>
            </a:r>
            <a:endParaRPr lang="en-US" sz="3600" b="0" strike="noStrike" spc="-1" dirty="0">
              <a:solidFill>
                <a:srgbClr val="000000"/>
              </a:solidFill>
              <a:latin typeface="Arial"/>
            </a:endParaRPr>
          </a:p>
        </p:txBody>
      </p:sp>
      <p:sp>
        <p:nvSpPr>
          <p:cNvPr id="79" name="PlaceHolder 2"/>
          <p:cNvSpPr>
            <a:spLocks noGrp="1"/>
          </p:cNvSpPr>
          <p:nvPr>
            <p:ph type="subTitle"/>
          </p:nvPr>
        </p:nvSpPr>
        <p:spPr>
          <a:xfrm>
            <a:off x="1847880" y="4978080"/>
            <a:ext cx="9142920" cy="16545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IN" sz="2400" b="0" strike="noStrike" spc="-1" dirty="0">
                <a:solidFill>
                  <a:schemeClr val="dk1"/>
                </a:solidFill>
                <a:latin typeface="Arial"/>
              </a:rPr>
              <a:t>Presented by: Atharv Nagvekar</a:t>
            </a:r>
            <a:br>
              <a:rPr sz="2400" dirty="0"/>
            </a:br>
            <a:r>
              <a:rPr lang="en-IN" sz="2400" b="0" strike="noStrike" spc="-1" dirty="0">
                <a:solidFill>
                  <a:schemeClr val="dk1"/>
                </a:solidFill>
                <a:latin typeface="Arial"/>
              </a:rPr>
              <a:t>Group: ATRC [Student Intern]</a:t>
            </a:r>
            <a:br>
              <a:rPr sz="2400" dirty="0"/>
            </a:br>
            <a:r>
              <a:rPr lang="en-IN" sz="2400" b="0" strike="noStrike" spc="-1" dirty="0">
                <a:solidFill>
                  <a:schemeClr val="dk1"/>
                </a:solidFill>
                <a:latin typeface="Arial"/>
              </a:rPr>
              <a:t>Under the guidance of: Arvind Bansode Sir [Sc-E]</a:t>
            </a:r>
            <a:endParaRPr lang="en-US" sz="2400" b="0" strike="noStrike" spc="-1" dirty="0">
              <a:solidFill>
                <a:srgbClr val="000000"/>
              </a:solidFill>
              <a:latin typeface="Arial"/>
            </a:endParaRPr>
          </a:p>
          <a:p>
            <a:pPr indent="0" algn="just" defTabSz="914400">
              <a:lnSpc>
                <a:spcPct val="90000"/>
              </a:lnSpc>
              <a:spcBef>
                <a:spcPts val="1001"/>
              </a:spcBef>
              <a:buNone/>
              <a:tabLst>
                <a:tab pos="0" algn="l"/>
              </a:tabLst>
            </a:pPr>
            <a:endParaRPr lang="en-US" sz="24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3"/>
          <p:cNvSpPr/>
          <p:nvPr/>
        </p:nvSpPr>
        <p:spPr>
          <a:xfrm>
            <a:off x="355680" y="355680"/>
            <a:ext cx="11471400" cy="20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200" b="1" strike="noStrike" spc="-1" dirty="0">
                <a:solidFill>
                  <a:schemeClr val="dk1"/>
                </a:solidFill>
                <a:latin typeface="+mj-lt"/>
                <a:ea typeface="DejaVu Sans"/>
              </a:rPr>
              <a:t>Topic: </a:t>
            </a:r>
            <a:endParaRPr lang="en-US" sz="2200" b="0" strike="noStrike" spc="-1" dirty="0">
              <a:solidFill>
                <a:srgbClr val="000000"/>
              </a:solidFill>
              <a:latin typeface="+mj-lt"/>
            </a:endParaRPr>
          </a:p>
          <a:p>
            <a:pPr algn="just" defTabSz="914400">
              <a:lnSpc>
                <a:spcPct val="100000"/>
              </a:lnSpc>
            </a:pPr>
            <a:r>
              <a:rPr lang="en-IN" sz="1800" b="0" strike="noStrike" spc="-1" dirty="0">
                <a:solidFill>
                  <a:schemeClr val="dk1"/>
                </a:solidFill>
                <a:latin typeface="Arial"/>
                <a:ea typeface="DejaVu Sans"/>
              </a:rPr>
              <a:t>Bio-Mechanics Study of Human Arm for deriving the characteristics of the actuator parameters based on human muscle capability and analysis &amp; simulation of Bio-Mechanics using available software.</a:t>
            </a: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algn="just" defTabSz="914400">
              <a:lnSpc>
                <a:spcPct val="100000"/>
              </a:lnSpc>
            </a:pPr>
            <a:r>
              <a:rPr lang="en-IN" sz="1800" b="0" strike="noStrike" spc="-1" dirty="0">
                <a:solidFill>
                  <a:schemeClr val="dk1"/>
                </a:solidFill>
                <a:latin typeface="Arial"/>
                <a:ea typeface="DejaVu Sans"/>
              </a:rPr>
              <a:t>Schedule for 6 months [June 26 – Jan 27]</a:t>
            </a: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p:txBody>
      </p:sp>
      <p:graphicFrame>
        <p:nvGraphicFramePr>
          <p:cNvPr id="81" name="Table 4"/>
          <p:cNvGraphicFramePr/>
          <p:nvPr>
            <p:extLst>
              <p:ext uri="{D42A27DB-BD31-4B8C-83A1-F6EECF244321}">
                <p14:modId xmlns:p14="http://schemas.microsoft.com/office/powerpoint/2010/main" val="3400079911"/>
              </p:ext>
            </p:extLst>
          </p:nvPr>
        </p:nvGraphicFramePr>
        <p:xfrm>
          <a:off x="468360" y="2055240"/>
          <a:ext cx="11382840" cy="4574160"/>
        </p:xfrm>
        <a:graphic>
          <a:graphicData uri="http://schemas.openxmlformats.org/drawingml/2006/table">
            <a:tbl>
              <a:tblPr/>
              <a:tblGrid>
                <a:gridCol w="1012320">
                  <a:extLst>
                    <a:ext uri="{9D8B030D-6E8A-4147-A177-3AD203B41FA5}">
                      <a16:colId xmlns:a16="http://schemas.microsoft.com/office/drawing/2014/main" val="20000"/>
                    </a:ext>
                  </a:extLst>
                </a:gridCol>
                <a:gridCol w="3305160">
                  <a:extLst>
                    <a:ext uri="{9D8B030D-6E8A-4147-A177-3AD203B41FA5}">
                      <a16:colId xmlns:a16="http://schemas.microsoft.com/office/drawing/2014/main" val="20001"/>
                    </a:ext>
                  </a:extLst>
                </a:gridCol>
                <a:gridCol w="4005360">
                  <a:extLst>
                    <a:ext uri="{9D8B030D-6E8A-4147-A177-3AD203B41FA5}">
                      <a16:colId xmlns:a16="http://schemas.microsoft.com/office/drawing/2014/main" val="20002"/>
                    </a:ext>
                  </a:extLst>
                </a:gridCol>
                <a:gridCol w="1927080">
                  <a:extLst>
                    <a:ext uri="{9D8B030D-6E8A-4147-A177-3AD203B41FA5}">
                      <a16:colId xmlns:a16="http://schemas.microsoft.com/office/drawing/2014/main" val="20003"/>
                    </a:ext>
                  </a:extLst>
                </a:gridCol>
                <a:gridCol w="1132920">
                  <a:extLst>
                    <a:ext uri="{9D8B030D-6E8A-4147-A177-3AD203B41FA5}">
                      <a16:colId xmlns:a16="http://schemas.microsoft.com/office/drawing/2014/main" val="20004"/>
                    </a:ext>
                  </a:extLst>
                </a:gridCol>
              </a:tblGrid>
              <a:tr h="466200">
                <a:tc>
                  <a:txBody>
                    <a:bodyPr/>
                    <a:lstStyle/>
                    <a:p>
                      <a:pPr algn="ctr" defTabSz="914400">
                        <a:lnSpc>
                          <a:spcPct val="100000"/>
                        </a:lnSpc>
                      </a:pPr>
                      <a:r>
                        <a:rPr lang="en-IN" sz="1800" b="1" strike="noStrike" spc="-1" dirty="0">
                          <a:solidFill>
                            <a:schemeClr val="lt1"/>
                          </a:solidFill>
                          <a:latin typeface="Arial"/>
                        </a:rPr>
                        <a:t>Sr. No</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3465A4"/>
                    </a:solidFill>
                  </a:tcPr>
                </a:tc>
                <a:tc>
                  <a:txBody>
                    <a:bodyPr/>
                    <a:lstStyle/>
                    <a:p>
                      <a:pPr algn="ctr" defTabSz="914400">
                        <a:lnSpc>
                          <a:spcPct val="100000"/>
                        </a:lnSpc>
                      </a:pPr>
                      <a:r>
                        <a:rPr lang="en-IN" sz="1800" b="1" strike="noStrike" spc="-1" dirty="0">
                          <a:solidFill>
                            <a:schemeClr val="lt1"/>
                          </a:solidFill>
                          <a:latin typeface="Arial"/>
                        </a:rPr>
                        <a:t>Task</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3465A4"/>
                    </a:solidFill>
                  </a:tcPr>
                </a:tc>
                <a:tc>
                  <a:txBody>
                    <a:bodyPr/>
                    <a:lstStyle/>
                    <a:p>
                      <a:pPr algn="ctr" defTabSz="914400">
                        <a:lnSpc>
                          <a:spcPct val="100000"/>
                        </a:lnSpc>
                      </a:pPr>
                      <a:r>
                        <a:rPr lang="en-IN" sz="1800" b="1" strike="noStrike" spc="-1" dirty="0">
                          <a:solidFill>
                            <a:schemeClr val="lt1"/>
                          </a:solidFill>
                          <a:latin typeface="Arial"/>
                        </a:rPr>
                        <a:t>Methodology </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3465A4"/>
                    </a:solidFill>
                  </a:tcPr>
                </a:tc>
                <a:tc>
                  <a:txBody>
                    <a:bodyPr/>
                    <a:lstStyle/>
                    <a:p>
                      <a:pPr algn="ctr" defTabSz="914400">
                        <a:lnSpc>
                          <a:spcPct val="100000"/>
                        </a:lnSpc>
                      </a:pPr>
                      <a:r>
                        <a:rPr lang="en-IN" sz="1800" b="1" strike="noStrike" spc="-1" dirty="0">
                          <a:solidFill>
                            <a:schemeClr val="lt1"/>
                          </a:solidFill>
                          <a:latin typeface="Arial"/>
                        </a:rPr>
                        <a:t>Result </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3465A4"/>
                    </a:solidFill>
                  </a:tcPr>
                </a:tc>
                <a:tc>
                  <a:txBody>
                    <a:bodyPr/>
                    <a:lstStyle/>
                    <a:p>
                      <a:pPr algn="ctr" defTabSz="914400">
                        <a:lnSpc>
                          <a:spcPct val="100000"/>
                        </a:lnSpc>
                      </a:pPr>
                      <a:r>
                        <a:rPr lang="en-IN" sz="1800" b="1" strike="noStrike" spc="-1" dirty="0">
                          <a:solidFill>
                            <a:schemeClr val="lt1"/>
                          </a:solidFill>
                          <a:latin typeface="Arial"/>
                        </a:rPr>
                        <a:t>Timeline</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3465A4"/>
                    </a:solidFill>
                  </a:tcPr>
                </a:tc>
                <a:extLst>
                  <a:ext uri="{0D108BD9-81ED-4DB2-BD59-A6C34878D82A}">
                    <a16:rowId xmlns:a16="http://schemas.microsoft.com/office/drawing/2014/main" val="10000"/>
                  </a:ext>
                </a:extLst>
              </a:tr>
              <a:tr h="1272600">
                <a:tc>
                  <a:txBody>
                    <a:bodyPr/>
                    <a:lstStyle/>
                    <a:p>
                      <a:pPr algn="ctr" defTabSz="914400">
                        <a:lnSpc>
                          <a:spcPct val="100000"/>
                        </a:lnSpc>
                      </a:pPr>
                      <a:r>
                        <a:rPr lang="en-IN" sz="1800" b="0" strike="noStrike" spc="-1" dirty="0">
                          <a:solidFill>
                            <a:schemeClr val="dk1"/>
                          </a:solidFill>
                          <a:latin typeface="Arial"/>
                        </a:rPr>
                        <a:t>1</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729FCF"/>
                    </a:solidFill>
                  </a:tcPr>
                </a:tc>
                <a:tc>
                  <a:txBody>
                    <a:bodyPr/>
                    <a:lstStyle/>
                    <a:p>
                      <a:pPr algn="ctr" defTabSz="914400">
                        <a:lnSpc>
                          <a:spcPct val="100000"/>
                        </a:lnSpc>
                      </a:pPr>
                      <a:r>
                        <a:rPr lang="en-IN" sz="1800" b="0" strike="noStrike" spc="-1" dirty="0">
                          <a:solidFill>
                            <a:schemeClr val="dk1"/>
                          </a:solidFill>
                          <a:latin typeface="Arial"/>
                        </a:rPr>
                        <a:t>Bio-Mechanics Study of Human Arm</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729FCF"/>
                    </a:solidFill>
                  </a:tcPr>
                </a:tc>
                <a:tc>
                  <a:txBody>
                    <a:bodyPr/>
                    <a:lstStyle/>
                    <a:p>
                      <a:pPr algn="ctr" defTabSz="914400">
                        <a:lnSpc>
                          <a:spcPct val="100000"/>
                        </a:lnSpc>
                      </a:pPr>
                      <a:r>
                        <a:rPr lang="en-IN" sz="1800" b="0" strike="noStrike" spc="-1" dirty="0">
                          <a:solidFill>
                            <a:schemeClr val="dk1"/>
                          </a:solidFill>
                          <a:latin typeface="Arial"/>
                        </a:rPr>
                        <a:t>Study of present research work being carried out world wide</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729FCF"/>
                    </a:solidFill>
                  </a:tcPr>
                </a:tc>
                <a:tc>
                  <a:txBody>
                    <a:bodyPr/>
                    <a:lstStyle/>
                    <a:p>
                      <a:pPr algn="ctr" defTabSz="914400">
                        <a:lnSpc>
                          <a:spcPct val="100000"/>
                        </a:lnSpc>
                      </a:pPr>
                      <a:r>
                        <a:rPr lang="en-IN" sz="1800" b="0" strike="noStrike" spc="-1" dirty="0">
                          <a:solidFill>
                            <a:schemeClr val="dk1"/>
                          </a:solidFill>
                          <a:latin typeface="Arial"/>
                        </a:rPr>
                        <a:t>Detailed understanding Bio-Mechanics of Human Arm</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729FCF"/>
                    </a:solidFill>
                  </a:tcPr>
                </a:tc>
                <a:tc>
                  <a:txBody>
                    <a:bodyPr/>
                    <a:lstStyle/>
                    <a:p>
                      <a:pPr algn="ctr" defTabSz="914400">
                        <a:lnSpc>
                          <a:spcPct val="100000"/>
                        </a:lnSpc>
                      </a:pPr>
                      <a:r>
                        <a:rPr lang="en-IN" sz="1800" b="0" strike="noStrike" spc="-1" dirty="0">
                          <a:solidFill>
                            <a:schemeClr val="dk1"/>
                          </a:solidFill>
                          <a:latin typeface="Arial"/>
                        </a:rPr>
                        <a:t>Jun-Sep 26</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729FCF"/>
                    </a:solidFill>
                  </a:tcPr>
                </a:tc>
                <a:extLst>
                  <a:ext uri="{0D108BD9-81ED-4DB2-BD59-A6C34878D82A}">
                    <a16:rowId xmlns:a16="http://schemas.microsoft.com/office/drawing/2014/main" val="10001"/>
                  </a:ext>
                </a:extLst>
              </a:tr>
              <a:tr h="1562040">
                <a:tc>
                  <a:txBody>
                    <a:bodyPr/>
                    <a:lstStyle/>
                    <a:p>
                      <a:pPr algn="ctr" defTabSz="914400">
                        <a:lnSpc>
                          <a:spcPct val="100000"/>
                        </a:lnSpc>
                      </a:pPr>
                      <a:r>
                        <a:rPr lang="en-IN" sz="1800" b="0" strike="noStrike" spc="-1" dirty="0">
                          <a:solidFill>
                            <a:schemeClr val="dk1"/>
                          </a:solidFill>
                          <a:latin typeface="Arial"/>
                        </a:rPr>
                        <a:t>2</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B4C7DC"/>
                    </a:solidFill>
                  </a:tcPr>
                </a:tc>
                <a:tc>
                  <a:txBody>
                    <a:bodyPr/>
                    <a:lstStyle/>
                    <a:p>
                      <a:pPr algn="ctr" defTabSz="914400">
                        <a:lnSpc>
                          <a:spcPct val="100000"/>
                        </a:lnSpc>
                        <a:tabLst>
                          <a:tab pos="0" algn="l"/>
                        </a:tabLst>
                      </a:pPr>
                      <a:r>
                        <a:rPr lang="en-IN" sz="1800" b="0" strike="noStrike" spc="-1" dirty="0">
                          <a:solidFill>
                            <a:schemeClr val="dk1"/>
                          </a:solidFill>
                          <a:latin typeface="Arial"/>
                        </a:rPr>
                        <a:t>Bio-Mechanics Study of Human Arm for deriving the characteristics of the actuator parameters based on human muscle capability</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B4C7DC"/>
                    </a:solidFill>
                  </a:tcPr>
                </a:tc>
                <a:tc>
                  <a:txBody>
                    <a:bodyPr/>
                    <a:lstStyle/>
                    <a:p>
                      <a:pPr algn="ctr" defTabSz="914400">
                        <a:lnSpc>
                          <a:spcPct val="100000"/>
                        </a:lnSpc>
                      </a:pPr>
                      <a:r>
                        <a:rPr lang="en-IN" sz="1800" b="0" strike="noStrike" spc="-1" dirty="0">
                          <a:solidFill>
                            <a:schemeClr val="dk1"/>
                          </a:solidFill>
                          <a:latin typeface="Arial"/>
                        </a:rPr>
                        <a:t>Study of present research work being</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B4C7DC"/>
                    </a:solidFill>
                  </a:tcPr>
                </a:tc>
                <a:tc>
                  <a:txBody>
                    <a:bodyPr/>
                    <a:lstStyle/>
                    <a:p>
                      <a:pPr algn="ctr" defTabSz="914400">
                        <a:lnSpc>
                          <a:spcPct val="100000"/>
                        </a:lnSpc>
                      </a:pPr>
                      <a:r>
                        <a:rPr lang="en-IN" sz="1800" b="0" strike="noStrike" spc="-1" dirty="0">
                          <a:solidFill>
                            <a:schemeClr val="dk1"/>
                          </a:solidFill>
                          <a:latin typeface="Arial"/>
                        </a:rPr>
                        <a:t>Detailed report of the study and analysis</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B4C7DC"/>
                    </a:solidFill>
                  </a:tcPr>
                </a:tc>
                <a:tc>
                  <a:txBody>
                    <a:bodyPr/>
                    <a:lstStyle/>
                    <a:p>
                      <a:pPr algn="ctr" defTabSz="914400">
                        <a:lnSpc>
                          <a:spcPct val="100000"/>
                        </a:lnSpc>
                      </a:pPr>
                      <a:r>
                        <a:rPr lang="en-IN" sz="1800" b="0" strike="noStrike" spc="-1" dirty="0">
                          <a:solidFill>
                            <a:schemeClr val="dk1"/>
                          </a:solidFill>
                          <a:latin typeface="Arial"/>
                        </a:rPr>
                        <a:t>Oct-Nov 26</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B4C7DC"/>
                    </a:solidFill>
                  </a:tcPr>
                </a:tc>
                <a:extLst>
                  <a:ext uri="{0D108BD9-81ED-4DB2-BD59-A6C34878D82A}">
                    <a16:rowId xmlns:a16="http://schemas.microsoft.com/office/drawing/2014/main" val="10002"/>
                  </a:ext>
                </a:extLst>
              </a:tr>
              <a:tr h="1273320">
                <a:tc>
                  <a:txBody>
                    <a:bodyPr/>
                    <a:lstStyle/>
                    <a:p>
                      <a:pPr algn="ctr" defTabSz="914400">
                        <a:lnSpc>
                          <a:spcPct val="100000"/>
                        </a:lnSpc>
                      </a:pPr>
                      <a:r>
                        <a:rPr lang="en-IN" sz="1800" b="0" strike="noStrike" spc="-1" dirty="0">
                          <a:solidFill>
                            <a:schemeClr val="dk1"/>
                          </a:solidFill>
                          <a:latin typeface="Arial"/>
                        </a:rPr>
                        <a:t>3</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983B0"/>
                    </a:solidFill>
                  </a:tcPr>
                </a:tc>
                <a:tc>
                  <a:txBody>
                    <a:bodyPr/>
                    <a:lstStyle/>
                    <a:p>
                      <a:pPr algn="ctr" defTabSz="914400">
                        <a:lnSpc>
                          <a:spcPct val="100000"/>
                        </a:lnSpc>
                      </a:pPr>
                      <a:r>
                        <a:rPr lang="en-IN" sz="1800" b="0" strike="noStrike" spc="-1" dirty="0">
                          <a:solidFill>
                            <a:schemeClr val="dk1"/>
                          </a:solidFill>
                          <a:latin typeface="Arial"/>
                        </a:rPr>
                        <a:t>Analysis &amp; simulation of Bio-Mechanic Using available software</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983B0"/>
                    </a:solidFill>
                  </a:tcPr>
                </a:tc>
                <a:tc>
                  <a:txBody>
                    <a:bodyPr/>
                    <a:lstStyle/>
                    <a:p>
                      <a:pPr algn="ctr" defTabSz="914400">
                        <a:lnSpc>
                          <a:spcPct val="100000"/>
                        </a:lnSpc>
                      </a:pPr>
                      <a:r>
                        <a:rPr lang="en-IN" sz="1800" b="0" strike="noStrike" spc="-1" dirty="0">
                          <a:solidFill>
                            <a:schemeClr val="dk1"/>
                          </a:solidFill>
                          <a:latin typeface="Arial"/>
                        </a:rPr>
                        <a:t>Simulations of different configurations</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983B0"/>
                    </a:solidFill>
                  </a:tcPr>
                </a:tc>
                <a:tc>
                  <a:txBody>
                    <a:bodyPr/>
                    <a:lstStyle/>
                    <a:p>
                      <a:pPr algn="ctr" defTabSz="914400">
                        <a:lnSpc>
                          <a:spcPct val="100000"/>
                        </a:lnSpc>
                      </a:pPr>
                      <a:r>
                        <a:rPr lang="en-IN" sz="1800" b="0" strike="noStrike" spc="-1" dirty="0">
                          <a:solidFill>
                            <a:schemeClr val="dk1"/>
                          </a:solidFill>
                          <a:latin typeface="Arial"/>
                        </a:rPr>
                        <a:t>Comparison with standard literature actuator</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983B0"/>
                    </a:solidFill>
                  </a:tcPr>
                </a:tc>
                <a:tc>
                  <a:txBody>
                    <a:bodyPr/>
                    <a:lstStyle/>
                    <a:p>
                      <a:pPr algn="ctr" defTabSz="914400">
                        <a:lnSpc>
                          <a:spcPct val="100000"/>
                        </a:lnSpc>
                      </a:pPr>
                      <a:r>
                        <a:rPr lang="en-IN" sz="1800" b="0" strike="noStrike" spc="-1" dirty="0">
                          <a:solidFill>
                            <a:schemeClr val="dk1"/>
                          </a:solidFill>
                          <a:latin typeface="Arial"/>
                        </a:rPr>
                        <a:t>Dec- Jan 27</a:t>
                      </a:r>
                      <a:endParaRPr lang="en-US" sz="1800" b="0" strike="noStrike" spc="-1" dirty="0">
                        <a:solidFill>
                          <a:srgbClr val="000000"/>
                        </a:solidFill>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983B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5"/>
          <p:cNvSpPr/>
          <p:nvPr/>
        </p:nvSpPr>
        <p:spPr>
          <a:xfrm>
            <a:off x="524880" y="609480"/>
            <a:ext cx="4732919" cy="65849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914400">
              <a:lnSpc>
                <a:spcPct val="100000"/>
              </a:lnSpc>
            </a:pPr>
            <a:r>
              <a:rPr lang="en-IN" sz="2200" b="1" strike="noStrike" spc="-1" dirty="0">
                <a:solidFill>
                  <a:schemeClr val="dk1"/>
                </a:solidFill>
                <a:latin typeface="Arial"/>
                <a:ea typeface="DejaVu Sans"/>
              </a:rPr>
              <a:t>Objective:</a:t>
            </a:r>
            <a:r>
              <a:rPr lang="en-IN" sz="2200" b="0" strike="noStrike" spc="-1" dirty="0">
                <a:solidFill>
                  <a:schemeClr val="dk1"/>
                </a:solidFill>
                <a:latin typeface="Arial"/>
                <a:ea typeface="DejaVu Sans"/>
              </a:rPr>
              <a:t> </a:t>
            </a:r>
          </a:p>
          <a:p>
            <a:pPr algn="just" defTabSz="914400">
              <a:lnSpc>
                <a:spcPct val="100000"/>
              </a:lnSpc>
            </a:pPr>
            <a:endParaRPr lang="en-US" sz="2200" b="0" strike="noStrike" spc="-1" dirty="0">
              <a:solidFill>
                <a:srgbClr val="000000"/>
              </a:solidFill>
              <a:latin typeface="Arial"/>
            </a:endParaRPr>
          </a:p>
          <a:p>
            <a:pPr algn="just" defTabSz="914400">
              <a:lnSpc>
                <a:spcPct val="100000"/>
              </a:lnSpc>
            </a:pPr>
            <a:r>
              <a:rPr lang="en-IN" sz="1800" b="0" strike="noStrike" spc="-1" dirty="0">
                <a:solidFill>
                  <a:schemeClr val="dk1"/>
                </a:solidFill>
                <a:latin typeface="Arial"/>
                <a:ea typeface="DejaVu Sans"/>
              </a:rPr>
              <a:t>To study the biomechanics of the human arm muscles, derive actuator parameters based on human muscle capability, and analyse the biomechanical system using suitable simulation software. </a:t>
            </a:r>
            <a:endParaRPr lang="en-US" sz="1800" b="0" strike="noStrike" spc="-1" dirty="0">
              <a:solidFill>
                <a:srgbClr val="000000"/>
              </a:solidFill>
              <a:latin typeface="Arial"/>
            </a:endParaRPr>
          </a:p>
          <a:p>
            <a:pPr algn="just" defTabSz="914400">
              <a:lnSpc>
                <a:spcPct val="100000"/>
              </a:lnSpc>
            </a:pPr>
            <a:endParaRPr lang="en-US" sz="1800" b="0" strike="noStrike" spc="-1" dirty="0">
              <a:solidFill>
                <a:srgbClr val="000000"/>
              </a:solidFill>
              <a:latin typeface="Arial"/>
            </a:endParaRPr>
          </a:p>
          <a:p>
            <a:pPr algn="just" defTabSz="914400">
              <a:lnSpc>
                <a:spcPct val="100000"/>
              </a:lnSpc>
            </a:pPr>
            <a:r>
              <a:rPr lang="en-IN" sz="1800" b="0" strike="noStrike" spc="-1" dirty="0">
                <a:solidFill>
                  <a:schemeClr val="dk1"/>
                </a:solidFill>
                <a:latin typeface="Arial"/>
                <a:ea typeface="DejaVu Sans"/>
              </a:rPr>
              <a:t>The human arm is a complex biomechanical system in which muscles generate force and motion through coordinated interaction with bones and joints.</a:t>
            </a:r>
            <a:endParaRPr lang="en-US" sz="1800" b="0" strike="noStrike" spc="-1" dirty="0">
              <a:solidFill>
                <a:srgbClr val="000000"/>
              </a:solidFill>
              <a:latin typeface="Arial"/>
            </a:endParaRPr>
          </a:p>
          <a:p>
            <a:pPr algn="just" defTabSz="914400">
              <a:lnSpc>
                <a:spcPct val="100000"/>
              </a:lnSpc>
            </a:pPr>
            <a:endParaRPr lang="en-US" sz="1800" b="0" strike="noStrike" spc="-1" dirty="0">
              <a:solidFill>
                <a:srgbClr val="000000"/>
              </a:solidFill>
              <a:latin typeface="Arial"/>
            </a:endParaRPr>
          </a:p>
          <a:p>
            <a:pPr algn="just" defTabSz="914400">
              <a:lnSpc>
                <a:spcPct val="100000"/>
              </a:lnSpc>
            </a:pPr>
            <a:r>
              <a:rPr lang="en-IN" sz="1800" b="0" strike="noStrike" spc="-1" dirty="0">
                <a:solidFill>
                  <a:schemeClr val="dk1"/>
                </a:solidFill>
                <a:latin typeface="Arial"/>
                <a:ea typeface="DejaVu Sans"/>
              </a:rPr>
              <a:t>The overall objective of the internship is to study the biomechanics of the human arm, understand the mechanical capability of human muscles, derive relevant actuator parameters, and finally perform analysis and simulation using available software.</a:t>
            </a: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p:txBody>
      </p:sp>
      <p:pic>
        <p:nvPicPr>
          <p:cNvPr id="2" name="Image5">
            <a:extLst>
              <a:ext uri="{FF2B5EF4-FFF2-40B4-BE49-F238E27FC236}">
                <a16:creationId xmlns:a16="http://schemas.microsoft.com/office/drawing/2014/main" id="{E7247806-867C-9498-D0E6-6FF8775C7C5A}"/>
              </a:ext>
            </a:extLst>
          </p:cNvPr>
          <p:cNvPicPr>
            <a:picLocks noChangeAspect="1"/>
          </p:cNvPicPr>
          <p:nvPr/>
        </p:nvPicPr>
        <p:blipFill>
          <a:blip r:embed="rId2"/>
          <a:srcRect l="-366" t="-383" r="-366" b="-383"/>
          <a:stretch>
            <a:fillRect/>
          </a:stretch>
        </p:blipFill>
        <p:spPr bwMode="auto">
          <a:xfrm>
            <a:off x="6934202" y="924243"/>
            <a:ext cx="4582160" cy="47043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406D843D-DABF-03C6-4336-CF92CFEA94D7}"/>
              </a:ext>
            </a:extLst>
          </p:cNvPr>
          <p:cNvSpPr txBox="1"/>
          <p:nvPr/>
        </p:nvSpPr>
        <p:spPr>
          <a:xfrm>
            <a:off x="8938262" y="6348214"/>
            <a:ext cx="2653374" cy="369332"/>
          </a:xfrm>
          <a:prstGeom prst="rect">
            <a:avLst/>
          </a:prstGeom>
          <a:noFill/>
        </p:spPr>
        <p:txBody>
          <a:bodyPr wrap="square">
            <a:spAutoFit/>
          </a:bodyPr>
          <a:lstStyle/>
          <a:p>
            <a:r>
              <a:rPr lang="en-IN" dirty="0"/>
              <a:t>images source : Google</a:t>
            </a:r>
          </a:p>
        </p:txBody>
      </p:sp>
      <p:sp>
        <p:nvSpPr>
          <p:cNvPr id="3" name="Rectangle 2">
            <a:extLst>
              <a:ext uri="{FF2B5EF4-FFF2-40B4-BE49-F238E27FC236}">
                <a16:creationId xmlns:a16="http://schemas.microsoft.com/office/drawing/2014/main" id="{5C1771AB-8D2F-D8BA-2187-65F780147CE8}"/>
              </a:ext>
            </a:extLst>
          </p:cNvPr>
          <p:cNvSpPr/>
          <p:nvPr/>
        </p:nvSpPr>
        <p:spPr>
          <a:xfrm>
            <a:off x="8938262" y="6348214"/>
            <a:ext cx="2578099" cy="36933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1"/>
          <p:cNvSpPr/>
          <p:nvPr/>
        </p:nvSpPr>
        <p:spPr>
          <a:xfrm>
            <a:off x="829800" y="618120"/>
            <a:ext cx="10565280" cy="60463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IN" sz="2100" b="1" strike="noStrike" spc="-1" dirty="0">
                <a:solidFill>
                  <a:schemeClr val="dk1"/>
                </a:solidFill>
                <a:latin typeface="Arial"/>
                <a:ea typeface="DejaVu Sans"/>
              </a:rPr>
              <a:t>Bones and Muscles involved in Human Arm are</a:t>
            </a:r>
            <a:r>
              <a:rPr lang="en-IN" sz="2100" b="0" strike="noStrike" spc="-1" dirty="0">
                <a:solidFill>
                  <a:schemeClr val="dk1"/>
                </a:solidFill>
                <a:latin typeface="Arial"/>
                <a:ea typeface="DejaVu Sans"/>
              </a:rPr>
              <a:t>:   </a:t>
            </a:r>
            <a:r>
              <a:rPr lang="en-IN" sz="1800" b="0" strike="noStrike" spc="-1" dirty="0">
                <a:solidFill>
                  <a:schemeClr val="dk1"/>
                </a:solidFill>
                <a:latin typeface="Arial"/>
                <a:ea typeface="DejaVu Sans"/>
              </a:rPr>
              <a:t> </a:t>
            </a:r>
            <a:endParaRPr lang="en-US" sz="1800" b="0" strike="noStrike" spc="-1" dirty="0">
              <a:solidFill>
                <a:srgbClr val="000000"/>
              </a:solidFill>
              <a:latin typeface="Arial"/>
            </a:endParaRPr>
          </a:p>
          <a:p>
            <a:pPr algn="just" defTabSz="914400">
              <a:lnSpc>
                <a:spcPct val="100000"/>
              </a:lnSpc>
            </a:pPr>
            <a:endParaRPr lang="en-US" sz="1800" b="0" strike="noStrike" spc="-1" dirty="0">
              <a:solidFill>
                <a:srgbClr val="000000"/>
              </a:solidFill>
              <a:latin typeface="Arial"/>
            </a:endParaRPr>
          </a:p>
          <a:p>
            <a:pPr marL="285840" indent="-285840" algn="just" defTabSz="914400">
              <a:lnSpc>
                <a:spcPct val="100000"/>
              </a:lnSpc>
              <a:buClr>
                <a:srgbClr val="000000"/>
              </a:buClr>
              <a:buFont typeface="Arial"/>
              <a:buChar char="•"/>
            </a:pPr>
            <a:r>
              <a:rPr lang="en-IN" sz="2000" b="1" strike="noStrike" spc="-1" dirty="0">
                <a:solidFill>
                  <a:schemeClr val="dk1"/>
                </a:solidFill>
                <a:latin typeface="Arial"/>
                <a:ea typeface="DejaVu Sans"/>
              </a:rPr>
              <a:t>Major Bones:</a:t>
            </a:r>
            <a:endParaRPr lang="en-US" sz="20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Humerus – Upper arm bone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Radius – Forearm bone on the thumb side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Ulna – Forearm bone on the little-finger side</a:t>
            </a:r>
            <a:endParaRPr lang="en-US" sz="1800" b="0" strike="noStrike" spc="-1" dirty="0">
              <a:solidFill>
                <a:srgbClr val="000000"/>
              </a:solidFill>
              <a:latin typeface="Arial"/>
            </a:endParaRPr>
          </a:p>
          <a:p>
            <a:pPr algn="just" defTabSz="914400">
              <a:lnSpc>
                <a:spcPct val="100000"/>
              </a:lnSpc>
            </a:pPr>
            <a:endParaRPr lang="en-US" sz="1800" b="0" strike="noStrike" spc="-1" dirty="0">
              <a:solidFill>
                <a:srgbClr val="000000"/>
              </a:solidFill>
              <a:latin typeface="Arial"/>
            </a:endParaRPr>
          </a:p>
          <a:p>
            <a:pPr marL="285840" indent="-285840" algn="just" defTabSz="914400">
              <a:lnSpc>
                <a:spcPct val="100000"/>
              </a:lnSpc>
              <a:buClr>
                <a:srgbClr val="000000"/>
              </a:buClr>
              <a:buFont typeface="Arial"/>
              <a:buChar char="•"/>
            </a:pPr>
            <a:r>
              <a:rPr lang="en-IN" sz="2000" b="1" strike="noStrike" spc="-1" dirty="0">
                <a:solidFill>
                  <a:schemeClr val="dk1"/>
                </a:solidFill>
                <a:latin typeface="Arial"/>
                <a:ea typeface="DejaVu Sans"/>
              </a:rPr>
              <a:t>Major Muscles:</a:t>
            </a:r>
            <a:endParaRPr lang="en-US" sz="20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Biceps brachii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Brachialis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Brachioradialis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Triceps brachii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err="1">
                <a:solidFill>
                  <a:schemeClr val="dk1"/>
                </a:solidFill>
                <a:latin typeface="Arial"/>
                <a:ea typeface="DejaVu Sans"/>
              </a:rPr>
              <a:t>Anconeus</a:t>
            </a:r>
            <a:r>
              <a:rPr lang="en-IN" sz="1800" b="0" strike="noStrike" spc="-1" dirty="0">
                <a:solidFill>
                  <a:schemeClr val="dk1"/>
                </a:solidFill>
                <a:latin typeface="Arial"/>
                <a:ea typeface="DejaVu Sans"/>
              </a:rPr>
              <a:t> </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Pronator teres</a:t>
            </a:r>
            <a:endParaRPr lang="en-US" sz="1800" b="0" strike="noStrike" spc="-1" dirty="0">
              <a:solidFill>
                <a:srgbClr val="000000"/>
              </a:solidFill>
              <a:latin typeface="Arial"/>
            </a:endParaRPr>
          </a:p>
          <a:p>
            <a:pPr algn="just" defTabSz="914400">
              <a:lnSpc>
                <a:spcPct val="100000"/>
              </a:lnSpc>
            </a:pPr>
            <a:endParaRPr lang="en-US" sz="1800" b="0" strike="noStrike" spc="-1" dirty="0">
              <a:solidFill>
                <a:srgbClr val="000000"/>
              </a:solidFill>
              <a:latin typeface="Arial"/>
            </a:endParaRPr>
          </a:p>
          <a:p>
            <a:pPr marL="285840" indent="-285840" algn="just" defTabSz="914400">
              <a:lnSpc>
                <a:spcPct val="100000"/>
              </a:lnSpc>
              <a:buClr>
                <a:srgbClr val="000000"/>
              </a:buClr>
              <a:buFont typeface="Arial"/>
              <a:buChar char="•"/>
            </a:pPr>
            <a:r>
              <a:rPr lang="en-IN" sz="2000" b="1" strike="noStrike" spc="-1" dirty="0">
                <a:solidFill>
                  <a:schemeClr val="dk1"/>
                </a:solidFill>
                <a:latin typeface="Arial"/>
                <a:ea typeface="DejaVu Sans"/>
              </a:rPr>
              <a:t>Ligaments:</a:t>
            </a:r>
            <a:endParaRPr lang="en-US" sz="20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Medial Collateral Ligament [MCL]</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Lateral Collateral Ligament [LCL]</a:t>
            </a:r>
            <a:endParaRPr lang="en-US" sz="1800" b="0" strike="noStrike" spc="-1" dirty="0">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dirty="0">
                <a:solidFill>
                  <a:schemeClr val="dk1"/>
                </a:solidFill>
                <a:latin typeface="Arial"/>
                <a:ea typeface="DejaVu Sans"/>
              </a:rPr>
              <a:t>Annular Ligament </a:t>
            </a: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a:p>
            <a:pPr defTabSz="914400">
              <a:lnSpc>
                <a:spcPct val="100000"/>
              </a:lnSpc>
            </a:pPr>
            <a:endParaRPr lang="en-US" sz="1800" b="0" strike="noStrike" spc="-1" dirty="0">
              <a:solidFill>
                <a:srgbClr val="000000"/>
              </a:solidFill>
              <a:latin typeface="Arial"/>
            </a:endParaRPr>
          </a:p>
        </p:txBody>
      </p:sp>
      <p:sp>
        <p:nvSpPr>
          <p:cNvPr id="85" name="Rectangle 84"/>
          <p:cNvSpPr/>
          <p:nvPr/>
        </p:nvSpPr>
        <p:spPr>
          <a:xfrm>
            <a:off x="6647040" y="1214280"/>
            <a:ext cx="4031280" cy="299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840" indent="-285840" algn="just" defTabSz="914400">
              <a:lnSpc>
                <a:spcPct val="100000"/>
              </a:lnSpc>
              <a:buClr>
                <a:srgbClr val="000000"/>
              </a:buClr>
              <a:buFont typeface="Arial"/>
              <a:buChar char="•"/>
            </a:pPr>
            <a:r>
              <a:rPr lang="en-IN" sz="2000" b="1" strike="noStrike" spc="-1">
                <a:solidFill>
                  <a:schemeClr val="dk1"/>
                </a:solidFill>
                <a:latin typeface="Arial"/>
              </a:rPr>
              <a:t>Tendons:</a:t>
            </a:r>
            <a:endParaRPr lang="en-US" sz="2000" b="0" strike="noStrike" spc="-1">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a:solidFill>
                  <a:schemeClr val="dk1"/>
                </a:solidFill>
                <a:latin typeface="Arial"/>
              </a:rPr>
              <a:t>Distal Biceps Tendons</a:t>
            </a:r>
            <a:endParaRPr lang="en-US" sz="1800" b="0" strike="noStrike" spc="-1">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a:solidFill>
                  <a:schemeClr val="dk1"/>
                </a:solidFill>
                <a:latin typeface="Arial"/>
              </a:rPr>
              <a:t>Triceps Tendons</a:t>
            </a:r>
            <a:endParaRPr lang="en-US" sz="1800" b="0" strike="noStrike" spc="-1">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a:solidFill>
                  <a:schemeClr val="dk1"/>
                </a:solidFill>
                <a:latin typeface="Arial"/>
              </a:rPr>
              <a:t>Brachialis Tendon</a:t>
            </a:r>
            <a:endParaRPr lang="en-US" sz="1800" b="0" strike="noStrike" spc="-1">
              <a:solidFill>
                <a:srgbClr val="000000"/>
              </a:solidFill>
              <a:latin typeface="Arial"/>
            </a:endParaRPr>
          </a:p>
          <a:p>
            <a:pPr marL="800280" lvl="1" indent="-343080" algn="just" defTabSz="914400">
              <a:lnSpc>
                <a:spcPct val="100000"/>
              </a:lnSpc>
              <a:buClr>
                <a:srgbClr val="000000"/>
              </a:buClr>
              <a:buFont typeface="OpenSymbol"/>
              <a:buAutoNum type="arabicPeriod"/>
            </a:pPr>
            <a:r>
              <a:rPr lang="en-IN" sz="1800" b="0" strike="noStrike" spc="-1">
                <a:solidFill>
                  <a:schemeClr val="dk1"/>
                </a:solidFill>
                <a:latin typeface="Arial"/>
              </a:rPr>
              <a:t>Common Flex and Etensor Tendons</a:t>
            </a:r>
            <a:endParaRPr lang="en-US" sz="1800" b="0" strike="noStrike" spc="-1">
              <a:solidFill>
                <a:srgbClr val="000000"/>
              </a:solidFill>
              <a:latin typeface="Arial"/>
            </a:endParaRPr>
          </a:p>
          <a:p>
            <a:pPr algn="just" defTabSz="914400">
              <a:lnSpc>
                <a:spcPct val="100000"/>
              </a:lnSpc>
            </a:pPr>
            <a:endParaRPr lang="en-US" sz="1800" b="0" strike="noStrike" spc="-1">
              <a:solidFill>
                <a:srgbClr val="000000"/>
              </a:solidFill>
              <a:latin typeface="Arial"/>
            </a:endParaRPr>
          </a:p>
          <a:p>
            <a:pPr marL="216000" indent="-216000" algn="just" defTabSz="914400">
              <a:lnSpc>
                <a:spcPct val="100000"/>
              </a:lnSpc>
              <a:buClr>
                <a:srgbClr val="000000"/>
              </a:buClr>
              <a:buSzPct val="45000"/>
              <a:buFont typeface="Wingdings" charset="2"/>
              <a:buChar char=""/>
            </a:pPr>
            <a:r>
              <a:rPr lang="en-IN" sz="1800" b="1" strike="noStrike" spc="-1">
                <a:solidFill>
                  <a:schemeClr val="dk1"/>
                </a:solidFill>
                <a:latin typeface="Arial"/>
                <a:ea typeface="Noto Sans CJK SC"/>
              </a:rPr>
              <a:t> </a:t>
            </a:r>
            <a:r>
              <a:rPr lang="en-IN" sz="2000" b="1" strike="noStrike" spc="-1">
                <a:solidFill>
                  <a:schemeClr val="dk1"/>
                </a:solidFill>
                <a:latin typeface="Arial"/>
                <a:ea typeface="Noto Sans CJK SC"/>
              </a:rPr>
              <a:t>Other:</a:t>
            </a:r>
            <a:r>
              <a:rPr lang="en-IN" sz="2000" b="0" strike="noStrike" spc="-1">
                <a:solidFill>
                  <a:schemeClr val="dk1"/>
                </a:solidFill>
                <a:latin typeface="Arial"/>
                <a:ea typeface="Noto Sans CJK SC"/>
              </a:rPr>
              <a:t> </a:t>
            </a:r>
            <a:r>
              <a:rPr lang="en-IN" sz="1800" b="0" strike="noStrike" spc="-1">
                <a:solidFill>
                  <a:schemeClr val="dk1"/>
                </a:solidFill>
                <a:latin typeface="Arial"/>
                <a:ea typeface="Noto Sans CJK SC"/>
              </a:rPr>
              <a:t> </a:t>
            </a:r>
            <a:endParaRPr lang="en-US" sz="1800" b="0" strike="noStrike" spc="-1">
              <a:solidFill>
                <a:srgbClr val="000000"/>
              </a:solidFill>
              <a:latin typeface="Arial"/>
            </a:endParaRPr>
          </a:p>
          <a:p>
            <a:pPr marL="648000" lvl="2" indent="-216000" algn="just" defTabSz="914400">
              <a:lnSpc>
                <a:spcPct val="100000"/>
              </a:lnSpc>
              <a:buClr>
                <a:srgbClr val="000000"/>
              </a:buClr>
              <a:buFont typeface="OpenSymbol"/>
              <a:buAutoNum type="arabicPeriod"/>
            </a:pPr>
            <a:r>
              <a:rPr lang="en-IN" sz="1800" b="0" strike="noStrike" spc="-1">
                <a:solidFill>
                  <a:schemeClr val="dk1"/>
                </a:solidFill>
                <a:latin typeface="Arial"/>
                <a:ea typeface="Noto Sans CJK SC"/>
              </a:rPr>
              <a:t>   Joint Capsule &amp; Synovial Fluid</a:t>
            </a:r>
            <a:endParaRPr lang="en-US" sz="1800" b="0" strike="noStrike" spc="-1">
              <a:solidFill>
                <a:srgbClr val="000000"/>
              </a:solidFill>
              <a:latin typeface="Arial"/>
            </a:endParaRPr>
          </a:p>
          <a:p>
            <a:pPr marL="648000" lvl="2" indent="-216000" algn="just" defTabSz="914400">
              <a:lnSpc>
                <a:spcPct val="100000"/>
              </a:lnSpc>
              <a:buClr>
                <a:srgbClr val="000000"/>
              </a:buClr>
              <a:buFont typeface="OpenSymbol"/>
              <a:buAutoNum type="arabicPeriod"/>
            </a:pPr>
            <a:r>
              <a:rPr lang="en-IN" sz="1800" b="0" strike="noStrike" spc="-1">
                <a:solidFill>
                  <a:schemeClr val="dk1"/>
                </a:solidFill>
                <a:latin typeface="Arial"/>
                <a:ea typeface="Noto Sans CJK SC"/>
              </a:rPr>
              <a:t>   Bursa</a:t>
            </a:r>
            <a:endParaRPr lang="en-US" sz="1800" b="0" strike="noStrike" spc="-1">
              <a:solidFill>
                <a:srgbClr val="000000"/>
              </a:solidFill>
              <a:latin typeface="Arial"/>
            </a:endParaRPr>
          </a:p>
          <a:p>
            <a:pPr marL="648000" lvl="2" indent="-216000" algn="just" defTabSz="914400">
              <a:lnSpc>
                <a:spcPct val="100000"/>
              </a:lnSpc>
              <a:buClr>
                <a:srgbClr val="000000"/>
              </a:buClr>
              <a:buFont typeface="OpenSymbol"/>
              <a:buAutoNum type="arabicPeriod"/>
            </a:pPr>
            <a:r>
              <a:rPr lang="en-IN" sz="1800" b="0" strike="noStrike" spc="-1">
                <a:solidFill>
                  <a:schemeClr val="dk1"/>
                </a:solidFill>
                <a:latin typeface="Arial"/>
                <a:ea typeface="Noto Sans CJK SC"/>
              </a:rPr>
              <a:t>   Articular Cartilage</a:t>
            </a:r>
            <a:endParaRPr lang="en-US" sz="1800" b="0" strike="noStrike" spc="-1">
              <a:solidFill>
                <a:srgbClr val="000000"/>
              </a:solidFill>
              <a:latin typeface="Arial"/>
            </a:endParaRPr>
          </a:p>
          <a:p>
            <a:pPr marL="648000" lvl="2" indent="-216000" algn="just" defTabSz="914400">
              <a:lnSpc>
                <a:spcPct val="100000"/>
              </a:lnSpc>
              <a:buClr>
                <a:srgbClr val="000000"/>
              </a:buClr>
              <a:buFont typeface="OpenSymbol"/>
              <a:buAutoNum type="arabicPeriod"/>
            </a:pPr>
            <a:r>
              <a:rPr lang="en-IN" sz="1800" b="0" strike="noStrike" spc="-1">
                <a:solidFill>
                  <a:schemeClr val="dk1"/>
                </a:solidFill>
                <a:latin typeface="Arial"/>
                <a:ea typeface="Noto Sans CJK SC"/>
              </a:rPr>
              <a:t>   Nerves</a:t>
            </a:r>
            <a:endParaRPr lang="en-US" sz="1800" b="0" strike="noStrike" spc="-1">
              <a:solidFill>
                <a:srgbClr val="000000"/>
              </a:solidFill>
              <a:latin typeface="Arial"/>
            </a:endParaRPr>
          </a:p>
          <a:p>
            <a:pPr marL="648000" lvl="2" indent="-216000" algn="just" defTabSz="914400">
              <a:lnSpc>
                <a:spcPct val="100000"/>
              </a:lnSpc>
              <a:buClr>
                <a:srgbClr val="000000"/>
              </a:buClr>
              <a:buFont typeface="OpenSymbol"/>
              <a:buAutoNum type="arabicPeriod"/>
            </a:pPr>
            <a:r>
              <a:rPr lang="en-IN" sz="1800" b="0" strike="noStrike" spc="-1">
                <a:solidFill>
                  <a:schemeClr val="dk1"/>
                </a:solidFill>
                <a:latin typeface="Arial"/>
                <a:ea typeface="Noto Sans CJK SC"/>
              </a:rPr>
              <a:t>   Blood Vessels</a:t>
            </a:r>
            <a:endParaRPr lang="en-US" sz="1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Box 2"/>
          <p:cNvSpPr/>
          <p:nvPr/>
        </p:nvSpPr>
        <p:spPr>
          <a:xfrm>
            <a:off x="601200" y="550440"/>
            <a:ext cx="11107080" cy="438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IN" sz="2000" b="1" strike="noStrike" spc="-1">
                <a:solidFill>
                  <a:schemeClr val="dk1"/>
                </a:solidFill>
                <a:latin typeface="Arial"/>
                <a:ea typeface="DejaVu Sans"/>
              </a:rPr>
              <a:t>Types of Motion Around the Elbow Joint:</a:t>
            </a:r>
            <a:endParaRPr lang="en-US" sz="2000" b="0" strike="noStrike" spc="-1">
              <a:solidFill>
                <a:srgbClr val="000000"/>
              </a:solidFill>
              <a:latin typeface="Arial"/>
            </a:endParaRPr>
          </a:p>
          <a:p>
            <a:pPr algn="just" defTabSz="914400">
              <a:lnSpc>
                <a:spcPct val="100000"/>
              </a:lnSpc>
            </a:pPr>
            <a:endParaRPr lang="en-US" sz="1800" b="0" strike="noStrike" spc="-1">
              <a:solidFill>
                <a:srgbClr val="000000"/>
              </a:solidFill>
              <a:latin typeface="Arial"/>
            </a:endParaRPr>
          </a:p>
          <a:p>
            <a:pPr algn="just" defTabSz="914400">
              <a:lnSpc>
                <a:spcPct val="100000"/>
              </a:lnSpc>
            </a:pPr>
            <a:r>
              <a:rPr lang="en-IN" sz="1800" b="0" strike="noStrike" spc="-1">
                <a:solidFill>
                  <a:schemeClr val="dk1"/>
                </a:solidFill>
                <a:latin typeface="Arial"/>
                <a:ea typeface="DejaVu Sans"/>
              </a:rPr>
              <a:t>The human arm performs four major movements involving the </a:t>
            </a:r>
            <a:r>
              <a:rPr lang="en-IN" sz="1800" b="1" strike="noStrike" spc="-1">
                <a:solidFill>
                  <a:schemeClr val="dk1"/>
                </a:solidFill>
                <a:latin typeface="Arial"/>
                <a:ea typeface="DejaVu Sans"/>
              </a:rPr>
              <a:t>elbow and forearm</a:t>
            </a:r>
            <a:r>
              <a:rPr lang="en-IN" sz="1800" b="0" strike="noStrike" spc="-1">
                <a:solidFill>
                  <a:schemeClr val="dk1"/>
                </a:solidFill>
                <a:latin typeface="Arial"/>
                <a:ea typeface="DejaVu Sans"/>
              </a:rPr>
              <a:t>:</a:t>
            </a:r>
            <a:endParaRPr lang="en-US" sz="1800" b="0" strike="noStrike" spc="-1">
              <a:solidFill>
                <a:srgbClr val="000000"/>
              </a:solidFill>
              <a:latin typeface="Arial"/>
            </a:endParaRPr>
          </a:p>
          <a:p>
            <a:pPr algn="just" defTabSz="914400">
              <a:lnSpc>
                <a:spcPct val="100000"/>
              </a:lnSpc>
            </a:pPr>
            <a:endParaRPr lang="en-US" sz="1800" b="0" strike="noStrike" spc="-1">
              <a:solidFill>
                <a:srgbClr val="000000"/>
              </a:solidFill>
              <a:latin typeface="Arial"/>
            </a:endParaRPr>
          </a:p>
          <a:p>
            <a:pPr marL="216000" indent="-216000" algn="just" defTabSz="914400">
              <a:lnSpc>
                <a:spcPct val="100000"/>
              </a:lnSpc>
              <a:buClr>
                <a:srgbClr val="000000"/>
              </a:buClr>
              <a:buFont typeface="Symbol" charset="2"/>
              <a:buChar char=""/>
            </a:pPr>
            <a:r>
              <a:rPr lang="en-IN" sz="2000" b="1" strike="noStrike" spc="-1">
                <a:solidFill>
                  <a:schemeClr val="dk1"/>
                </a:solidFill>
                <a:latin typeface="Arial"/>
                <a:ea typeface="DejaVu Sans"/>
              </a:rPr>
              <a:t>Flexion:</a:t>
            </a:r>
            <a:endParaRPr lang="en-US" sz="2000" b="0" strike="noStrike" spc="-1">
              <a:solidFill>
                <a:srgbClr val="000000"/>
              </a:solidFill>
              <a:latin typeface="Arial"/>
            </a:endParaRPr>
          </a:p>
          <a:p>
            <a:pPr algn="just" defTabSz="914400">
              <a:lnSpc>
                <a:spcPct val="100000"/>
              </a:lnSpc>
            </a:pPr>
            <a:r>
              <a:rPr lang="en-IN" sz="1800" b="0" strike="noStrike" spc="-1">
                <a:solidFill>
                  <a:schemeClr val="dk1"/>
                </a:solidFill>
                <a:latin typeface="Arial"/>
                <a:ea typeface="DejaVu Sans"/>
              </a:rPr>
              <a:t>       Bending of the forearm towards the upper arm, decreasing the angle at the elbow joint.</a:t>
            </a:r>
            <a:endParaRPr lang="en-US" sz="1800" b="0" strike="noStrike" spc="-1">
              <a:solidFill>
                <a:srgbClr val="000000"/>
              </a:solidFill>
              <a:latin typeface="Arial"/>
            </a:endParaRPr>
          </a:p>
          <a:p>
            <a:pPr algn="just" defTabSz="914400">
              <a:lnSpc>
                <a:spcPct val="100000"/>
              </a:lnSpc>
            </a:pPr>
            <a:endParaRPr lang="en-US" sz="1800" b="0" strike="noStrike" spc="-1">
              <a:solidFill>
                <a:srgbClr val="000000"/>
              </a:solidFill>
              <a:latin typeface="Arial"/>
            </a:endParaRPr>
          </a:p>
          <a:p>
            <a:pPr marL="216000" indent="-216000" algn="just" defTabSz="914400">
              <a:lnSpc>
                <a:spcPct val="100000"/>
              </a:lnSpc>
              <a:buClr>
                <a:srgbClr val="000000"/>
              </a:buClr>
              <a:buFont typeface="Symbol" charset="2"/>
              <a:buChar char=""/>
            </a:pPr>
            <a:r>
              <a:rPr lang="en-IN" sz="2000" b="1" strike="noStrike" spc="-1">
                <a:solidFill>
                  <a:schemeClr val="dk1"/>
                </a:solidFill>
                <a:latin typeface="Arial"/>
                <a:ea typeface="DejaVu Sans"/>
              </a:rPr>
              <a:t>Extension:</a:t>
            </a:r>
            <a:endParaRPr lang="en-US" sz="2000" b="0" strike="noStrike" spc="-1">
              <a:solidFill>
                <a:srgbClr val="000000"/>
              </a:solidFill>
              <a:latin typeface="Arial"/>
            </a:endParaRPr>
          </a:p>
          <a:p>
            <a:pPr algn="just" defTabSz="914400">
              <a:lnSpc>
                <a:spcPct val="100000"/>
              </a:lnSpc>
            </a:pPr>
            <a:r>
              <a:rPr lang="en-IN" sz="1800" b="0" strike="noStrike" spc="-1">
                <a:solidFill>
                  <a:schemeClr val="dk1"/>
                </a:solidFill>
                <a:latin typeface="Arial"/>
                <a:ea typeface="DejaVu Sans"/>
              </a:rPr>
              <a:t>      Straightening of the forearm, increasing the angle between the upper arm and forearm.</a:t>
            </a:r>
            <a:endParaRPr lang="en-US" sz="1800" b="0" strike="noStrike" spc="-1">
              <a:solidFill>
                <a:srgbClr val="000000"/>
              </a:solidFill>
              <a:latin typeface="Arial"/>
            </a:endParaRPr>
          </a:p>
          <a:p>
            <a:pPr algn="just" defTabSz="914400">
              <a:lnSpc>
                <a:spcPct val="100000"/>
              </a:lnSpc>
            </a:pPr>
            <a:endParaRPr lang="en-US" sz="2000" b="0" strike="noStrike" spc="-1">
              <a:solidFill>
                <a:srgbClr val="000000"/>
              </a:solidFill>
              <a:latin typeface="Arial"/>
            </a:endParaRPr>
          </a:p>
          <a:p>
            <a:pPr marL="216000" indent="-216000" algn="just" defTabSz="914400">
              <a:lnSpc>
                <a:spcPct val="100000"/>
              </a:lnSpc>
              <a:buClr>
                <a:srgbClr val="000000"/>
              </a:buClr>
              <a:buFont typeface="Symbol" charset="2"/>
              <a:buChar char=""/>
            </a:pPr>
            <a:r>
              <a:rPr lang="en-IN" sz="2000" b="1" strike="noStrike" spc="-1">
                <a:solidFill>
                  <a:schemeClr val="dk1"/>
                </a:solidFill>
                <a:latin typeface="Arial"/>
                <a:ea typeface="DejaVu Sans"/>
              </a:rPr>
              <a:t>Pronation:</a:t>
            </a:r>
            <a:endParaRPr lang="en-US" sz="2000" b="0" strike="noStrike" spc="-1">
              <a:solidFill>
                <a:srgbClr val="000000"/>
              </a:solidFill>
              <a:latin typeface="Arial"/>
            </a:endParaRPr>
          </a:p>
          <a:p>
            <a:pPr algn="just" defTabSz="914400">
              <a:lnSpc>
                <a:spcPct val="100000"/>
              </a:lnSpc>
            </a:pPr>
            <a:r>
              <a:rPr lang="en-IN" sz="1800" b="0" strike="noStrike" spc="-1">
                <a:solidFill>
                  <a:schemeClr val="dk1"/>
                </a:solidFill>
                <a:latin typeface="Arial"/>
                <a:ea typeface="DejaVu Sans"/>
              </a:rPr>
              <a:t>       Rotational movement of the forearm that turns the palm </a:t>
            </a:r>
            <a:r>
              <a:rPr lang="en-IN" sz="1800" b="1" strike="noStrike" spc="-1">
                <a:solidFill>
                  <a:schemeClr val="dk1"/>
                </a:solidFill>
                <a:latin typeface="Arial"/>
                <a:ea typeface="DejaVu Sans"/>
              </a:rPr>
              <a:t>downward</a:t>
            </a:r>
            <a:r>
              <a:rPr lang="en-IN" sz="1800" b="0" strike="noStrike" spc="-1">
                <a:solidFill>
                  <a:schemeClr val="dk1"/>
                </a:solidFill>
                <a:latin typeface="Arial"/>
                <a:ea typeface="DejaVu Sans"/>
              </a:rPr>
              <a:t>.</a:t>
            </a:r>
            <a:endParaRPr lang="en-US" sz="1800" b="0" strike="noStrike" spc="-1">
              <a:solidFill>
                <a:srgbClr val="000000"/>
              </a:solidFill>
              <a:latin typeface="Arial"/>
            </a:endParaRPr>
          </a:p>
          <a:p>
            <a:pPr algn="just" defTabSz="914400">
              <a:lnSpc>
                <a:spcPct val="100000"/>
              </a:lnSpc>
            </a:pPr>
            <a:endParaRPr lang="en-US" sz="1800" b="0" strike="noStrike" spc="-1">
              <a:solidFill>
                <a:srgbClr val="000000"/>
              </a:solidFill>
              <a:latin typeface="Arial"/>
            </a:endParaRPr>
          </a:p>
          <a:p>
            <a:pPr marL="216000" indent="-216000" algn="just" defTabSz="914400">
              <a:lnSpc>
                <a:spcPct val="100000"/>
              </a:lnSpc>
              <a:buClr>
                <a:srgbClr val="000000"/>
              </a:buClr>
              <a:buFont typeface="Symbol" charset="2"/>
              <a:buChar char=""/>
            </a:pPr>
            <a:r>
              <a:rPr lang="en-IN" sz="2000" b="1" strike="noStrike" spc="-1">
                <a:solidFill>
                  <a:schemeClr val="dk1"/>
                </a:solidFill>
                <a:latin typeface="Arial"/>
                <a:ea typeface="DejaVu Sans"/>
              </a:rPr>
              <a:t>Supination:</a:t>
            </a:r>
            <a:endParaRPr lang="en-US" sz="2000" b="0" strike="noStrike" spc="-1">
              <a:solidFill>
                <a:srgbClr val="000000"/>
              </a:solidFill>
              <a:latin typeface="Arial"/>
            </a:endParaRPr>
          </a:p>
          <a:p>
            <a:pPr algn="just" defTabSz="914400">
              <a:lnSpc>
                <a:spcPct val="100000"/>
              </a:lnSpc>
            </a:pPr>
            <a:r>
              <a:rPr lang="en-IN" sz="1800" b="0" strike="noStrike" spc="-1">
                <a:solidFill>
                  <a:schemeClr val="dk1"/>
                </a:solidFill>
                <a:latin typeface="Arial"/>
                <a:ea typeface="DejaVu Sans"/>
              </a:rPr>
              <a:t>       Rotational movement of the forearm that turns the palm </a:t>
            </a:r>
            <a:r>
              <a:rPr lang="en-IN" sz="1800" b="1" strike="noStrike" spc="-1">
                <a:solidFill>
                  <a:schemeClr val="dk1"/>
                </a:solidFill>
                <a:latin typeface="Arial"/>
                <a:ea typeface="DejaVu Sans"/>
              </a:rPr>
              <a:t>upward</a:t>
            </a:r>
            <a:r>
              <a:rPr lang="en-IN" sz="1800" b="0" strike="noStrike" spc="-1">
                <a:solidFill>
                  <a:schemeClr val="dk1"/>
                </a:solidFill>
                <a:latin typeface="Arial"/>
                <a:ea typeface="DejaVu Sans"/>
              </a:rPr>
              <a:t>.</a:t>
            </a:r>
            <a:endParaRPr lang="en-US" sz="1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Picture 2"/>
          <p:cNvPicPr/>
          <p:nvPr/>
        </p:nvPicPr>
        <p:blipFill>
          <a:blip r:embed="rId2"/>
          <a:stretch/>
        </p:blipFill>
        <p:spPr>
          <a:xfrm>
            <a:off x="952560" y="177480"/>
            <a:ext cx="10019880" cy="5681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extBox 1">
            <a:extLst>
              <a:ext uri="{FF2B5EF4-FFF2-40B4-BE49-F238E27FC236}">
                <a16:creationId xmlns:a16="http://schemas.microsoft.com/office/drawing/2014/main" id="{510453A5-FBCC-EAF5-735C-107400B49FDA}"/>
              </a:ext>
            </a:extLst>
          </p:cNvPr>
          <p:cNvSpPr txBox="1"/>
          <p:nvPr/>
        </p:nvSpPr>
        <p:spPr>
          <a:xfrm>
            <a:off x="9253280" y="6311188"/>
            <a:ext cx="1963360" cy="369332"/>
          </a:xfrm>
          <a:prstGeom prst="rect">
            <a:avLst/>
          </a:prstGeom>
          <a:noFill/>
        </p:spPr>
        <p:txBody>
          <a:bodyPr wrap="square" rtlCol="0">
            <a:spAutoFit/>
          </a:bodyPr>
          <a:lstStyle/>
          <a:p>
            <a:r>
              <a:rPr lang="en-IN" spc="-1" dirty="0">
                <a:solidFill>
                  <a:srgbClr val="000000"/>
                </a:solidFill>
              </a:rPr>
              <a:t>Image source: AI</a:t>
            </a:r>
            <a:endParaRPr lang="en-IN" dirty="0"/>
          </a:p>
        </p:txBody>
      </p:sp>
      <p:sp>
        <p:nvSpPr>
          <p:cNvPr id="3" name="Rectangle 2">
            <a:extLst>
              <a:ext uri="{FF2B5EF4-FFF2-40B4-BE49-F238E27FC236}">
                <a16:creationId xmlns:a16="http://schemas.microsoft.com/office/drawing/2014/main" id="{0AB73274-5B0B-5954-4E17-0C16AF66F772}"/>
              </a:ext>
            </a:extLst>
          </p:cNvPr>
          <p:cNvSpPr/>
          <p:nvPr/>
        </p:nvSpPr>
        <p:spPr>
          <a:xfrm>
            <a:off x="9253280" y="6311188"/>
            <a:ext cx="1963360" cy="36933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1"/>
          <p:cNvSpPr/>
          <p:nvPr/>
        </p:nvSpPr>
        <p:spPr>
          <a:xfrm>
            <a:off x="779040" y="491040"/>
            <a:ext cx="1132740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IN" sz="2000" b="1" u="sng" strike="noStrike" spc="-1" dirty="0">
                <a:solidFill>
                  <a:schemeClr val="dk1"/>
                </a:solidFill>
                <a:uFillTx/>
                <a:latin typeface="Arial"/>
                <a:ea typeface="DejaVu Sans"/>
              </a:rPr>
              <a:t>Mechanical</a:t>
            </a:r>
            <a:r>
              <a:rPr lang="en-IN" sz="2000" b="1" strike="noStrike" spc="-1" dirty="0">
                <a:solidFill>
                  <a:schemeClr val="dk1"/>
                </a:solidFill>
                <a:latin typeface="Arial"/>
                <a:ea typeface="DejaVu Sans"/>
              </a:rPr>
              <a:t> </a:t>
            </a:r>
            <a:r>
              <a:rPr lang="en-IN" sz="2000" b="1" u="sng" strike="noStrike" spc="-1" dirty="0">
                <a:solidFill>
                  <a:schemeClr val="dk1"/>
                </a:solidFill>
                <a:uFillTx/>
                <a:latin typeface="Arial"/>
                <a:ea typeface="DejaVu Sans"/>
              </a:rPr>
              <a:t>Properties</a:t>
            </a:r>
            <a:r>
              <a:rPr lang="en-IN" sz="2000" b="1" strike="noStrike" spc="-1" dirty="0">
                <a:solidFill>
                  <a:schemeClr val="dk1"/>
                </a:solidFill>
                <a:latin typeface="Arial"/>
                <a:ea typeface="DejaVu Sans"/>
              </a:rPr>
              <a:t> </a:t>
            </a:r>
            <a:r>
              <a:rPr lang="en-IN" sz="2000" b="1" u="sng" strike="noStrike" spc="-1" dirty="0">
                <a:solidFill>
                  <a:schemeClr val="dk1"/>
                </a:solidFill>
                <a:uFillTx/>
                <a:latin typeface="Arial"/>
                <a:ea typeface="DejaVu Sans"/>
              </a:rPr>
              <a:t>of</a:t>
            </a:r>
            <a:r>
              <a:rPr lang="en-IN" sz="2000" b="1" strike="noStrike" spc="-1" dirty="0">
                <a:solidFill>
                  <a:schemeClr val="dk1"/>
                </a:solidFill>
                <a:latin typeface="Arial"/>
                <a:ea typeface="DejaVu Sans"/>
              </a:rPr>
              <a:t> </a:t>
            </a:r>
            <a:r>
              <a:rPr lang="en-IN" sz="2000" b="1" u="sng" strike="noStrike" spc="-1" dirty="0">
                <a:solidFill>
                  <a:schemeClr val="dk1"/>
                </a:solidFill>
                <a:uFillTx/>
                <a:latin typeface="Arial"/>
                <a:ea typeface="DejaVu Sans"/>
              </a:rPr>
              <a:t>Muscles:</a:t>
            </a:r>
            <a:endParaRPr lang="en-US" sz="2000" b="0" strike="noStrike" spc="-1" dirty="0">
              <a:solidFill>
                <a:srgbClr val="000000"/>
              </a:solidFill>
              <a:latin typeface="Arial"/>
            </a:endParaRPr>
          </a:p>
          <a:p>
            <a:pPr algn="just" defTabSz="914400">
              <a:lnSpc>
                <a:spcPct val="100000"/>
              </a:lnSpc>
            </a:pPr>
            <a:endParaRPr lang="en-US" sz="2000" b="0" strike="noStrike" spc="-1" dirty="0">
              <a:solidFill>
                <a:srgbClr val="000000"/>
              </a:solidFill>
              <a:latin typeface="Arial"/>
            </a:endParaRPr>
          </a:p>
          <a:p>
            <a:pPr algn="just" defTabSz="914400">
              <a:lnSpc>
                <a:spcPct val="100000"/>
              </a:lnSpc>
            </a:pPr>
            <a:r>
              <a:rPr lang="en-IN" sz="2000" b="1" strike="noStrike" spc="-1" dirty="0">
                <a:solidFill>
                  <a:schemeClr val="dk1"/>
                </a:solidFill>
                <a:latin typeface="Arial"/>
                <a:ea typeface="DejaVu Sans"/>
              </a:rPr>
              <a:t>1. Biceps Brachii</a:t>
            </a:r>
            <a:endParaRPr lang="en-US" sz="2000" b="0" strike="noStrike" spc="-1" dirty="0">
              <a:solidFill>
                <a:srgbClr val="000000"/>
              </a:solidFill>
              <a:latin typeface="Arial"/>
            </a:endParaRPr>
          </a:p>
        </p:txBody>
      </p:sp>
      <p:graphicFrame>
        <p:nvGraphicFramePr>
          <p:cNvPr id="89" name="Table 88"/>
          <p:cNvGraphicFramePr/>
          <p:nvPr>
            <p:extLst>
              <p:ext uri="{D42A27DB-BD31-4B8C-83A1-F6EECF244321}">
                <p14:modId xmlns:p14="http://schemas.microsoft.com/office/powerpoint/2010/main" val="690832269"/>
              </p:ext>
            </p:extLst>
          </p:nvPr>
        </p:nvGraphicFramePr>
        <p:xfrm>
          <a:off x="1026000" y="1510920"/>
          <a:ext cx="6121440" cy="4218480"/>
        </p:xfrm>
        <a:graphic>
          <a:graphicData uri="http://schemas.openxmlformats.org/drawingml/2006/table">
            <a:tbl>
              <a:tblPr/>
              <a:tblGrid>
                <a:gridCol w="3597120">
                  <a:extLst>
                    <a:ext uri="{9D8B030D-6E8A-4147-A177-3AD203B41FA5}">
                      <a16:colId xmlns:a16="http://schemas.microsoft.com/office/drawing/2014/main" val="20000"/>
                    </a:ext>
                  </a:extLst>
                </a:gridCol>
                <a:gridCol w="2524320">
                  <a:extLst>
                    <a:ext uri="{9D8B030D-6E8A-4147-A177-3AD203B41FA5}">
                      <a16:colId xmlns:a16="http://schemas.microsoft.com/office/drawing/2014/main" val="20001"/>
                    </a:ext>
                  </a:extLst>
                </a:gridCol>
              </a:tblGrid>
              <a:tr h="778680">
                <a:tc>
                  <a:txBody>
                    <a:bodyPr/>
                    <a:lstStyle/>
                    <a:p>
                      <a:pPr algn="ctr">
                        <a:lnSpc>
                          <a:spcPct val="112000"/>
                        </a:lnSpc>
                      </a:pPr>
                      <a:r>
                        <a:rPr lang="en-US" sz="1800" b="1" strike="noStrike" spc="-1">
                          <a:solidFill>
                            <a:srgbClr val="000000"/>
                          </a:solidFill>
                          <a:latin typeface="Arial"/>
                        </a:rPr>
                        <a:t>Mechanical Property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42800">
                <a:tc>
                  <a:txBody>
                    <a:bodyPr/>
                    <a:lstStyle/>
                    <a:p>
                      <a:pPr algn="ctr">
                        <a:lnSpc>
                          <a:spcPct val="112000"/>
                        </a:lnSpc>
                        <a:spcAft>
                          <a:spcPts val="397"/>
                        </a:spcAft>
                      </a:pPr>
                      <a:r>
                        <a:rPr lang="en-US" sz="1800" b="1" strike="noStrike" spc="-1">
                          <a:solidFill>
                            <a:srgbClr val="000000"/>
                          </a:solidFill>
                          <a:latin typeface="Arial"/>
                        </a:rPr>
                        <a:t>Optimal Fiber Length (L</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11.0 to 13.0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42800">
                <a:tc>
                  <a:txBody>
                    <a:bodyPr/>
                    <a:lstStyle/>
                    <a:p>
                      <a:pPr algn="ctr">
                        <a:lnSpc>
                          <a:spcPct val="112000"/>
                        </a:lnSpc>
                        <a:spcAft>
                          <a:spcPts val="397"/>
                        </a:spcAft>
                      </a:pPr>
                      <a:r>
                        <a:rPr lang="en-US" sz="1800" b="1" strike="noStrike" spc="-1" dirty="0">
                          <a:solidFill>
                            <a:srgbClr val="000000"/>
                          </a:solidFill>
                          <a:latin typeface="Arial"/>
                        </a:rPr>
                        <a:t>Total Muscle-Tendon Length</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35 to 42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4280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6.0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4280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5.0 to 7.5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42800">
                <a:tc>
                  <a:txBody>
                    <a:bodyPr/>
                    <a:lstStyle/>
                    <a:p>
                      <a:pPr algn="ctr">
                        <a:lnSpc>
                          <a:spcPct val="112000"/>
                        </a:lnSpc>
                        <a:spcAft>
                          <a:spcPts val="397"/>
                        </a:spcAft>
                      </a:pPr>
                      <a:r>
                        <a:rPr lang="en-US" sz="1800" b="1" strike="noStrike" spc="-1">
                          <a:solidFill>
                            <a:srgbClr val="000000"/>
                          </a:solidFill>
                          <a:latin typeface="Arial"/>
                        </a:rPr>
                        <a:t>Max Shortening Displacement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5.5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778680">
                <a:tc>
                  <a:txBody>
                    <a:bodyPr/>
                    <a:lstStyle/>
                    <a:p>
                      <a:pPr algn="ctr">
                        <a:lnSpc>
                          <a:spcPct val="112000"/>
                        </a:lnSpc>
                        <a:spcAft>
                          <a:spcPts val="397"/>
                        </a:spcAft>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8.0 to 12.0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447120">
                <a:tc>
                  <a:txBody>
                    <a:bodyPr/>
                    <a:lstStyle/>
                    <a:p>
                      <a:pPr algn="ctr">
                        <a:lnSpc>
                          <a:spcPct val="112000"/>
                        </a:lnSpc>
                        <a:spcAft>
                          <a:spcPts val="397"/>
                        </a:spcAft>
                      </a:pPr>
                      <a:r>
                        <a:rPr lang="en-US" sz="1800" b="1" strike="noStrike" spc="-1" dirty="0">
                          <a:solidFill>
                            <a:srgbClr val="000000"/>
                          </a:solidFill>
                          <a:latin typeface="Arial"/>
                        </a:rPr>
                        <a:t>Joint Arc of Motion (Elbow)</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0</a:t>
                      </a:r>
                      <a:r>
                        <a:rPr lang="en-US" sz="1800" b="0" strike="noStrike" spc="-1" baseline="33000" dirty="0">
                          <a:solidFill>
                            <a:srgbClr val="000000"/>
                          </a:solidFill>
                          <a:latin typeface="Arial"/>
                        </a:rPr>
                        <a:t>0</a:t>
                      </a:r>
                      <a:r>
                        <a:rPr lang="en-US" sz="1800" b="0" strike="noStrike" spc="-1" dirty="0">
                          <a:solidFill>
                            <a:srgbClr val="000000"/>
                          </a:solidFill>
                          <a:latin typeface="Arial"/>
                        </a:rPr>
                        <a:t> to 145</a:t>
                      </a:r>
                      <a:r>
                        <a:rPr lang="en-US" sz="1800" b="0" strike="noStrike" spc="-1" baseline="33000" dirty="0">
                          <a:solidFill>
                            <a:srgbClr val="000000"/>
                          </a:solidFill>
                          <a:latin typeface="Arial"/>
                        </a:rPr>
                        <a:t>0</a:t>
                      </a:r>
                      <a:r>
                        <a:rPr lang="en-US" sz="1800" b="0" strike="noStrike" spc="-1" dirty="0">
                          <a:solidFill>
                            <a:srgbClr val="000000"/>
                          </a:solidFill>
                          <a:latin typeface="Arial"/>
                        </a:rPr>
                        <a:t>-160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90" name="Picture 89"/>
          <p:cNvPicPr/>
          <p:nvPr/>
        </p:nvPicPr>
        <p:blipFill>
          <a:blip r:embed="rId2"/>
          <a:stretch/>
        </p:blipFill>
        <p:spPr>
          <a:xfrm>
            <a:off x="7659210" y="1488408"/>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 name="Table 90"/>
          <p:cNvGraphicFramePr/>
          <p:nvPr>
            <p:extLst>
              <p:ext uri="{D42A27DB-BD31-4B8C-83A1-F6EECF244321}">
                <p14:modId xmlns:p14="http://schemas.microsoft.com/office/powerpoint/2010/main" val="2955355251"/>
              </p:ext>
            </p:extLst>
          </p:nvPr>
        </p:nvGraphicFramePr>
        <p:xfrm>
          <a:off x="1048320" y="657360"/>
          <a:ext cx="6121440" cy="4600440"/>
        </p:xfrm>
        <a:graphic>
          <a:graphicData uri="http://schemas.openxmlformats.org/drawingml/2006/table">
            <a:tbl>
              <a:tblPr/>
              <a:tblGrid>
                <a:gridCol w="3597120">
                  <a:extLst>
                    <a:ext uri="{9D8B030D-6E8A-4147-A177-3AD203B41FA5}">
                      <a16:colId xmlns:a16="http://schemas.microsoft.com/office/drawing/2014/main" val="20000"/>
                    </a:ext>
                  </a:extLst>
                </a:gridCol>
                <a:gridCol w="2524320">
                  <a:extLst>
                    <a:ext uri="{9D8B030D-6E8A-4147-A177-3AD203B41FA5}">
                      <a16:colId xmlns:a16="http://schemas.microsoft.com/office/drawing/2014/main" val="20001"/>
                    </a:ext>
                  </a:extLst>
                </a:gridCol>
              </a:tblGrid>
              <a:tr h="574920">
                <a:tc>
                  <a:txBody>
                    <a:bodyPr/>
                    <a:lstStyle/>
                    <a:p>
                      <a:pPr algn="ctr">
                        <a:lnSpc>
                          <a:spcPct val="112000"/>
                        </a:lnSpc>
                        <a:spcAft>
                          <a:spcPts val="397"/>
                        </a:spcAft>
                      </a:pPr>
                      <a:r>
                        <a:rPr lang="en-US" sz="1800" b="1" strike="noStrike" spc="-1">
                          <a:solidFill>
                            <a:srgbClr val="000000"/>
                          </a:solidFill>
                          <a:latin typeface="Arial"/>
                        </a:rPr>
                        <a:t>Electromechanical Delay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50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74920">
                <a:tc>
                  <a:txBody>
                    <a:bodyPr/>
                    <a:lstStyle/>
                    <a:p>
                      <a:pPr algn="ctr">
                        <a:lnSpc>
                          <a:spcPct val="112000"/>
                        </a:lnSpc>
                        <a:spcAft>
                          <a:spcPts val="397"/>
                        </a:spcAft>
                      </a:pPr>
                      <a:r>
                        <a:rPr lang="en-US" sz="1800" b="1" strike="noStrike" spc="-1">
                          <a:solidFill>
                            <a:srgbClr val="000000"/>
                          </a:solidFill>
                          <a:latin typeface="Arial"/>
                        </a:rPr>
                        <a:t>Twitch Contraction Time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60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74920">
                <a:tc>
                  <a:txBody>
                    <a:bodyPr/>
                    <a:lstStyle/>
                    <a:p>
                      <a:pPr algn="ctr">
                        <a:lnSpc>
                          <a:spcPct val="112000"/>
                        </a:lnSpc>
                        <a:spcAft>
                          <a:spcPts val="397"/>
                        </a:spcAft>
                      </a:pPr>
                      <a:r>
                        <a:rPr lang="en-US" sz="1800" b="1" strike="noStrike" spc="-1">
                          <a:solidFill>
                            <a:srgbClr val="000000"/>
                          </a:solidFill>
                          <a:latin typeface="Arial"/>
                        </a:rPr>
                        <a:t>Max Internal Force (F</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600 to 1100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74920">
                <a:tc>
                  <a:txBody>
                    <a:bodyPr/>
                    <a:lstStyle/>
                    <a:p>
                      <a:pPr algn="ctr">
                        <a:lnSpc>
                          <a:spcPct val="112000"/>
                        </a:lnSpc>
                        <a:spcAft>
                          <a:spcPts val="397"/>
                        </a:spcAft>
                      </a:pPr>
                      <a:r>
                        <a:rPr lang="en-US" sz="1800" b="1" strike="noStrike" spc="-1" dirty="0">
                          <a:solidFill>
                            <a:srgbClr val="000000"/>
                          </a:solidFill>
                          <a:latin typeface="Arial"/>
                        </a:rPr>
                        <a:t>Max External Joint Torque</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60 Nm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7492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15 to 30 kg</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57492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15 to 25 mm^2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574920">
                <a:tc>
                  <a:txBody>
                    <a:bodyPr/>
                    <a:lstStyle/>
                    <a:p>
                      <a:pPr algn="ctr">
                        <a:lnSpc>
                          <a:spcPct val="112000"/>
                        </a:lnSpc>
                        <a:spcAft>
                          <a:spcPts val="397"/>
                        </a:spcAft>
                      </a:pPr>
                      <a:r>
                        <a:rPr lang="en-US" sz="1800" b="1" strike="noStrike" spc="-1">
                          <a:solidFill>
                            <a:srgbClr val="000000"/>
                          </a:solidFill>
                          <a:latin typeface="Arial"/>
                        </a:rPr>
                        <a:t>Tendon Stiffness (k)</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100 to 300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57600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 to 10%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92" name="Picture 91"/>
          <p:cNvPicPr/>
          <p:nvPr/>
        </p:nvPicPr>
        <p:blipFill>
          <a:blip r:embed="rId2"/>
          <a:stretch/>
        </p:blipFill>
        <p:spPr>
          <a:xfrm>
            <a:off x="7640160" y="6858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extBox 1">
            <a:extLst>
              <a:ext uri="{FF2B5EF4-FFF2-40B4-BE49-F238E27FC236}">
                <a16:creationId xmlns:a16="http://schemas.microsoft.com/office/drawing/2014/main" id="{51A5C89B-9C04-4065-4CB2-E94AEB613E17}"/>
              </a:ext>
            </a:extLst>
          </p:cNvPr>
          <p:cNvSpPr txBox="1"/>
          <p:nvPr/>
        </p:nvSpPr>
        <p:spPr>
          <a:xfrm>
            <a:off x="972120" y="5698068"/>
            <a:ext cx="10010626" cy="923330"/>
          </a:xfrm>
          <a:prstGeom prst="rect">
            <a:avLst/>
          </a:prstGeom>
          <a:noFill/>
        </p:spPr>
        <p:txBody>
          <a:bodyPr wrap="none" rtlCol="0">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3" name="Rectangle 2">
            <a:extLst>
              <a:ext uri="{FF2B5EF4-FFF2-40B4-BE49-F238E27FC236}">
                <a16:creationId xmlns:a16="http://schemas.microsoft.com/office/drawing/2014/main" id="{1268BBE8-AC3F-FB24-73B2-5079CF6B6AAD}"/>
              </a:ext>
            </a:extLst>
          </p:cNvPr>
          <p:cNvSpPr/>
          <p:nvPr/>
        </p:nvSpPr>
        <p:spPr>
          <a:xfrm>
            <a:off x="965200" y="5689600"/>
            <a:ext cx="10017546" cy="9347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457200" y="685800"/>
            <a:ext cx="2971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rgbClr val="000000"/>
                </a:solidFill>
                <a:latin typeface="Arial"/>
              </a:rPr>
              <a:t>2. BRACHIALIS</a:t>
            </a:r>
            <a:endParaRPr lang="en-US" sz="2000" b="0" strike="noStrike" spc="-1" dirty="0">
              <a:solidFill>
                <a:srgbClr val="000000"/>
              </a:solidFill>
              <a:latin typeface="Arial"/>
            </a:endParaRPr>
          </a:p>
        </p:txBody>
      </p:sp>
      <p:graphicFrame>
        <p:nvGraphicFramePr>
          <p:cNvPr id="94" name="Table 93"/>
          <p:cNvGraphicFramePr/>
          <p:nvPr>
            <p:extLst>
              <p:ext uri="{D42A27DB-BD31-4B8C-83A1-F6EECF244321}">
                <p14:modId xmlns:p14="http://schemas.microsoft.com/office/powerpoint/2010/main" val="1507926139"/>
              </p:ext>
            </p:extLst>
          </p:nvPr>
        </p:nvGraphicFramePr>
        <p:xfrm>
          <a:off x="842040" y="1194120"/>
          <a:ext cx="6121440" cy="4092840"/>
        </p:xfrm>
        <a:graphic>
          <a:graphicData uri="http://schemas.openxmlformats.org/drawingml/2006/table">
            <a:tbl>
              <a:tblPr/>
              <a:tblGrid>
                <a:gridCol w="3726360">
                  <a:extLst>
                    <a:ext uri="{9D8B030D-6E8A-4147-A177-3AD203B41FA5}">
                      <a16:colId xmlns:a16="http://schemas.microsoft.com/office/drawing/2014/main" val="20000"/>
                    </a:ext>
                  </a:extLst>
                </a:gridCol>
                <a:gridCol w="2395080">
                  <a:extLst>
                    <a:ext uri="{9D8B030D-6E8A-4147-A177-3AD203B41FA5}">
                      <a16:colId xmlns:a16="http://schemas.microsoft.com/office/drawing/2014/main" val="20001"/>
                    </a:ext>
                  </a:extLst>
                </a:gridCol>
              </a:tblGrid>
              <a:tr h="761760">
                <a:tc>
                  <a:txBody>
                    <a:bodyPr/>
                    <a:lstStyle/>
                    <a:p>
                      <a:pPr algn="ctr">
                        <a:lnSpc>
                          <a:spcPct val="100000"/>
                        </a:lnSpc>
                      </a:pPr>
                      <a:r>
                        <a:rPr lang="en-US" sz="1800" b="1" strike="noStrike" spc="-1">
                          <a:solidFill>
                            <a:srgbClr val="000000"/>
                          </a:solidFill>
                          <a:latin typeface="Arial"/>
                        </a:rPr>
                        <a:t>Mechanical Property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28040">
                <a:tc>
                  <a:txBody>
                    <a:bodyPr/>
                    <a:lstStyle/>
                    <a:p>
                      <a:pPr algn="ctr">
                        <a:lnSpc>
                          <a:spcPct val="100000"/>
                        </a:lnSpc>
                      </a:pPr>
                      <a:r>
                        <a:rPr lang="en-US" sz="1800" b="1" strike="noStrike" spc="-1">
                          <a:solidFill>
                            <a:srgbClr val="000000"/>
                          </a:solidFill>
                          <a:latin typeface="Arial"/>
                        </a:rPr>
                        <a:t>Optimal Fiber Length (L0)</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7.0 to 9.5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28040">
                <a:tc>
                  <a:txBody>
                    <a:bodyPr/>
                    <a:lstStyle/>
                    <a:p>
                      <a:pPr algn="ctr">
                        <a:lnSpc>
                          <a:spcPct val="100000"/>
                        </a:lnSpc>
                      </a:pPr>
                      <a:r>
                        <a:rPr lang="en-US" sz="1800" b="1" strike="noStrike" spc="-1">
                          <a:solidFill>
                            <a:srgbClr val="000000"/>
                          </a:solidFill>
                          <a:latin typeface="Arial"/>
                        </a:rPr>
                        <a:t>Total Muscle-Tendon Length</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18 to 24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28040">
                <a:tc>
                  <a:txBody>
                    <a:bodyPr/>
                    <a:lstStyle/>
                    <a:p>
                      <a:pPr algn="ctr">
                        <a:lnSpc>
                          <a:spcPct val="100000"/>
                        </a:lnSpc>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3.5 to 5.0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28040">
                <a:tc>
                  <a:txBody>
                    <a:bodyPr/>
                    <a:lstStyle/>
                    <a:p>
                      <a:pPr algn="ctr">
                        <a:lnSpc>
                          <a:spcPct val="100000"/>
                        </a:lnSpc>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4.2 to 6.0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28040">
                <a:tc>
                  <a:txBody>
                    <a:bodyPr/>
                    <a:lstStyle/>
                    <a:p>
                      <a:pPr algn="ctr">
                        <a:lnSpc>
                          <a:spcPct val="100000"/>
                        </a:lnSpc>
                      </a:pPr>
                      <a:r>
                        <a:rPr lang="en-US" sz="1800" b="1" strike="noStrike" spc="-1">
                          <a:solidFill>
                            <a:srgbClr val="000000"/>
                          </a:solidFill>
                          <a:latin typeface="Arial"/>
                        </a:rPr>
                        <a:t>Max Shortening Displacement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2.5 to 4.0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761760">
                <a:tc>
                  <a:txBody>
                    <a:bodyPr/>
                    <a:lstStyle/>
                    <a:p>
                      <a:pPr algn="ctr">
                        <a:lnSpc>
                          <a:spcPct val="100000"/>
                        </a:lnSpc>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0" strike="noStrike" spc="-1">
                          <a:solidFill>
                            <a:srgbClr val="000000"/>
                          </a:solidFill>
                          <a:latin typeface="Arial"/>
                        </a:rPr>
                        <a:t>7.0 to 11.0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429120">
                <a:tc>
                  <a:txBody>
                    <a:bodyPr/>
                    <a:lstStyle/>
                    <a:p>
                      <a:pPr algn="ctr">
                        <a:lnSpc>
                          <a:spcPct val="100000"/>
                        </a:lnSpc>
                      </a:pPr>
                      <a:r>
                        <a:rPr lang="en-US" sz="1800" b="1" strike="noStrike" spc="-1" dirty="0">
                          <a:solidFill>
                            <a:srgbClr val="000000"/>
                          </a:solidFill>
                          <a:latin typeface="Arial"/>
                        </a:rPr>
                        <a:t>Joint Arc of Motion (Elbow)</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ea typeface="Noto Sans CJK SC"/>
                        </a:rPr>
                        <a:t>0</a:t>
                      </a:r>
                      <a:r>
                        <a:rPr lang="en-US" sz="1800" b="0" strike="noStrike" spc="-1" baseline="33000" dirty="0">
                          <a:solidFill>
                            <a:srgbClr val="000000"/>
                          </a:solidFill>
                          <a:latin typeface="Arial"/>
                          <a:ea typeface="Noto Sans CJK SC"/>
                        </a:rPr>
                        <a:t>0</a:t>
                      </a:r>
                      <a:r>
                        <a:rPr lang="en-US" sz="1800" b="0" strike="noStrike" spc="-1" dirty="0">
                          <a:solidFill>
                            <a:srgbClr val="000000"/>
                          </a:solidFill>
                          <a:latin typeface="Arial"/>
                          <a:ea typeface="Noto Sans CJK SC"/>
                        </a:rPr>
                        <a:t> to 150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95" name="Picture 94"/>
          <p:cNvPicPr/>
          <p:nvPr/>
        </p:nvPicPr>
        <p:blipFill>
          <a:blip r:embed="rId2"/>
          <a:stretch/>
        </p:blipFill>
        <p:spPr>
          <a:xfrm>
            <a:off x="7315200" y="1143000"/>
            <a:ext cx="394200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 name="Table 95"/>
          <p:cNvGraphicFramePr/>
          <p:nvPr>
            <p:extLst>
              <p:ext uri="{D42A27DB-BD31-4B8C-83A1-F6EECF244321}">
                <p14:modId xmlns:p14="http://schemas.microsoft.com/office/powerpoint/2010/main" val="3374707379"/>
              </p:ext>
            </p:extLst>
          </p:nvPr>
        </p:nvGraphicFramePr>
        <p:xfrm>
          <a:off x="942840" y="740520"/>
          <a:ext cx="5892480" cy="4517280"/>
        </p:xfrm>
        <a:graphic>
          <a:graphicData uri="http://schemas.openxmlformats.org/drawingml/2006/table">
            <a:tbl>
              <a:tblPr/>
              <a:tblGrid>
                <a:gridCol w="3726360">
                  <a:extLst>
                    <a:ext uri="{9D8B030D-6E8A-4147-A177-3AD203B41FA5}">
                      <a16:colId xmlns:a16="http://schemas.microsoft.com/office/drawing/2014/main" val="20000"/>
                    </a:ext>
                  </a:extLst>
                </a:gridCol>
                <a:gridCol w="2166120">
                  <a:extLst>
                    <a:ext uri="{9D8B030D-6E8A-4147-A177-3AD203B41FA5}">
                      <a16:colId xmlns:a16="http://schemas.microsoft.com/office/drawing/2014/main" val="20001"/>
                    </a:ext>
                  </a:extLst>
                </a:gridCol>
              </a:tblGrid>
              <a:tr h="829080">
                <a:tc>
                  <a:txBody>
                    <a:bodyPr/>
                    <a:lstStyle/>
                    <a:p>
                      <a:pPr algn="ctr">
                        <a:lnSpc>
                          <a:spcPct val="100000"/>
                        </a:lnSpc>
                      </a:pPr>
                      <a:endParaRPr lang="en-US" sz="1800" b="0" strike="noStrike" spc="-1">
                        <a:solidFill>
                          <a:srgbClr val="000000"/>
                        </a:solidFill>
                        <a:latin typeface="Arial"/>
                      </a:endParaRPr>
                    </a:p>
                    <a:p>
                      <a:pPr algn="ctr">
                        <a:lnSpc>
                          <a:spcPct val="100000"/>
                        </a:lnSpc>
                      </a:pPr>
                      <a:r>
                        <a:rPr lang="en-US" sz="1800" b="1" strike="noStrike" spc="-1">
                          <a:solidFill>
                            <a:srgbClr val="000000"/>
                          </a:solidFill>
                          <a:latin typeface="Arial"/>
                        </a:rPr>
                        <a:t>Electromechanical Delay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endParaRPr lang="en-US" sz="1800" b="0" strike="noStrike" spc="-1">
                        <a:solidFill>
                          <a:srgbClr val="000000"/>
                        </a:solidFill>
                        <a:latin typeface="Arial"/>
                      </a:endParaRPr>
                    </a:p>
                    <a:p>
                      <a:pPr algn="ctr">
                        <a:lnSpc>
                          <a:spcPct val="112000"/>
                        </a:lnSpc>
                        <a:spcAft>
                          <a:spcPts val="397"/>
                        </a:spcAft>
                      </a:pPr>
                      <a:r>
                        <a:rPr lang="en-US" sz="1800" b="0" strike="noStrike" spc="-1">
                          <a:solidFill>
                            <a:srgbClr val="000000"/>
                          </a:solidFill>
                          <a:latin typeface="Arial"/>
                        </a:rPr>
                        <a:t>30 to 45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57920">
                <a:tc>
                  <a:txBody>
                    <a:bodyPr/>
                    <a:lstStyle/>
                    <a:p>
                      <a:pPr algn="ctr">
                        <a:lnSpc>
                          <a:spcPct val="112000"/>
                        </a:lnSpc>
                        <a:spcAft>
                          <a:spcPts val="397"/>
                        </a:spcAft>
                      </a:pPr>
                      <a:r>
                        <a:rPr lang="en-US" sz="1800" b="1" strike="noStrike" spc="-1">
                          <a:solidFill>
                            <a:srgbClr val="000000"/>
                          </a:solidFill>
                          <a:latin typeface="Arial"/>
                        </a:rPr>
                        <a:t>Twitch Contraction Time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35 to 55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57920">
                <a:tc>
                  <a:txBody>
                    <a:bodyPr/>
                    <a:lstStyle/>
                    <a:p>
                      <a:pPr algn="ctr">
                        <a:lnSpc>
                          <a:spcPct val="112000"/>
                        </a:lnSpc>
                        <a:spcAft>
                          <a:spcPts val="397"/>
                        </a:spcAft>
                      </a:pPr>
                      <a:r>
                        <a:rPr lang="en-US" sz="1800" b="1" strike="noStrike" spc="-1">
                          <a:solidFill>
                            <a:srgbClr val="000000"/>
                          </a:solidFill>
                          <a:latin typeface="Arial"/>
                        </a:rPr>
                        <a:t>Max Internal Force (F</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 700 to 1000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57920">
                <a:tc>
                  <a:txBody>
                    <a:bodyPr/>
                    <a:lstStyle/>
                    <a:p>
                      <a:pPr algn="ctr">
                        <a:lnSpc>
                          <a:spcPct val="112000"/>
                        </a:lnSpc>
                        <a:spcAft>
                          <a:spcPts val="397"/>
                        </a:spcAft>
                      </a:pPr>
                      <a:r>
                        <a:rPr lang="en-US" sz="1800" b="1" strike="noStrike" spc="-1">
                          <a:solidFill>
                            <a:srgbClr val="000000"/>
                          </a:solidFill>
                          <a:latin typeface="Arial"/>
                        </a:rPr>
                        <a:t>Max External Joint Torque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20 to 40 Nm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57920">
                <a:tc>
                  <a:txBody>
                    <a:bodyPr/>
                    <a:lstStyle/>
                    <a:p>
                      <a:pPr algn="ctr">
                        <a:lnSpc>
                          <a:spcPct val="112000"/>
                        </a:lnSpc>
                        <a:spcAft>
                          <a:spcPts val="397"/>
                        </a:spcAft>
                      </a:pPr>
                      <a:r>
                        <a:rPr lang="en-IN" sz="1800" b="1" strike="noStrike" kern="1200" spc="-1" dirty="0">
                          <a:solidFill>
                            <a:srgbClr val="000000"/>
                          </a:solidFill>
                          <a:latin typeface="+mn-lt"/>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 to 22 kg</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5792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10 to 20 mm^2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457920">
                <a:tc>
                  <a:txBody>
                    <a:bodyPr/>
                    <a:lstStyle/>
                    <a:p>
                      <a:pPr algn="ctr">
                        <a:lnSpc>
                          <a:spcPct val="112000"/>
                        </a:lnSpc>
                        <a:spcAft>
                          <a:spcPts val="397"/>
                        </a:spcAft>
                      </a:pPr>
                      <a:r>
                        <a:rPr lang="en-US" sz="1800" b="1" strike="noStrike" spc="-1">
                          <a:solidFill>
                            <a:srgbClr val="000000"/>
                          </a:solidFill>
                          <a:latin typeface="Arial"/>
                        </a:rPr>
                        <a:t>Tendon Stiffness (k)</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150  to 350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94068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4% to 8%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97" name="Picture 96"/>
          <p:cNvPicPr/>
          <p:nvPr/>
        </p:nvPicPr>
        <p:blipFill>
          <a:blip r:embed="rId2"/>
          <a:srcRect b="10671"/>
          <a:stretch/>
        </p:blipFill>
        <p:spPr>
          <a:xfrm>
            <a:off x="7315200" y="6858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F74559B2-0038-9F5B-831A-05E74FB28E43}"/>
              </a:ext>
            </a:extLst>
          </p:cNvPr>
          <p:cNvSpPr txBox="1"/>
          <p:nvPr/>
        </p:nvSpPr>
        <p:spPr>
          <a:xfrm>
            <a:off x="866639" y="5620435"/>
            <a:ext cx="10669579" cy="923330"/>
          </a:xfrm>
          <a:prstGeom prst="rect">
            <a:avLst/>
          </a:prstGeom>
          <a:noFill/>
        </p:spPr>
        <p:txBody>
          <a:bodyPr wrap="square">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4" name="Rectangle 3">
            <a:extLst>
              <a:ext uri="{FF2B5EF4-FFF2-40B4-BE49-F238E27FC236}">
                <a16:creationId xmlns:a16="http://schemas.microsoft.com/office/drawing/2014/main" id="{49D5E977-23A2-6C54-88A3-D4B7CF681B10}"/>
              </a:ext>
            </a:extLst>
          </p:cNvPr>
          <p:cNvSpPr/>
          <p:nvPr/>
        </p:nvSpPr>
        <p:spPr>
          <a:xfrm>
            <a:off x="866638" y="5650120"/>
            <a:ext cx="9912197" cy="9347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685800" y="685800"/>
            <a:ext cx="3429000" cy="603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rgbClr val="000000"/>
                </a:solidFill>
                <a:latin typeface="Arial"/>
              </a:rPr>
              <a:t>3.</a:t>
            </a:r>
            <a:r>
              <a:rPr lang="en-US" sz="2000" b="1" strike="noStrike" spc="-1" dirty="0">
                <a:solidFill>
                  <a:srgbClr val="000000"/>
                </a:solidFill>
                <a:latin typeface="Arial"/>
                <a:ea typeface="Noto Sans CJK SC"/>
              </a:rPr>
              <a:t>BRACHIORADIALIS</a:t>
            </a: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p:txBody>
      </p:sp>
      <p:graphicFrame>
        <p:nvGraphicFramePr>
          <p:cNvPr id="99" name="Table 98"/>
          <p:cNvGraphicFramePr/>
          <p:nvPr>
            <p:extLst>
              <p:ext uri="{D42A27DB-BD31-4B8C-83A1-F6EECF244321}">
                <p14:modId xmlns:p14="http://schemas.microsoft.com/office/powerpoint/2010/main" val="1182057082"/>
              </p:ext>
            </p:extLst>
          </p:nvPr>
        </p:nvGraphicFramePr>
        <p:xfrm>
          <a:off x="1014120" y="1226160"/>
          <a:ext cx="6121440" cy="4062240"/>
        </p:xfrm>
        <a:graphic>
          <a:graphicData uri="http://schemas.openxmlformats.org/drawingml/2006/table">
            <a:tbl>
              <a:tblPr/>
              <a:tblGrid>
                <a:gridCol w="3691080">
                  <a:extLst>
                    <a:ext uri="{9D8B030D-6E8A-4147-A177-3AD203B41FA5}">
                      <a16:colId xmlns:a16="http://schemas.microsoft.com/office/drawing/2014/main" val="20000"/>
                    </a:ext>
                  </a:extLst>
                </a:gridCol>
                <a:gridCol w="2430360">
                  <a:extLst>
                    <a:ext uri="{9D8B030D-6E8A-4147-A177-3AD203B41FA5}">
                      <a16:colId xmlns:a16="http://schemas.microsoft.com/office/drawing/2014/main" val="20001"/>
                    </a:ext>
                  </a:extLst>
                </a:gridCol>
              </a:tblGrid>
              <a:tr h="749880">
                <a:tc>
                  <a:txBody>
                    <a:bodyPr/>
                    <a:lstStyle/>
                    <a:p>
                      <a:pPr algn="ctr">
                        <a:lnSpc>
                          <a:spcPct val="112000"/>
                        </a:lnSpc>
                      </a:pPr>
                      <a:r>
                        <a:rPr lang="en-US" sz="1800" b="1" strike="noStrike" spc="-1">
                          <a:solidFill>
                            <a:srgbClr val="000000"/>
                          </a:solidFill>
                          <a:latin typeface="Arial"/>
                        </a:rPr>
                        <a:t>Mechanical Property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26600">
                <a:tc>
                  <a:txBody>
                    <a:bodyPr/>
                    <a:lstStyle/>
                    <a:p>
                      <a:pPr algn="ctr">
                        <a:lnSpc>
                          <a:spcPct val="112000"/>
                        </a:lnSpc>
                        <a:spcAft>
                          <a:spcPts val="397"/>
                        </a:spcAft>
                      </a:pPr>
                      <a:r>
                        <a:rPr lang="en-US" sz="1800" b="1" strike="noStrike" spc="-1">
                          <a:solidFill>
                            <a:srgbClr val="000000"/>
                          </a:solidFill>
                          <a:latin typeface="Arial"/>
                        </a:rPr>
                        <a:t>Optimal Fiber Length (L</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15.0 to 19.0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26600">
                <a:tc>
                  <a:txBody>
                    <a:bodyPr/>
                    <a:lstStyle/>
                    <a:p>
                      <a:pPr algn="ctr">
                        <a:lnSpc>
                          <a:spcPct val="112000"/>
                        </a:lnSpc>
                        <a:spcAft>
                          <a:spcPts val="397"/>
                        </a:spcAft>
                      </a:pPr>
                      <a:r>
                        <a:rPr lang="en-US" sz="1800" b="1" strike="noStrike" spc="-1">
                          <a:solidFill>
                            <a:srgbClr val="000000"/>
                          </a:solidFill>
                          <a:latin typeface="Arial"/>
                        </a:rPr>
                        <a:t>Total Muscle-Tendon Length</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25 to 35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2660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2.5 to 4.0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2660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4.8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26600">
                <a:tc>
                  <a:txBody>
                    <a:bodyPr/>
                    <a:lstStyle/>
                    <a:p>
                      <a:pPr algn="ctr">
                        <a:lnSpc>
                          <a:spcPct val="112000"/>
                        </a:lnSpc>
                        <a:spcAft>
                          <a:spcPts val="397"/>
                        </a:spcAft>
                      </a:pPr>
                      <a:r>
                        <a:rPr lang="en-US" sz="1800" b="1" strike="noStrike" spc="-1">
                          <a:solidFill>
                            <a:srgbClr val="000000"/>
                          </a:solidFill>
                          <a:latin typeface="Arial"/>
                        </a:rPr>
                        <a:t>Max Shortening Displacement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6.0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749880">
                <a:tc>
                  <a:txBody>
                    <a:bodyPr/>
                    <a:lstStyle/>
                    <a:p>
                      <a:pPr algn="ctr">
                        <a:lnSpc>
                          <a:spcPct val="112000"/>
                        </a:lnSpc>
                        <a:spcAft>
                          <a:spcPts val="397"/>
                        </a:spcAft>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2.0 to 4.5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429480">
                <a:tc>
                  <a:txBody>
                    <a:bodyPr/>
                    <a:lstStyle/>
                    <a:p>
                      <a:pPr algn="ctr">
                        <a:lnSpc>
                          <a:spcPct val="112000"/>
                        </a:lnSpc>
                        <a:spcAft>
                          <a:spcPts val="397"/>
                        </a:spcAft>
                      </a:pPr>
                      <a:r>
                        <a:rPr lang="en-US" sz="1800" b="1" strike="noStrike" spc="-1" dirty="0">
                          <a:solidFill>
                            <a:srgbClr val="000000"/>
                          </a:solidFill>
                          <a:latin typeface="Arial"/>
                        </a:rPr>
                        <a:t>Joint Arc of Motion (Elbow)</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0</a:t>
                      </a:r>
                      <a:r>
                        <a:rPr lang="en-US" sz="1800" b="0" strike="noStrike" spc="-1" baseline="33000" dirty="0">
                          <a:solidFill>
                            <a:srgbClr val="000000"/>
                          </a:solidFill>
                          <a:latin typeface="Arial"/>
                        </a:rPr>
                        <a:t>0</a:t>
                      </a:r>
                      <a:r>
                        <a:rPr lang="en-US" sz="1800" b="0" strike="noStrike" spc="-1" dirty="0">
                          <a:solidFill>
                            <a:srgbClr val="000000"/>
                          </a:solidFill>
                          <a:latin typeface="Arial"/>
                        </a:rPr>
                        <a:t> to 150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100" name="Picture 99"/>
          <p:cNvPicPr/>
          <p:nvPr/>
        </p:nvPicPr>
        <p:blipFill>
          <a:blip r:embed="rId2"/>
          <a:srcRect l="30668" r="2479"/>
          <a:stretch/>
        </p:blipFill>
        <p:spPr>
          <a:xfrm>
            <a:off x="7543800" y="11430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 name="Table 100"/>
          <p:cNvGraphicFramePr/>
          <p:nvPr>
            <p:extLst>
              <p:ext uri="{D42A27DB-BD31-4B8C-83A1-F6EECF244321}">
                <p14:modId xmlns:p14="http://schemas.microsoft.com/office/powerpoint/2010/main" val="3063702033"/>
              </p:ext>
            </p:extLst>
          </p:nvPr>
        </p:nvGraphicFramePr>
        <p:xfrm>
          <a:off x="886320" y="984240"/>
          <a:ext cx="6121440" cy="4502160"/>
        </p:xfrm>
        <a:graphic>
          <a:graphicData uri="http://schemas.openxmlformats.org/drawingml/2006/table">
            <a:tbl>
              <a:tblPr/>
              <a:tblGrid>
                <a:gridCol w="3691080">
                  <a:extLst>
                    <a:ext uri="{9D8B030D-6E8A-4147-A177-3AD203B41FA5}">
                      <a16:colId xmlns:a16="http://schemas.microsoft.com/office/drawing/2014/main" val="20000"/>
                    </a:ext>
                  </a:extLst>
                </a:gridCol>
                <a:gridCol w="2430360">
                  <a:extLst>
                    <a:ext uri="{9D8B030D-6E8A-4147-A177-3AD203B41FA5}">
                      <a16:colId xmlns:a16="http://schemas.microsoft.com/office/drawing/2014/main" val="20001"/>
                    </a:ext>
                  </a:extLst>
                </a:gridCol>
              </a:tblGrid>
              <a:tr h="562320">
                <a:tc>
                  <a:txBody>
                    <a:bodyPr/>
                    <a:lstStyle/>
                    <a:p>
                      <a:pPr algn="ctr">
                        <a:lnSpc>
                          <a:spcPct val="112000"/>
                        </a:lnSpc>
                        <a:spcAft>
                          <a:spcPts val="397"/>
                        </a:spcAft>
                      </a:pPr>
                      <a:r>
                        <a:rPr lang="en-US" sz="1800" b="1" strike="noStrike" spc="-1">
                          <a:solidFill>
                            <a:srgbClr val="000000"/>
                          </a:solidFill>
                          <a:latin typeface="Arial"/>
                        </a:rPr>
                        <a:t>Electromechanical Delay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45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62320">
                <a:tc>
                  <a:txBody>
                    <a:bodyPr/>
                    <a:lstStyle/>
                    <a:p>
                      <a:pPr algn="ctr">
                        <a:lnSpc>
                          <a:spcPct val="112000"/>
                        </a:lnSpc>
                        <a:spcAft>
                          <a:spcPts val="397"/>
                        </a:spcAft>
                      </a:pPr>
                      <a:r>
                        <a:rPr lang="en-US" sz="1800" b="1" strike="noStrike" spc="-1">
                          <a:solidFill>
                            <a:srgbClr val="000000"/>
                          </a:solidFill>
                          <a:latin typeface="Arial"/>
                        </a:rPr>
                        <a:t>Twitch Contraction Time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35 to 55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62320">
                <a:tc>
                  <a:txBody>
                    <a:bodyPr/>
                    <a:lstStyle/>
                    <a:p>
                      <a:pPr algn="ctr">
                        <a:lnSpc>
                          <a:spcPct val="112000"/>
                        </a:lnSpc>
                        <a:spcAft>
                          <a:spcPts val="397"/>
                        </a:spcAft>
                      </a:pPr>
                      <a:r>
                        <a:rPr lang="en-US" sz="1800" b="1" strike="noStrike" spc="-1">
                          <a:solidFill>
                            <a:srgbClr val="000000"/>
                          </a:solidFill>
                          <a:latin typeface="Arial"/>
                        </a:rPr>
                        <a:t>Max Internal Force (F</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150 to 300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62320">
                <a:tc>
                  <a:txBody>
                    <a:bodyPr/>
                    <a:lstStyle/>
                    <a:p>
                      <a:pPr algn="ctr">
                        <a:lnSpc>
                          <a:spcPct val="112000"/>
                        </a:lnSpc>
                        <a:spcAft>
                          <a:spcPts val="397"/>
                        </a:spcAft>
                      </a:pPr>
                      <a:r>
                        <a:rPr lang="en-US" sz="1800" b="1" strike="noStrike" spc="-1">
                          <a:solidFill>
                            <a:srgbClr val="000000"/>
                          </a:solidFill>
                          <a:latin typeface="Arial"/>
                        </a:rPr>
                        <a:t>Max External Joint Torque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5 to 15  Nm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62320">
                <a:tc>
                  <a:txBody>
                    <a:bodyPr/>
                    <a:lstStyle/>
                    <a:p>
                      <a:pPr algn="ctr">
                        <a:lnSpc>
                          <a:spcPct val="112000"/>
                        </a:lnSpc>
                        <a:spcAft>
                          <a:spcPts val="397"/>
                        </a:spcAft>
                      </a:pPr>
                      <a:r>
                        <a:rPr lang="en-IN" sz="1800" b="1" strike="noStrike" kern="1200" spc="-1" dirty="0">
                          <a:solidFill>
                            <a:srgbClr val="000000"/>
                          </a:solidFill>
                          <a:latin typeface="+mn-lt"/>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 to 10 kg</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56232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5 to 12 mm^2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562320">
                <a:tc>
                  <a:txBody>
                    <a:bodyPr/>
                    <a:lstStyle/>
                    <a:p>
                      <a:pPr algn="ctr">
                        <a:lnSpc>
                          <a:spcPct val="112000"/>
                        </a:lnSpc>
                        <a:spcAft>
                          <a:spcPts val="397"/>
                        </a:spcAft>
                      </a:pPr>
                      <a:r>
                        <a:rPr lang="en-US" sz="1800" b="1" strike="noStrike" spc="-1">
                          <a:solidFill>
                            <a:srgbClr val="000000"/>
                          </a:solidFill>
                          <a:latin typeface="Arial"/>
                        </a:rPr>
                        <a:t>Tendon Stiffness (k)</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80 to 200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56592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 to 10%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102" name="Picture 101"/>
          <p:cNvPicPr/>
          <p:nvPr/>
        </p:nvPicPr>
        <p:blipFill>
          <a:blip r:embed="rId2"/>
          <a:srcRect l="10816" t="3131" r="12513" b="6863"/>
          <a:stretch/>
        </p:blipFill>
        <p:spPr>
          <a:xfrm>
            <a:off x="7543800" y="9144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62DFE9A7-12A9-13B5-CD3D-D4801BB74E6C}"/>
              </a:ext>
            </a:extLst>
          </p:cNvPr>
          <p:cNvSpPr txBox="1"/>
          <p:nvPr/>
        </p:nvSpPr>
        <p:spPr>
          <a:xfrm>
            <a:off x="772583" y="5820712"/>
            <a:ext cx="10209453" cy="923330"/>
          </a:xfrm>
          <a:prstGeom prst="rect">
            <a:avLst/>
          </a:prstGeom>
          <a:noFill/>
        </p:spPr>
        <p:txBody>
          <a:bodyPr wrap="square">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4" name="Rectangle 3">
            <a:extLst>
              <a:ext uri="{FF2B5EF4-FFF2-40B4-BE49-F238E27FC236}">
                <a16:creationId xmlns:a16="http://schemas.microsoft.com/office/drawing/2014/main" id="{F34BBF2F-0B05-EFD4-9E8A-8312DB620A9B}"/>
              </a:ext>
            </a:extLst>
          </p:cNvPr>
          <p:cNvSpPr/>
          <p:nvPr/>
        </p:nvSpPr>
        <p:spPr>
          <a:xfrm>
            <a:off x="772582" y="5820712"/>
            <a:ext cx="9895417" cy="9347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02"/>
          <p:cNvSpPr/>
          <p:nvPr/>
        </p:nvSpPr>
        <p:spPr>
          <a:xfrm>
            <a:off x="685800" y="914400"/>
            <a:ext cx="34290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rgbClr val="000000"/>
                </a:solidFill>
                <a:latin typeface="Arial"/>
              </a:rPr>
              <a:t>4.</a:t>
            </a:r>
            <a:r>
              <a:rPr lang="en-US" sz="2000" b="1" strike="noStrike" spc="-1" dirty="0">
                <a:solidFill>
                  <a:srgbClr val="000000"/>
                </a:solidFill>
                <a:latin typeface="Arial"/>
                <a:ea typeface="Noto Sans CJK SC"/>
              </a:rPr>
              <a:t>PRONATOR TERES</a:t>
            </a: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graphicFrame>
        <p:nvGraphicFramePr>
          <p:cNvPr id="104" name="Table 103"/>
          <p:cNvGraphicFramePr/>
          <p:nvPr>
            <p:extLst>
              <p:ext uri="{D42A27DB-BD31-4B8C-83A1-F6EECF244321}">
                <p14:modId xmlns:p14="http://schemas.microsoft.com/office/powerpoint/2010/main" val="1532530686"/>
              </p:ext>
            </p:extLst>
          </p:nvPr>
        </p:nvGraphicFramePr>
        <p:xfrm>
          <a:off x="1016640" y="1406520"/>
          <a:ext cx="6121440" cy="4105800"/>
        </p:xfrm>
        <a:graphic>
          <a:graphicData uri="http://schemas.openxmlformats.org/drawingml/2006/table">
            <a:tbl>
              <a:tblPr/>
              <a:tblGrid>
                <a:gridCol w="3339360">
                  <a:extLst>
                    <a:ext uri="{9D8B030D-6E8A-4147-A177-3AD203B41FA5}">
                      <a16:colId xmlns:a16="http://schemas.microsoft.com/office/drawing/2014/main" val="20000"/>
                    </a:ext>
                  </a:extLst>
                </a:gridCol>
                <a:gridCol w="2782080">
                  <a:extLst>
                    <a:ext uri="{9D8B030D-6E8A-4147-A177-3AD203B41FA5}">
                      <a16:colId xmlns:a16="http://schemas.microsoft.com/office/drawing/2014/main" val="20001"/>
                    </a:ext>
                  </a:extLst>
                </a:gridCol>
              </a:tblGrid>
              <a:tr h="431280">
                <a:tc>
                  <a:txBody>
                    <a:bodyPr/>
                    <a:lstStyle/>
                    <a:p>
                      <a:pPr algn="ctr">
                        <a:lnSpc>
                          <a:spcPct val="112000"/>
                        </a:lnSpc>
                      </a:pPr>
                      <a:r>
                        <a:rPr lang="en-US" sz="1800" b="1" strike="noStrike" spc="-1">
                          <a:solidFill>
                            <a:srgbClr val="000000"/>
                          </a:solidFill>
                          <a:latin typeface="Arial"/>
                        </a:rPr>
                        <a:t>Mechanical Property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31280">
                <a:tc>
                  <a:txBody>
                    <a:bodyPr/>
                    <a:lstStyle/>
                    <a:p>
                      <a:pPr algn="ctr">
                        <a:lnSpc>
                          <a:spcPct val="112000"/>
                        </a:lnSpc>
                        <a:spcAft>
                          <a:spcPts val="397"/>
                        </a:spcAft>
                      </a:pPr>
                      <a:r>
                        <a:rPr lang="en-US" sz="1800" b="1" strike="noStrike" spc="-1">
                          <a:solidFill>
                            <a:srgbClr val="000000"/>
                          </a:solidFill>
                          <a:latin typeface="Arial"/>
                        </a:rPr>
                        <a:t>Optimal Fiber Length (L</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4.5 to 7.5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31280">
                <a:tc>
                  <a:txBody>
                    <a:bodyPr/>
                    <a:lstStyle/>
                    <a:p>
                      <a:pPr algn="ctr">
                        <a:lnSpc>
                          <a:spcPct val="112000"/>
                        </a:lnSpc>
                        <a:spcAft>
                          <a:spcPts val="397"/>
                        </a:spcAft>
                      </a:pPr>
                      <a:r>
                        <a:rPr lang="en-US" sz="1800" b="1" strike="noStrike" spc="-1">
                          <a:solidFill>
                            <a:srgbClr val="000000"/>
                          </a:solidFill>
                          <a:latin typeface="Arial"/>
                        </a:rPr>
                        <a:t>Total Muscle-Tendon Length</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12 to 18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3128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2.0 to 3.5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3128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2.5 to 4.2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31280">
                <a:tc>
                  <a:txBody>
                    <a:bodyPr/>
                    <a:lstStyle/>
                    <a:p>
                      <a:pPr algn="ctr">
                        <a:lnSpc>
                          <a:spcPct val="112000"/>
                        </a:lnSpc>
                        <a:spcAft>
                          <a:spcPts val="397"/>
                        </a:spcAft>
                      </a:pPr>
                      <a:r>
                        <a:rPr lang="en-US" sz="1800" b="1" strike="noStrike" spc="-1">
                          <a:solidFill>
                            <a:srgbClr val="000000"/>
                          </a:solidFill>
                          <a:latin typeface="Arial"/>
                        </a:rPr>
                        <a:t>Max Shortening Displacement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2.5 to 4.0cm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758160">
                <a:tc>
                  <a:txBody>
                    <a:bodyPr/>
                    <a:lstStyle/>
                    <a:p>
                      <a:pPr algn="ctr">
                        <a:lnSpc>
                          <a:spcPct val="112000"/>
                        </a:lnSpc>
                        <a:spcAft>
                          <a:spcPts val="397"/>
                        </a:spcAft>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6.0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759960">
                <a:tc>
                  <a:txBody>
                    <a:bodyPr/>
                    <a:lstStyle/>
                    <a:p>
                      <a:pPr algn="ctr">
                        <a:lnSpc>
                          <a:spcPct val="112000"/>
                        </a:lnSpc>
                        <a:spcAft>
                          <a:spcPts val="397"/>
                        </a:spcAft>
                      </a:pPr>
                      <a:r>
                        <a:rPr lang="en-US" sz="1800" b="1" strike="noStrike" spc="-1" dirty="0">
                          <a:solidFill>
                            <a:srgbClr val="000000"/>
                          </a:solidFill>
                          <a:latin typeface="Arial"/>
                        </a:rPr>
                        <a:t>Joint Arc of Motion</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Pronation/Supination </a:t>
                      </a:r>
                      <a:r>
                        <a:rPr lang="en-US" sz="1800" b="0" strike="noStrike" spc="-1" dirty="0" err="1">
                          <a:solidFill>
                            <a:srgbClr val="000000"/>
                          </a:solidFill>
                          <a:latin typeface="Arial"/>
                        </a:rPr>
                        <a:t>approx</a:t>
                      </a:r>
                      <a:r>
                        <a:rPr lang="en-US" sz="1800" b="0" strike="noStrike" spc="-1" dirty="0">
                          <a:solidFill>
                            <a:srgbClr val="000000"/>
                          </a:solidFill>
                          <a:latin typeface="Arial"/>
                        </a:rPr>
                        <a:t> 150-180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105" name="Picture 104"/>
          <p:cNvPicPr/>
          <p:nvPr/>
        </p:nvPicPr>
        <p:blipFill>
          <a:blip r:embed="rId2"/>
          <a:srcRect r="18672"/>
          <a:stretch/>
        </p:blipFill>
        <p:spPr>
          <a:xfrm>
            <a:off x="7543800" y="143964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 name="Table 105"/>
          <p:cNvGraphicFramePr/>
          <p:nvPr>
            <p:extLst>
              <p:ext uri="{D42A27DB-BD31-4B8C-83A1-F6EECF244321}">
                <p14:modId xmlns:p14="http://schemas.microsoft.com/office/powerpoint/2010/main" val="2928855919"/>
              </p:ext>
            </p:extLst>
          </p:nvPr>
        </p:nvGraphicFramePr>
        <p:xfrm>
          <a:off x="965200" y="543800"/>
          <a:ext cx="6121440" cy="4602240"/>
        </p:xfrm>
        <a:graphic>
          <a:graphicData uri="http://schemas.openxmlformats.org/drawingml/2006/table">
            <a:tbl>
              <a:tblPr/>
              <a:tblGrid>
                <a:gridCol w="3339360">
                  <a:extLst>
                    <a:ext uri="{9D8B030D-6E8A-4147-A177-3AD203B41FA5}">
                      <a16:colId xmlns:a16="http://schemas.microsoft.com/office/drawing/2014/main" val="20000"/>
                    </a:ext>
                  </a:extLst>
                </a:gridCol>
                <a:gridCol w="2782080">
                  <a:extLst>
                    <a:ext uri="{9D8B030D-6E8A-4147-A177-3AD203B41FA5}">
                      <a16:colId xmlns:a16="http://schemas.microsoft.com/office/drawing/2014/main" val="20001"/>
                    </a:ext>
                  </a:extLst>
                </a:gridCol>
              </a:tblGrid>
              <a:tr h="522000">
                <a:tc>
                  <a:txBody>
                    <a:bodyPr/>
                    <a:lstStyle/>
                    <a:p>
                      <a:pPr algn="ctr">
                        <a:lnSpc>
                          <a:spcPct val="112000"/>
                        </a:lnSpc>
                        <a:spcAft>
                          <a:spcPts val="397"/>
                        </a:spcAft>
                      </a:pPr>
                      <a:r>
                        <a:rPr lang="en-US" sz="1800" b="1" strike="noStrike" spc="-1">
                          <a:solidFill>
                            <a:srgbClr val="000000"/>
                          </a:solidFill>
                          <a:latin typeface="Arial"/>
                        </a:rPr>
                        <a:t>Electromechanical Delay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45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22000">
                <a:tc>
                  <a:txBody>
                    <a:bodyPr/>
                    <a:lstStyle/>
                    <a:p>
                      <a:pPr algn="ctr">
                        <a:lnSpc>
                          <a:spcPct val="112000"/>
                        </a:lnSpc>
                        <a:spcAft>
                          <a:spcPts val="397"/>
                        </a:spcAft>
                      </a:pPr>
                      <a:r>
                        <a:rPr lang="en-US" sz="1800" b="1" strike="noStrike" spc="-1" dirty="0">
                          <a:solidFill>
                            <a:srgbClr val="000000"/>
                          </a:solidFill>
                          <a:latin typeface="Arial"/>
                        </a:rPr>
                        <a:t>Twitch Contraction Time</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35 to 55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944640">
                <a:tc>
                  <a:txBody>
                    <a:bodyPr/>
                    <a:lstStyle/>
                    <a:p>
                      <a:pPr algn="ctr">
                        <a:lnSpc>
                          <a:spcPct val="112000"/>
                        </a:lnSpc>
                        <a:spcAft>
                          <a:spcPts val="397"/>
                        </a:spcAft>
                      </a:pPr>
                      <a:endParaRPr lang="en-US" sz="1800" b="0" strike="noStrike" spc="-1">
                        <a:solidFill>
                          <a:srgbClr val="000000"/>
                        </a:solidFill>
                        <a:latin typeface="Arial"/>
                      </a:endParaRPr>
                    </a:p>
                    <a:p>
                      <a:pPr algn="ctr">
                        <a:lnSpc>
                          <a:spcPct val="112000"/>
                        </a:lnSpc>
                        <a:spcAft>
                          <a:spcPts val="397"/>
                        </a:spcAft>
                      </a:pPr>
                      <a:r>
                        <a:rPr lang="en-US" sz="1800" b="1" strike="noStrike" spc="-1">
                          <a:solidFill>
                            <a:srgbClr val="000000"/>
                          </a:solidFill>
                          <a:latin typeface="Arial"/>
                        </a:rPr>
                        <a:t>Max Internal Force (F</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endParaRPr lang="en-US" sz="1800" b="0" strike="noStrike" spc="-1" dirty="0">
                        <a:solidFill>
                          <a:srgbClr val="000000"/>
                        </a:solidFill>
                        <a:latin typeface="Arial"/>
                      </a:endParaRPr>
                    </a:p>
                    <a:p>
                      <a:pPr algn="ctr">
                        <a:lnSpc>
                          <a:spcPct val="112000"/>
                        </a:lnSpc>
                        <a:spcAft>
                          <a:spcPts val="397"/>
                        </a:spcAft>
                      </a:pPr>
                      <a:r>
                        <a:rPr lang="en-US" sz="1800" b="0" strike="noStrike" spc="-1" dirty="0">
                          <a:solidFill>
                            <a:srgbClr val="000000"/>
                          </a:solidFill>
                          <a:latin typeface="Arial"/>
                        </a:rPr>
                        <a:t>300 to 600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22000">
                <a:tc>
                  <a:txBody>
                    <a:bodyPr/>
                    <a:lstStyle/>
                    <a:p>
                      <a:pPr algn="ctr">
                        <a:lnSpc>
                          <a:spcPct val="112000"/>
                        </a:lnSpc>
                        <a:spcAft>
                          <a:spcPts val="397"/>
                        </a:spcAft>
                      </a:pPr>
                      <a:r>
                        <a:rPr lang="en-US" sz="1800" b="1" strike="noStrike" spc="-1">
                          <a:solidFill>
                            <a:srgbClr val="000000"/>
                          </a:solidFill>
                          <a:latin typeface="Arial"/>
                        </a:rPr>
                        <a:t>Max External Joint Torque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 to 10 Nm (Pronation)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22000">
                <a:tc>
                  <a:txBody>
                    <a:bodyPr/>
                    <a:lstStyle/>
                    <a:p>
                      <a:pPr algn="ctr">
                        <a:lnSpc>
                          <a:spcPct val="112000"/>
                        </a:lnSpc>
                        <a:spcAft>
                          <a:spcPts val="397"/>
                        </a:spcAft>
                      </a:pPr>
                      <a:r>
                        <a:rPr lang="en-IN" sz="1800" b="1" strike="noStrike" kern="1200" spc="-1" dirty="0">
                          <a:solidFill>
                            <a:srgbClr val="000000"/>
                          </a:solidFill>
                          <a:latin typeface="+mn-lt"/>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 to 8 kg</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52200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5 to 12 mm ^2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522000">
                <a:tc>
                  <a:txBody>
                    <a:bodyPr/>
                    <a:lstStyle/>
                    <a:p>
                      <a:pPr algn="ctr">
                        <a:lnSpc>
                          <a:spcPct val="112000"/>
                        </a:lnSpc>
                        <a:spcAft>
                          <a:spcPts val="397"/>
                        </a:spcAft>
                      </a:pPr>
                      <a:r>
                        <a:rPr lang="en-US" sz="1800" b="1" strike="noStrike" spc="-1">
                          <a:solidFill>
                            <a:srgbClr val="000000"/>
                          </a:solidFill>
                          <a:latin typeface="Arial"/>
                        </a:rPr>
                        <a:t>Tendon Stiffness (k)</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100 to 250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52560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 to 10%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107" name="Picture 106"/>
          <p:cNvPicPr/>
          <p:nvPr/>
        </p:nvPicPr>
        <p:blipFill>
          <a:blip r:embed="rId2"/>
          <a:srcRect l="6825"/>
          <a:stretch/>
        </p:blipFill>
        <p:spPr>
          <a:xfrm>
            <a:off x="7840880" y="5438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382F02DD-0AF5-6CA5-DBC8-9929A4C73EB9}"/>
              </a:ext>
            </a:extLst>
          </p:cNvPr>
          <p:cNvSpPr txBox="1"/>
          <p:nvPr/>
        </p:nvSpPr>
        <p:spPr>
          <a:xfrm>
            <a:off x="924983" y="5745240"/>
            <a:ext cx="10214071" cy="923330"/>
          </a:xfrm>
          <a:prstGeom prst="rect">
            <a:avLst/>
          </a:prstGeom>
          <a:noFill/>
        </p:spPr>
        <p:txBody>
          <a:bodyPr wrap="square">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4" name="Rectangle 3">
            <a:extLst>
              <a:ext uri="{FF2B5EF4-FFF2-40B4-BE49-F238E27FC236}">
                <a16:creationId xmlns:a16="http://schemas.microsoft.com/office/drawing/2014/main" id="{DE748201-AB68-50FF-F407-B7AF5AFC36B3}"/>
              </a:ext>
            </a:extLst>
          </p:cNvPr>
          <p:cNvSpPr/>
          <p:nvPr/>
        </p:nvSpPr>
        <p:spPr>
          <a:xfrm>
            <a:off x="924984" y="5745240"/>
            <a:ext cx="9900034" cy="9347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107"/>
          <p:cNvSpPr/>
          <p:nvPr/>
        </p:nvSpPr>
        <p:spPr>
          <a:xfrm>
            <a:off x="685800" y="685800"/>
            <a:ext cx="365760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rgbClr val="000000"/>
                </a:solidFill>
                <a:latin typeface="Arial"/>
              </a:rPr>
              <a:t>5.</a:t>
            </a:r>
            <a:r>
              <a:rPr lang="en-US" sz="2000" b="1" strike="noStrike" spc="-1" dirty="0">
                <a:solidFill>
                  <a:srgbClr val="000000"/>
                </a:solidFill>
                <a:latin typeface="Arial"/>
                <a:ea typeface="Noto Sans CJK SC"/>
              </a:rPr>
              <a:t>TRICEPS BRACHII</a:t>
            </a:r>
            <a:endParaRPr lang="en-US" sz="2000" b="0" strike="noStrike" spc="-1" dirty="0">
              <a:solidFill>
                <a:srgbClr val="000000"/>
              </a:solidFill>
              <a:latin typeface="Arial"/>
            </a:endParaRPr>
          </a:p>
        </p:txBody>
      </p:sp>
      <p:graphicFrame>
        <p:nvGraphicFramePr>
          <p:cNvPr id="109" name="Table 108"/>
          <p:cNvGraphicFramePr/>
          <p:nvPr>
            <p:extLst>
              <p:ext uri="{D42A27DB-BD31-4B8C-83A1-F6EECF244321}">
                <p14:modId xmlns:p14="http://schemas.microsoft.com/office/powerpoint/2010/main" val="2464022979"/>
              </p:ext>
            </p:extLst>
          </p:nvPr>
        </p:nvGraphicFramePr>
        <p:xfrm>
          <a:off x="1014840" y="1225440"/>
          <a:ext cx="6121440" cy="4138930"/>
        </p:xfrm>
        <a:graphic>
          <a:graphicData uri="http://schemas.openxmlformats.org/drawingml/2006/table">
            <a:tbl>
              <a:tblPr/>
              <a:tblGrid>
                <a:gridCol w="3593520">
                  <a:extLst>
                    <a:ext uri="{9D8B030D-6E8A-4147-A177-3AD203B41FA5}">
                      <a16:colId xmlns:a16="http://schemas.microsoft.com/office/drawing/2014/main" val="20000"/>
                    </a:ext>
                  </a:extLst>
                </a:gridCol>
                <a:gridCol w="2527920">
                  <a:extLst>
                    <a:ext uri="{9D8B030D-6E8A-4147-A177-3AD203B41FA5}">
                      <a16:colId xmlns:a16="http://schemas.microsoft.com/office/drawing/2014/main" val="20001"/>
                    </a:ext>
                  </a:extLst>
                </a:gridCol>
              </a:tblGrid>
              <a:tr h="346320">
                <a:tc>
                  <a:txBody>
                    <a:bodyPr/>
                    <a:lstStyle/>
                    <a:p>
                      <a:pPr algn="ctr">
                        <a:lnSpc>
                          <a:spcPct val="112000"/>
                        </a:lnSpc>
                      </a:pPr>
                      <a:r>
                        <a:rPr lang="en-US" sz="1800" b="1" strike="noStrike" spc="-1" dirty="0">
                          <a:solidFill>
                            <a:srgbClr val="000000"/>
                          </a:solidFill>
                          <a:latin typeface="Arial"/>
                        </a:rPr>
                        <a:t>Mechanical Property</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0">
                <a:tc>
                  <a:txBody>
                    <a:bodyPr/>
                    <a:lstStyle/>
                    <a:p>
                      <a:pPr algn="ctr">
                        <a:lnSpc>
                          <a:spcPct val="112000"/>
                        </a:lnSpc>
                        <a:spcAft>
                          <a:spcPts val="397"/>
                        </a:spcAft>
                      </a:pPr>
                      <a:r>
                        <a:rPr lang="en-US" sz="1800" b="1" strike="noStrike" spc="-1" dirty="0">
                          <a:solidFill>
                            <a:srgbClr val="000000"/>
                          </a:solidFill>
                          <a:latin typeface="Arial"/>
                        </a:rPr>
                        <a:t>Optimal Fiber Length (L</a:t>
                      </a:r>
                      <a:r>
                        <a:rPr lang="en-US" sz="1800" b="1" strike="noStrike" spc="-1" baseline="-8000" dirty="0">
                          <a:solidFill>
                            <a:srgbClr val="000000"/>
                          </a:solidFill>
                          <a:latin typeface="Arial"/>
                        </a:rPr>
                        <a:t>o</a:t>
                      </a:r>
                      <a:r>
                        <a:rPr lang="en-US" sz="1800" b="1" strike="noStrike" spc="-1" dirty="0">
                          <a:solidFill>
                            <a:srgbClr val="000000"/>
                          </a:solidFill>
                          <a:latin typeface="Arial"/>
                        </a:rPr>
                        <a:t>)</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9.0 to 14.0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0">
                <a:tc>
                  <a:txBody>
                    <a:bodyPr/>
                    <a:lstStyle/>
                    <a:p>
                      <a:pPr algn="ctr">
                        <a:lnSpc>
                          <a:spcPct val="112000"/>
                        </a:lnSpc>
                        <a:spcAft>
                          <a:spcPts val="397"/>
                        </a:spcAft>
                      </a:pPr>
                      <a:r>
                        <a:rPr lang="en-US" sz="1800" b="1" strike="noStrike" spc="-1" dirty="0">
                          <a:solidFill>
                            <a:srgbClr val="000000"/>
                          </a:solidFill>
                          <a:latin typeface="Arial"/>
                        </a:rPr>
                        <a:t>Total Muscle-Tendon Length</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45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4.5 to 7.0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5.5 to 8.5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0">
                <a:tc>
                  <a:txBody>
                    <a:bodyPr/>
                    <a:lstStyle/>
                    <a:p>
                      <a:pPr algn="ctr">
                        <a:lnSpc>
                          <a:spcPct val="112000"/>
                        </a:lnSpc>
                        <a:spcAft>
                          <a:spcPts val="397"/>
                        </a:spcAft>
                      </a:pPr>
                      <a:r>
                        <a:rPr lang="en-US" sz="1800" b="1" strike="noStrike" spc="-1">
                          <a:solidFill>
                            <a:srgbClr val="000000"/>
                          </a:solidFill>
                          <a:latin typeface="Arial"/>
                        </a:rPr>
                        <a:t>Max Shortening Displacement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6.5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0">
                <a:tc>
                  <a:txBody>
                    <a:bodyPr/>
                    <a:lstStyle/>
                    <a:p>
                      <a:pPr algn="ctr">
                        <a:lnSpc>
                          <a:spcPct val="112000"/>
                        </a:lnSpc>
                        <a:spcAft>
                          <a:spcPts val="397"/>
                        </a:spcAft>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12.0 to 22.0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906840">
                <a:tc>
                  <a:txBody>
                    <a:bodyPr/>
                    <a:lstStyle/>
                    <a:p>
                      <a:pPr algn="ctr">
                        <a:lnSpc>
                          <a:spcPct val="112000"/>
                        </a:lnSpc>
                        <a:spcAft>
                          <a:spcPts val="397"/>
                        </a:spcAft>
                      </a:pPr>
                      <a:r>
                        <a:rPr lang="en-US" sz="1800" b="1" strike="noStrike" spc="-1" dirty="0">
                          <a:solidFill>
                            <a:srgbClr val="000000"/>
                          </a:solidFill>
                          <a:latin typeface="Arial"/>
                        </a:rPr>
                        <a:t>Joint Arc of Motion (Elbow)</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0</a:t>
                      </a:r>
                      <a:r>
                        <a:rPr lang="en-US" sz="1800" b="0" strike="noStrike" spc="-1" baseline="33000" dirty="0">
                          <a:solidFill>
                            <a:srgbClr val="000000"/>
                          </a:solidFill>
                          <a:latin typeface="Arial"/>
                        </a:rPr>
                        <a:t>0</a:t>
                      </a:r>
                      <a:r>
                        <a:rPr lang="en-US" sz="1800" b="0" strike="noStrike" spc="-1" dirty="0">
                          <a:solidFill>
                            <a:srgbClr val="000000"/>
                          </a:solidFill>
                          <a:latin typeface="Arial"/>
                        </a:rPr>
                        <a:t> (Full Extension) to  150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110" name="Picture 109"/>
          <p:cNvPicPr/>
          <p:nvPr/>
        </p:nvPicPr>
        <p:blipFill>
          <a:blip r:embed="rId2"/>
          <a:stretch/>
        </p:blipFill>
        <p:spPr>
          <a:xfrm>
            <a:off x="7463520" y="11430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 name="Table 110"/>
          <p:cNvGraphicFramePr/>
          <p:nvPr>
            <p:extLst>
              <p:ext uri="{D42A27DB-BD31-4B8C-83A1-F6EECF244321}">
                <p14:modId xmlns:p14="http://schemas.microsoft.com/office/powerpoint/2010/main" val="627179921"/>
              </p:ext>
            </p:extLst>
          </p:nvPr>
        </p:nvGraphicFramePr>
        <p:xfrm>
          <a:off x="671760" y="598680"/>
          <a:ext cx="6414840" cy="4659120"/>
        </p:xfrm>
        <a:graphic>
          <a:graphicData uri="http://schemas.openxmlformats.org/drawingml/2006/table">
            <a:tbl>
              <a:tblPr/>
              <a:tblGrid>
                <a:gridCol w="3765600">
                  <a:extLst>
                    <a:ext uri="{9D8B030D-6E8A-4147-A177-3AD203B41FA5}">
                      <a16:colId xmlns:a16="http://schemas.microsoft.com/office/drawing/2014/main" val="20000"/>
                    </a:ext>
                  </a:extLst>
                </a:gridCol>
                <a:gridCol w="2649240">
                  <a:extLst>
                    <a:ext uri="{9D8B030D-6E8A-4147-A177-3AD203B41FA5}">
                      <a16:colId xmlns:a16="http://schemas.microsoft.com/office/drawing/2014/main" val="20001"/>
                    </a:ext>
                  </a:extLst>
                </a:gridCol>
              </a:tblGrid>
              <a:tr h="525600">
                <a:tc>
                  <a:txBody>
                    <a:bodyPr/>
                    <a:lstStyle/>
                    <a:p>
                      <a:pPr algn="ctr">
                        <a:lnSpc>
                          <a:spcPct val="112000"/>
                        </a:lnSpc>
                        <a:spcAft>
                          <a:spcPts val="397"/>
                        </a:spcAft>
                      </a:pPr>
                      <a:r>
                        <a:rPr lang="en-US" sz="1800" b="1" strike="noStrike" spc="-1">
                          <a:solidFill>
                            <a:srgbClr val="000000"/>
                          </a:solidFill>
                          <a:latin typeface="Arial"/>
                        </a:rPr>
                        <a:t>Electromechanical Delay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50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974880">
                <a:tc>
                  <a:txBody>
                    <a:bodyPr/>
                    <a:lstStyle/>
                    <a:p>
                      <a:pPr algn="ctr">
                        <a:lnSpc>
                          <a:spcPct val="112000"/>
                        </a:lnSpc>
                        <a:spcAft>
                          <a:spcPts val="397"/>
                        </a:spcAft>
                      </a:pPr>
                      <a:endParaRPr lang="en-US" sz="1800" b="0" strike="noStrike" spc="-1">
                        <a:solidFill>
                          <a:srgbClr val="000000"/>
                        </a:solidFill>
                        <a:latin typeface="Arial"/>
                      </a:endParaRPr>
                    </a:p>
                    <a:p>
                      <a:pPr algn="ctr">
                        <a:lnSpc>
                          <a:spcPct val="112000"/>
                        </a:lnSpc>
                        <a:spcAft>
                          <a:spcPts val="397"/>
                        </a:spcAft>
                      </a:pPr>
                      <a:r>
                        <a:rPr lang="en-US" sz="1800" b="1" strike="noStrike" spc="-1">
                          <a:solidFill>
                            <a:srgbClr val="000000"/>
                          </a:solidFill>
                          <a:latin typeface="Arial"/>
                        </a:rPr>
                        <a:t>Twitch Contraction Time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endParaRPr lang="en-US" sz="1800" b="0" strike="noStrike" spc="-1">
                        <a:solidFill>
                          <a:srgbClr val="000000"/>
                        </a:solidFill>
                        <a:latin typeface="Arial"/>
                      </a:endParaRPr>
                    </a:p>
                    <a:p>
                      <a:pPr algn="ctr">
                        <a:lnSpc>
                          <a:spcPct val="112000"/>
                        </a:lnSpc>
                        <a:spcAft>
                          <a:spcPts val="397"/>
                        </a:spcAft>
                      </a:pPr>
                      <a:r>
                        <a:rPr lang="en-US" sz="1800" b="0" strike="noStrike" spc="-1">
                          <a:solidFill>
                            <a:srgbClr val="000000"/>
                          </a:solidFill>
                          <a:latin typeface="Arial"/>
                        </a:rPr>
                        <a:t>40 to 60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25600">
                <a:tc>
                  <a:txBody>
                    <a:bodyPr/>
                    <a:lstStyle/>
                    <a:p>
                      <a:pPr algn="ctr">
                        <a:lnSpc>
                          <a:spcPct val="112000"/>
                        </a:lnSpc>
                        <a:spcAft>
                          <a:spcPts val="397"/>
                        </a:spcAft>
                      </a:pPr>
                      <a:r>
                        <a:rPr lang="en-US" sz="1800" b="1" strike="noStrike" spc="-1">
                          <a:solidFill>
                            <a:srgbClr val="000000"/>
                          </a:solidFill>
                          <a:latin typeface="Arial"/>
                        </a:rPr>
                        <a:t>Max Internal Force (F</a:t>
                      </a:r>
                      <a:r>
                        <a:rPr lang="en-US" sz="1800" b="1" strike="noStrike" spc="-1" baseline="-8000">
                          <a:solidFill>
                            <a:srgbClr val="000000"/>
                          </a:solidFill>
                          <a:latin typeface="Arial"/>
                        </a:rPr>
                        <a:t>0</a:t>
                      </a:r>
                      <a:r>
                        <a:rPr lang="en-US" sz="1800" b="1" strike="noStrike" spc="-1">
                          <a:solidFill>
                            <a:srgbClr val="000000"/>
                          </a:solidFill>
                          <a:latin typeface="Arial"/>
                        </a:rPr>
                        <a:t>)</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1000 to 2000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25600">
                <a:tc>
                  <a:txBody>
                    <a:bodyPr/>
                    <a:lstStyle/>
                    <a:p>
                      <a:pPr algn="ctr">
                        <a:lnSpc>
                          <a:spcPct val="112000"/>
                        </a:lnSpc>
                        <a:spcAft>
                          <a:spcPts val="397"/>
                        </a:spcAft>
                      </a:pPr>
                      <a:r>
                        <a:rPr lang="en-US" sz="1800" b="1" strike="noStrike" spc="-1">
                          <a:solidFill>
                            <a:srgbClr val="000000"/>
                          </a:solidFill>
                          <a:latin typeface="Arial"/>
                        </a:rPr>
                        <a:t>Max External Joint Torque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40 to 90 Nm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25600">
                <a:tc>
                  <a:txBody>
                    <a:bodyPr/>
                    <a:lstStyle/>
                    <a:p>
                      <a:pPr algn="ctr">
                        <a:lnSpc>
                          <a:spcPct val="112000"/>
                        </a:lnSpc>
                        <a:spcAft>
                          <a:spcPts val="397"/>
                        </a:spcAft>
                      </a:pPr>
                      <a:r>
                        <a:rPr lang="en-IN" sz="1800" b="1" strike="noStrike" kern="1200" spc="-1" dirty="0">
                          <a:solidFill>
                            <a:srgbClr val="000000"/>
                          </a:solidFill>
                          <a:latin typeface="+mn-lt"/>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20 to 45 kg</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52560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20 to 35  mm^2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525600">
                <a:tc>
                  <a:txBody>
                    <a:bodyPr/>
                    <a:lstStyle/>
                    <a:p>
                      <a:pPr algn="ctr">
                        <a:lnSpc>
                          <a:spcPct val="112000"/>
                        </a:lnSpc>
                        <a:spcAft>
                          <a:spcPts val="397"/>
                        </a:spcAft>
                      </a:pPr>
                      <a:r>
                        <a:rPr lang="en-US" sz="1800" b="1" strike="noStrike" spc="-1">
                          <a:solidFill>
                            <a:srgbClr val="000000"/>
                          </a:solidFill>
                          <a:latin typeface="Arial"/>
                        </a:rPr>
                        <a:t>Tendon Stiffness (k)</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150 to 400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53064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 to 10%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112" name="Picture 111"/>
          <p:cNvPicPr/>
          <p:nvPr/>
        </p:nvPicPr>
        <p:blipFill>
          <a:blip r:embed="rId2"/>
          <a:stretch/>
        </p:blipFill>
        <p:spPr>
          <a:xfrm>
            <a:off x="7315200" y="6300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E062F2D3-373C-273B-5FAF-DE968DD26634}"/>
              </a:ext>
            </a:extLst>
          </p:cNvPr>
          <p:cNvSpPr txBox="1"/>
          <p:nvPr/>
        </p:nvSpPr>
        <p:spPr>
          <a:xfrm>
            <a:off x="671760" y="5669018"/>
            <a:ext cx="10199440" cy="923330"/>
          </a:xfrm>
          <a:prstGeom prst="rect">
            <a:avLst/>
          </a:prstGeom>
          <a:noFill/>
        </p:spPr>
        <p:txBody>
          <a:bodyPr wrap="square">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2" name="Rectangle 1">
            <a:extLst>
              <a:ext uri="{FF2B5EF4-FFF2-40B4-BE49-F238E27FC236}">
                <a16:creationId xmlns:a16="http://schemas.microsoft.com/office/drawing/2014/main" id="{948CA10D-8431-A0B3-8E27-FE95104C126B}"/>
              </a:ext>
            </a:extLst>
          </p:cNvPr>
          <p:cNvSpPr/>
          <p:nvPr/>
        </p:nvSpPr>
        <p:spPr>
          <a:xfrm>
            <a:off x="671760" y="5661891"/>
            <a:ext cx="9885404" cy="94210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p:cNvSpPr/>
          <p:nvPr/>
        </p:nvSpPr>
        <p:spPr>
          <a:xfrm>
            <a:off x="457200" y="685800"/>
            <a:ext cx="411480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1" strike="noStrike" spc="-1" dirty="0">
                <a:solidFill>
                  <a:srgbClr val="000000"/>
                </a:solidFill>
                <a:latin typeface="Arial"/>
              </a:rPr>
              <a:t>6.</a:t>
            </a:r>
            <a:r>
              <a:rPr lang="en-US" sz="2000" b="1" strike="noStrike" spc="-1" dirty="0">
                <a:solidFill>
                  <a:srgbClr val="000000"/>
                </a:solidFill>
                <a:latin typeface="Arial"/>
                <a:ea typeface="Noto Sans CJK SC"/>
              </a:rPr>
              <a:t>ANCONEUS</a:t>
            </a:r>
            <a:endParaRPr lang="en-US" sz="2000" b="0" strike="noStrike" spc="-1" dirty="0">
              <a:solidFill>
                <a:srgbClr val="000000"/>
              </a:solidFill>
              <a:latin typeface="Arial"/>
            </a:endParaRPr>
          </a:p>
        </p:txBody>
      </p:sp>
      <p:graphicFrame>
        <p:nvGraphicFramePr>
          <p:cNvPr id="114" name="Table 113"/>
          <p:cNvGraphicFramePr/>
          <p:nvPr>
            <p:extLst>
              <p:ext uri="{D42A27DB-BD31-4B8C-83A1-F6EECF244321}">
                <p14:modId xmlns:p14="http://schemas.microsoft.com/office/powerpoint/2010/main" val="2222073428"/>
              </p:ext>
            </p:extLst>
          </p:nvPr>
        </p:nvGraphicFramePr>
        <p:xfrm>
          <a:off x="830160" y="1211400"/>
          <a:ext cx="6121440" cy="4075560"/>
        </p:xfrm>
        <a:graphic>
          <a:graphicData uri="http://schemas.openxmlformats.org/drawingml/2006/table">
            <a:tbl>
              <a:tblPr/>
              <a:tblGrid>
                <a:gridCol w="3315240">
                  <a:extLst>
                    <a:ext uri="{9D8B030D-6E8A-4147-A177-3AD203B41FA5}">
                      <a16:colId xmlns:a16="http://schemas.microsoft.com/office/drawing/2014/main" val="20000"/>
                    </a:ext>
                  </a:extLst>
                </a:gridCol>
                <a:gridCol w="2806200">
                  <a:extLst>
                    <a:ext uri="{9D8B030D-6E8A-4147-A177-3AD203B41FA5}">
                      <a16:colId xmlns:a16="http://schemas.microsoft.com/office/drawing/2014/main" val="20001"/>
                    </a:ext>
                  </a:extLst>
                </a:gridCol>
              </a:tblGrid>
              <a:tr h="428040">
                <a:tc>
                  <a:txBody>
                    <a:bodyPr/>
                    <a:lstStyle/>
                    <a:p>
                      <a:pPr algn="ctr">
                        <a:lnSpc>
                          <a:spcPct val="112000"/>
                        </a:lnSpc>
                      </a:pPr>
                      <a:r>
                        <a:rPr lang="en-US" sz="1800" b="1" strike="noStrike" spc="-1">
                          <a:solidFill>
                            <a:srgbClr val="000000"/>
                          </a:solidFill>
                          <a:latin typeface="Arial"/>
                        </a:rPr>
                        <a:t>Mechanical Property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pPr>
                      <a:r>
                        <a:rPr lang="en-US" sz="1800" b="1" strike="noStrike" spc="-1">
                          <a:solidFill>
                            <a:srgbClr val="000000"/>
                          </a:solidFill>
                          <a:latin typeface="Arial"/>
                        </a:rPr>
                        <a:t>Parameter / Value Range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28040">
                <a:tc>
                  <a:txBody>
                    <a:bodyPr/>
                    <a:lstStyle/>
                    <a:p>
                      <a:pPr algn="ctr">
                        <a:lnSpc>
                          <a:spcPct val="112000"/>
                        </a:lnSpc>
                        <a:spcAft>
                          <a:spcPts val="397"/>
                        </a:spcAft>
                      </a:pPr>
                      <a:r>
                        <a:rPr lang="en-US" sz="1800" b="1" strike="noStrike" spc="-1">
                          <a:solidFill>
                            <a:srgbClr val="000000"/>
                          </a:solidFill>
                          <a:latin typeface="Arial"/>
                        </a:rPr>
                        <a:t>Optimal Fiber Length (L0)</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2.5 to 5.0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28040">
                <a:tc>
                  <a:txBody>
                    <a:bodyPr/>
                    <a:lstStyle/>
                    <a:p>
                      <a:pPr algn="ctr">
                        <a:lnSpc>
                          <a:spcPct val="112000"/>
                        </a:lnSpc>
                        <a:spcAft>
                          <a:spcPts val="397"/>
                        </a:spcAft>
                      </a:pPr>
                      <a:r>
                        <a:rPr lang="en-US" sz="1800" b="1" strike="noStrike" spc="-1">
                          <a:solidFill>
                            <a:srgbClr val="000000"/>
                          </a:solidFill>
                          <a:latin typeface="Arial"/>
                        </a:rPr>
                        <a:t>Total Muscle-Tendon Length</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7 to 10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2804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Resting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 to 2.0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28040">
                <a:tc>
                  <a:txBody>
                    <a:bodyPr/>
                    <a:lstStyle/>
                    <a:p>
                      <a:pPr algn="ctr">
                        <a:lnSpc>
                          <a:spcPct val="100000"/>
                        </a:lnSpc>
                        <a:spcAft>
                          <a:spcPts val="397"/>
                        </a:spcAft>
                      </a:pPr>
                      <a:r>
                        <a:rPr lang="en-IN" sz="1800" b="1" strike="noStrike" kern="1200" spc="-1" dirty="0">
                          <a:solidFill>
                            <a:srgbClr val="000000"/>
                          </a:solidFill>
                          <a:latin typeface="Arial"/>
                          <a:ea typeface="+mn-ea"/>
                          <a:cs typeface="+mn-cs"/>
                        </a:rPr>
                        <a:t>Contracted Muscle Diameter</a:t>
                      </a:r>
                      <a:endParaRPr lang="en-US" sz="1800" b="1" strike="noStrike" kern="1200" spc="-1" dirty="0">
                        <a:solidFill>
                          <a:srgbClr val="000000"/>
                        </a:solidFill>
                        <a:latin typeface="Arial"/>
                        <a:ea typeface="+mn-ea"/>
                        <a:cs typeface="+mn-cs"/>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1.2 to 2.5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752400">
                <a:tc>
                  <a:txBody>
                    <a:bodyPr/>
                    <a:lstStyle/>
                    <a:p>
                      <a:pPr algn="ctr">
                        <a:lnSpc>
                          <a:spcPct val="112000"/>
                        </a:lnSpc>
                        <a:spcAft>
                          <a:spcPts val="397"/>
                        </a:spcAft>
                      </a:pPr>
                      <a:r>
                        <a:rPr lang="en-US" sz="1800" b="1" strike="noStrike" spc="-1" dirty="0">
                          <a:solidFill>
                            <a:srgbClr val="000000"/>
                          </a:solidFill>
                          <a:latin typeface="Arial"/>
                        </a:rPr>
                        <a:t>Max Shortening Displacement</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 to 2.0 cm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752400">
                <a:tc>
                  <a:txBody>
                    <a:bodyPr/>
                    <a:lstStyle/>
                    <a:p>
                      <a:pPr algn="ctr">
                        <a:lnSpc>
                          <a:spcPct val="112000"/>
                        </a:lnSpc>
                        <a:spcAft>
                          <a:spcPts val="397"/>
                        </a:spcAft>
                      </a:pPr>
                      <a:r>
                        <a:rPr lang="en-US" sz="1800" b="1" strike="noStrike" spc="-1">
                          <a:solidFill>
                            <a:srgbClr val="000000"/>
                          </a:solidFill>
                          <a:latin typeface="Arial"/>
                        </a:rPr>
                        <a:t>Physiological Cross-Sectional Area (PCSA)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1.0 to 2.5 cm^2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430560">
                <a:tc>
                  <a:txBody>
                    <a:bodyPr/>
                    <a:lstStyle/>
                    <a:p>
                      <a:pPr algn="ctr">
                        <a:lnSpc>
                          <a:spcPct val="112000"/>
                        </a:lnSpc>
                        <a:spcAft>
                          <a:spcPts val="397"/>
                        </a:spcAft>
                      </a:pPr>
                      <a:r>
                        <a:rPr lang="en-US" sz="1800" b="1" strike="noStrike" spc="-1" dirty="0">
                          <a:solidFill>
                            <a:srgbClr val="000000"/>
                          </a:solidFill>
                          <a:latin typeface="Arial"/>
                        </a:rPr>
                        <a:t>Joint Arc of Motion (Elbow)</a:t>
                      </a:r>
                      <a:endParaRPr lang="en-US" sz="1800" b="0" strike="noStrike" spc="-1" dirty="0">
                        <a:solidFill>
                          <a:srgbClr val="000000"/>
                        </a:solidFill>
                        <a:latin typeface="Arial"/>
                      </a:endParaRPr>
                    </a:p>
                  </a:txBody>
                  <a:tcPr marL="36000" marR="36000" anchor="ctr">
                    <a:lnL w="7200">
                      <a:solidFill>
                        <a:srgbClr val="000000"/>
                      </a:solidFill>
                      <a:prstDash val="solid"/>
                    </a:lnL>
                    <a:lnR w="7200" cap="flat" cmpd="sng" algn="ctr">
                      <a:solidFill>
                        <a:srgbClr val="000000"/>
                      </a:solidFill>
                      <a:prstDash val="solid"/>
                      <a:round/>
                      <a:headEnd type="none" w="med" len="med"/>
                      <a:tailEnd type="none" w="med" len="med"/>
                    </a:lnR>
                    <a:lnT w="7200" cap="flat" cmpd="sng" algn="ctr">
                      <a:solidFill>
                        <a:srgbClr val="000000"/>
                      </a:solidFill>
                      <a:prstDash val="solid"/>
                      <a:round/>
                      <a:headEnd type="none" w="med" len="med"/>
                      <a:tailEnd type="none" w="med" len="me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0</a:t>
                      </a:r>
                      <a:r>
                        <a:rPr lang="en-US" sz="1800" b="0" strike="noStrike" spc="-1" baseline="33000" dirty="0">
                          <a:solidFill>
                            <a:srgbClr val="000000"/>
                          </a:solidFill>
                          <a:latin typeface="Arial"/>
                        </a:rPr>
                        <a:t>0</a:t>
                      </a:r>
                      <a:r>
                        <a:rPr lang="en-US" sz="1800" b="0" strike="noStrike" spc="-1" dirty="0">
                          <a:solidFill>
                            <a:srgbClr val="000000"/>
                          </a:solidFill>
                          <a:latin typeface="Arial"/>
                        </a:rPr>
                        <a:t> to 150</a:t>
                      </a:r>
                      <a:r>
                        <a:rPr lang="en-US" sz="1800" b="0" strike="noStrike" spc="-1" baseline="33000" dirty="0">
                          <a:solidFill>
                            <a:srgbClr val="000000"/>
                          </a:solidFill>
                          <a:latin typeface="Arial"/>
                        </a:rPr>
                        <a:t>0</a:t>
                      </a:r>
                      <a:endParaRPr lang="en-US" sz="1800" b="0" strike="noStrike" spc="-1" dirty="0">
                        <a:solidFill>
                          <a:srgbClr val="000000"/>
                        </a:solidFill>
                        <a:latin typeface="Arial"/>
                      </a:endParaRPr>
                    </a:p>
                  </a:txBody>
                  <a:tcPr marL="36000" marR="36000" anchor="ctr">
                    <a:lnL w="7200" cap="flat" cmpd="sng" algn="ctr">
                      <a:solidFill>
                        <a:srgbClr val="000000"/>
                      </a:solidFill>
                      <a:prstDash val="solid"/>
                      <a:round/>
                      <a:headEnd type="none" w="med" len="med"/>
                      <a:tailEnd type="none" w="med" len="me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pic>
        <p:nvPicPr>
          <p:cNvPr id="115" name="Picture 114"/>
          <p:cNvPicPr/>
          <p:nvPr/>
        </p:nvPicPr>
        <p:blipFill>
          <a:blip r:embed="rId2"/>
          <a:stretch/>
        </p:blipFill>
        <p:spPr>
          <a:xfrm>
            <a:off x="7201240" y="1143000"/>
            <a:ext cx="3940920" cy="4394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 name="Table 115"/>
          <p:cNvGraphicFramePr/>
          <p:nvPr>
            <p:extLst>
              <p:ext uri="{D42A27DB-BD31-4B8C-83A1-F6EECF244321}">
                <p14:modId xmlns:p14="http://schemas.microsoft.com/office/powerpoint/2010/main" val="2451841791"/>
              </p:ext>
            </p:extLst>
          </p:nvPr>
        </p:nvGraphicFramePr>
        <p:xfrm>
          <a:off x="695943" y="524600"/>
          <a:ext cx="5896440" cy="4697640"/>
        </p:xfrm>
        <a:graphic>
          <a:graphicData uri="http://schemas.openxmlformats.org/drawingml/2006/table">
            <a:tbl>
              <a:tblPr/>
              <a:tblGrid>
                <a:gridCol w="3315240">
                  <a:extLst>
                    <a:ext uri="{9D8B030D-6E8A-4147-A177-3AD203B41FA5}">
                      <a16:colId xmlns:a16="http://schemas.microsoft.com/office/drawing/2014/main" val="20000"/>
                    </a:ext>
                  </a:extLst>
                </a:gridCol>
                <a:gridCol w="2581200">
                  <a:extLst>
                    <a:ext uri="{9D8B030D-6E8A-4147-A177-3AD203B41FA5}">
                      <a16:colId xmlns:a16="http://schemas.microsoft.com/office/drawing/2014/main" val="20001"/>
                    </a:ext>
                  </a:extLst>
                </a:gridCol>
              </a:tblGrid>
              <a:tr h="586800">
                <a:tc>
                  <a:txBody>
                    <a:bodyPr/>
                    <a:lstStyle/>
                    <a:p>
                      <a:pPr algn="ctr">
                        <a:lnSpc>
                          <a:spcPct val="112000"/>
                        </a:lnSpc>
                        <a:spcAft>
                          <a:spcPts val="397"/>
                        </a:spcAft>
                      </a:pPr>
                      <a:r>
                        <a:rPr lang="en-US" sz="1800" b="1" strike="noStrike" spc="-1" dirty="0">
                          <a:solidFill>
                            <a:srgbClr val="000000"/>
                          </a:solidFill>
                          <a:latin typeface="Arial"/>
                        </a:rPr>
                        <a:t>Electromechanical Delay</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30 to 45ms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86800">
                <a:tc>
                  <a:txBody>
                    <a:bodyPr/>
                    <a:lstStyle/>
                    <a:p>
                      <a:pPr algn="ctr">
                        <a:lnSpc>
                          <a:spcPct val="112000"/>
                        </a:lnSpc>
                        <a:spcAft>
                          <a:spcPts val="397"/>
                        </a:spcAft>
                      </a:pPr>
                      <a:r>
                        <a:rPr lang="en-US" sz="1800" b="1" strike="noStrike" spc="-1">
                          <a:solidFill>
                            <a:srgbClr val="000000"/>
                          </a:solidFill>
                          <a:latin typeface="Arial"/>
                        </a:rPr>
                        <a:t>Twitch Contraction Time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35 to 55 ms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86800">
                <a:tc>
                  <a:txBody>
                    <a:bodyPr/>
                    <a:lstStyle/>
                    <a:p>
                      <a:pPr algn="ctr">
                        <a:lnSpc>
                          <a:spcPct val="112000"/>
                        </a:lnSpc>
                        <a:spcAft>
                          <a:spcPts val="397"/>
                        </a:spcAft>
                      </a:pPr>
                      <a:r>
                        <a:rPr lang="en-US" sz="1800" b="1" strike="noStrike" spc="-1" dirty="0">
                          <a:solidFill>
                            <a:srgbClr val="000000"/>
                          </a:solidFill>
                          <a:latin typeface="Arial"/>
                        </a:rPr>
                        <a:t>Max Internal Force (F</a:t>
                      </a:r>
                      <a:r>
                        <a:rPr lang="en-US" sz="1800" b="1" strike="noStrike" spc="-1" baseline="-8000" dirty="0">
                          <a:solidFill>
                            <a:srgbClr val="000000"/>
                          </a:solidFill>
                          <a:latin typeface="Arial"/>
                        </a:rPr>
                        <a:t>0</a:t>
                      </a:r>
                      <a:r>
                        <a:rPr lang="en-US" sz="1800" b="1" strike="noStrike" spc="-1" dirty="0">
                          <a:solidFill>
                            <a:srgbClr val="000000"/>
                          </a:solidFill>
                          <a:latin typeface="Arial"/>
                        </a:rPr>
                        <a:t>)</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200 to 350 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86800">
                <a:tc>
                  <a:txBody>
                    <a:bodyPr/>
                    <a:lstStyle/>
                    <a:p>
                      <a:pPr algn="ctr">
                        <a:lnSpc>
                          <a:spcPct val="112000"/>
                        </a:lnSpc>
                        <a:spcAft>
                          <a:spcPts val="397"/>
                        </a:spcAft>
                      </a:pPr>
                      <a:r>
                        <a:rPr lang="en-US" sz="1800" b="1" strike="noStrike" spc="-1">
                          <a:solidFill>
                            <a:srgbClr val="000000"/>
                          </a:solidFill>
                          <a:latin typeface="Arial"/>
                        </a:rPr>
                        <a:t>Max External Joint Torque</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 to 5 Nm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86800">
                <a:tc>
                  <a:txBody>
                    <a:bodyPr/>
                    <a:lstStyle/>
                    <a:p>
                      <a:pPr algn="ctr">
                        <a:lnSpc>
                          <a:spcPct val="112000"/>
                        </a:lnSpc>
                        <a:spcAft>
                          <a:spcPts val="397"/>
                        </a:spcAft>
                      </a:pPr>
                      <a:r>
                        <a:rPr lang="en-IN" sz="1800" b="1" strike="noStrike" kern="1200" spc="-1" dirty="0">
                          <a:solidFill>
                            <a:srgbClr val="000000"/>
                          </a:solidFill>
                          <a:latin typeface="+mn-lt"/>
                          <a:ea typeface="+mn-ea"/>
                          <a:cs typeface="+mn-cs"/>
                        </a:rPr>
                        <a:t>Estimated</a:t>
                      </a:r>
                      <a:r>
                        <a:rPr lang="en-US" sz="1800" b="1" strike="noStrike" spc="-1" dirty="0">
                          <a:solidFill>
                            <a:srgbClr val="000000"/>
                          </a:solidFill>
                          <a:latin typeface="Arial"/>
                        </a:rPr>
                        <a:t> External Payload</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1 to 3 kg </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586800">
                <a:tc>
                  <a:txBody>
                    <a:bodyPr/>
                    <a:lstStyle/>
                    <a:p>
                      <a:pPr algn="ctr">
                        <a:lnSpc>
                          <a:spcPct val="112000"/>
                        </a:lnSpc>
                        <a:spcAft>
                          <a:spcPts val="397"/>
                        </a:spcAft>
                      </a:pPr>
                      <a:r>
                        <a:rPr lang="en-US" sz="1800" b="1" strike="noStrike" spc="-1">
                          <a:solidFill>
                            <a:srgbClr val="000000"/>
                          </a:solidFill>
                          <a:latin typeface="Arial"/>
                        </a:rPr>
                        <a:t>Resting Tendon CSA</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3 to 8 mm^2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586800">
                <a:tc>
                  <a:txBody>
                    <a:bodyPr/>
                    <a:lstStyle/>
                    <a:p>
                      <a:pPr algn="ctr">
                        <a:lnSpc>
                          <a:spcPct val="112000"/>
                        </a:lnSpc>
                        <a:spcAft>
                          <a:spcPts val="397"/>
                        </a:spcAft>
                      </a:pPr>
                      <a:r>
                        <a:rPr lang="en-US" sz="1800" b="1" strike="noStrike" spc="-1" dirty="0">
                          <a:solidFill>
                            <a:srgbClr val="000000"/>
                          </a:solidFill>
                          <a:latin typeface="Arial"/>
                        </a:rPr>
                        <a:t>Tendon Stiffness (k)</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a:solidFill>
                            <a:srgbClr val="000000"/>
                          </a:solidFill>
                          <a:latin typeface="Arial"/>
                        </a:rPr>
                        <a:t>50 to 150 N/mm</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590040">
                <a:tc>
                  <a:txBody>
                    <a:bodyPr/>
                    <a:lstStyle/>
                    <a:p>
                      <a:pPr algn="ctr">
                        <a:lnSpc>
                          <a:spcPct val="112000"/>
                        </a:lnSpc>
                        <a:spcAft>
                          <a:spcPts val="397"/>
                        </a:spcAft>
                      </a:pPr>
                      <a:r>
                        <a:rPr lang="en-US" sz="1800" b="1" strike="noStrike" spc="-1">
                          <a:solidFill>
                            <a:srgbClr val="000000"/>
                          </a:solidFill>
                          <a:latin typeface="Arial"/>
                        </a:rPr>
                        <a:t>Tendon Elasticity / Hysteresis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12000"/>
                        </a:lnSpc>
                        <a:spcAft>
                          <a:spcPts val="397"/>
                        </a:spcAft>
                      </a:pPr>
                      <a:r>
                        <a:rPr lang="en-US" sz="1800" b="0" strike="noStrike" spc="-1" dirty="0">
                          <a:solidFill>
                            <a:srgbClr val="000000"/>
                          </a:solidFill>
                          <a:latin typeface="Arial"/>
                        </a:rPr>
                        <a:t>5% to 10% loss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bl>
          </a:graphicData>
        </a:graphic>
      </p:graphicFrame>
      <p:pic>
        <p:nvPicPr>
          <p:cNvPr id="117" name="Picture 116"/>
          <p:cNvPicPr/>
          <p:nvPr/>
        </p:nvPicPr>
        <p:blipFill>
          <a:blip r:embed="rId2"/>
          <a:srcRect b="5203"/>
          <a:stretch/>
        </p:blipFill>
        <p:spPr>
          <a:xfrm>
            <a:off x="7309840" y="524600"/>
            <a:ext cx="3940920"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F3BA21F7-5975-AAF1-ECB0-B2578FDBF811}"/>
              </a:ext>
            </a:extLst>
          </p:cNvPr>
          <p:cNvSpPr txBox="1"/>
          <p:nvPr/>
        </p:nvSpPr>
        <p:spPr>
          <a:xfrm>
            <a:off x="695943" y="5793862"/>
            <a:ext cx="10184493" cy="923330"/>
          </a:xfrm>
          <a:prstGeom prst="rect">
            <a:avLst/>
          </a:prstGeom>
          <a:noFill/>
        </p:spPr>
        <p:txBody>
          <a:bodyPr wrap="square">
            <a:spAutoFit/>
          </a:bodyPr>
          <a:lstStyle/>
          <a:p>
            <a:r>
              <a:rPr lang="en-IN" spc="-1" dirty="0">
                <a:solidFill>
                  <a:srgbClr val="000000"/>
                </a:solidFill>
              </a:rPr>
              <a:t>Source:</a:t>
            </a:r>
            <a:br>
              <a:rPr lang="en-IN" spc="-1" dirty="0">
                <a:solidFill>
                  <a:srgbClr val="000000"/>
                </a:solidFill>
              </a:rPr>
            </a:br>
            <a:r>
              <a:rPr lang="en-IN" spc="-1" dirty="0">
                <a:solidFill>
                  <a:srgbClr val="000000"/>
                </a:solidFill>
              </a:rPr>
              <a:t>Data: Adapted from Holzbaur et al. (2005),</a:t>
            </a:r>
            <a:r>
              <a:rPr lang="en-IN" dirty="0"/>
              <a:t> An et al. (1981) </a:t>
            </a:r>
            <a:r>
              <a:rPr lang="en-IN" spc="-1" dirty="0">
                <a:solidFill>
                  <a:srgbClr val="000000"/>
                </a:solidFill>
              </a:rPr>
              <a:t>and </a:t>
            </a:r>
            <a:r>
              <a:rPr lang="en-IN" dirty="0"/>
              <a:t>Murray, Delp &amp; Buchanan (1995)</a:t>
            </a:r>
            <a:br>
              <a:rPr lang="en-IN" spc="-1" dirty="0">
                <a:solidFill>
                  <a:srgbClr val="000000"/>
                </a:solidFill>
              </a:rPr>
            </a:br>
            <a:r>
              <a:rPr lang="en-IN" spc="-1" dirty="0">
                <a:solidFill>
                  <a:srgbClr val="000000"/>
                </a:solidFill>
              </a:rPr>
              <a:t>Images: Google</a:t>
            </a:r>
          </a:p>
        </p:txBody>
      </p:sp>
      <p:sp>
        <p:nvSpPr>
          <p:cNvPr id="4" name="Rectangle 3">
            <a:extLst>
              <a:ext uri="{FF2B5EF4-FFF2-40B4-BE49-F238E27FC236}">
                <a16:creationId xmlns:a16="http://schemas.microsoft.com/office/drawing/2014/main" id="{A9E85C78-EEBA-55A8-0379-7D813D1186F5}"/>
              </a:ext>
            </a:extLst>
          </p:cNvPr>
          <p:cNvSpPr/>
          <p:nvPr/>
        </p:nvSpPr>
        <p:spPr>
          <a:xfrm>
            <a:off x="695942" y="5793862"/>
            <a:ext cx="9870457" cy="9347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4CB40AC-EDCF-22C1-27FC-98FFFC51585E}"/>
              </a:ext>
            </a:extLst>
          </p:cNvPr>
          <p:cNvGraphicFramePr>
            <a:graphicFrameLocks noGrp="1"/>
          </p:cNvGraphicFramePr>
          <p:nvPr>
            <p:extLst>
              <p:ext uri="{D42A27DB-BD31-4B8C-83A1-F6EECF244321}">
                <p14:modId xmlns:p14="http://schemas.microsoft.com/office/powerpoint/2010/main" val="644319068"/>
              </p:ext>
            </p:extLst>
          </p:nvPr>
        </p:nvGraphicFramePr>
        <p:xfrm>
          <a:off x="156632" y="129625"/>
          <a:ext cx="11878735" cy="6598750"/>
        </p:xfrm>
        <a:graphic>
          <a:graphicData uri="http://schemas.openxmlformats.org/drawingml/2006/table">
            <a:tbl>
              <a:tblPr firstRow="1" bandRow="1">
                <a:tableStyleId>{21E4AEA4-8DFA-4A89-87EB-49C32662AFE0}</a:tableStyleId>
              </a:tblPr>
              <a:tblGrid>
                <a:gridCol w="1696962">
                  <a:extLst>
                    <a:ext uri="{9D8B030D-6E8A-4147-A177-3AD203B41FA5}">
                      <a16:colId xmlns:a16="http://schemas.microsoft.com/office/drawing/2014/main" val="2598696934"/>
                    </a:ext>
                  </a:extLst>
                </a:gridCol>
                <a:gridCol w="1320133">
                  <a:extLst>
                    <a:ext uri="{9D8B030D-6E8A-4147-A177-3AD203B41FA5}">
                      <a16:colId xmlns:a16="http://schemas.microsoft.com/office/drawing/2014/main" val="2616102072"/>
                    </a:ext>
                  </a:extLst>
                </a:gridCol>
                <a:gridCol w="2073792">
                  <a:extLst>
                    <a:ext uri="{9D8B030D-6E8A-4147-A177-3AD203B41FA5}">
                      <a16:colId xmlns:a16="http://schemas.microsoft.com/office/drawing/2014/main" val="1792700886"/>
                    </a:ext>
                  </a:extLst>
                </a:gridCol>
                <a:gridCol w="1696962">
                  <a:extLst>
                    <a:ext uri="{9D8B030D-6E8A-4147-A177-3AD203B41FA5}">
                      <a16:colId xmlns:a16="http://schemas.microsoft.com/office/drawing/2014/main" val="2020128966"/>
                    </a:ext>
                  </a:extLst>
                </a:gridCol>
                <a:gridCol w="1696962">
                  <a:extLst>
                    <a:ext uri="{9D8B030D-6E8A-4147-A177-3AD203B41FA5}">
                      <a16:colId xmlns:a16="http://schemas.microsoft.com/office/drawing/2014/main" val="305592166"/>
                    </a:ext>
                  </a:extLst>
                </a:gridCol>
                <a:gridCol w="1696962">
                  <a:extLst>
                    <a:ext uri="{9D8B030D-6E8A-4147-A177-3AD203B41FA5}">
                      <a16:colId xmlns:a16="http://schemas.microsoft.com/office/drawing/2014/main" val="2117418862"/>
                    </a:ext>
                  </a:extLst>
                </a:gridCol>
                <a:gridCol w="1696962">
                  <a:extLst>
                    <a:ext uri="{9D8B030D-6E8A-4147-A177-3AD203B41FA5}">
                      <a16:colId xmlns:a16="http://schemas.microsoft.com/office/drawing/2014/main" val="776322900"/>
                    </a:ext>
                  </a:extLst>
                </a:gridCol>
              </a:tblGrid>
              <a:tr h="7992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Mechanical Property</a:t>
                      </a:r>
                    </a:p>
                    <a:p>
                      <a:pPr algn="ctr"/>
                      <a:endParaRPr lang="en-IN" sz="1800" b="0" dirty="0">
                        <a:latin typeface="+mj-lt"/>
                      </a:endParaRPr>
                    </a:p>
                  </a:txBody>
                  <a:tcPr anchor="ctr"/>
                </a:tc>
                <a:tc>
                  <a:txBody>
                    <a:bodyPr/>
                    <a:lstStyle/>
                    <a:p>
                      <a:pPr algn="ctr"/>
                      <a:r>
                        <a:rPr lang="en-IN" sz="1800" b="0" strike="noStrike" spc="-1" dirty="0">
                          <a:solidFill>
                            <a:schemeClr val="dk1"/>
                          </a:solidFill>
                        </a:rPr>
                        <a:t>Biceps Brachii</a:t>
                      </a:r>
                      <a:endParaRPr lang="en-IN" sz="1800" b="0" dirty="0">
                        <a:latin typeface="+mj-lt"/>
                      </a:endParaRPr>
                    </a:p>
                  </a:txBody>
                  <a:tcPr anchor="ctr"/>
                </a:tc>
                <a:tc>
                  <a:txBody>
                    <a:bodyPr/>
                    <a:lstStyle/>
                    <a:p>
                      <a:pPr algn="ctr"/>
                      <a:r>
                        <a:rPr lang="en-US" sz="1800" b="0" strike="noStrike" spc="-1" dirty="0">
                          <a:solidFill>
                            <a:srgbClr val="000000"/>
                          </a:solidFill>
                        </a:rPr>
                        <a:t>BRACHIALIS</a:t>
                      </a:r>
                      <a:endParaRPr lang="en-IN" sz="1800" b="0" dirty="0">
                        <a:latin typeface="+mj-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BRACHIORADIALIS</a:t>
                      </a:r>
                    </a:p>
                    <a:p>
                      <a:pPr algn="ctr"/>
                      <a:endParaRPr lang="en-IN" sz="1800" b="0" dirty="0">
                        <a:latin typeface="+mj-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PRONATOR TERES</a:t>
                      </a:r>
                    </a:p>
                    <a:p>
                      <a:pPr algn="ctr"/>
                      <a:endParaRPr lang="en-IN" sz="1800" b="0" dirty="0">
                        <a:latin typeface="+mj-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TRICEPS BRACHII</a:t>
                      </a:r>
                    </a:p>
                    <a:p>
                      <a:pPr algn="ctr"/>
                      <a:endParaRPr lang="en-IN" sz="1800" b="0" dirty="0">
                        <a:latin typeface="+mj-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ANCONEUS</a:t>
                      </a:r>
                    </a:p>
                    <a:p>
                      <a:pPr algn="ctr"/>
                      <a:endParaRPr lang="en-IN" sz="1800" b="0" dirty="0">
                        <a:latin typeface="+mj-lt"/>
                      </a:endParaRPr>
                    </a:p>
                  </a:txBody>
                  <a:tcPr anchor="ctr"/>
                </a:tc>
                <a:extLst>
                  <a:ext uri="{0D108BD9-81ED-4DB2-BD59-A6C34878D82A}">
                    <a16:rowId xmlns:a16="http://schemas.microsoft.com/office/drawing/2014/main" val="2332880968"/>
                  </a:ext>
                </a:extLst>
              </a:tr>
              <a:tr h="9803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Optimal Fiber Length (L</a:t>
                      </a:r>
                      <a:r>
                        <a:rPr lang="en-US" sz="1800" b="0" strike="noStrike" spc="-1" baseline="-8000" dirty="0">
                          <a:solidFill>
                            <a:srgbClr val="000000"/>
                          </a:solidFill>
                        </a:rPr>
                        <a:t>o</a:t>
                      </a:r>
                      <a:r>
                        <a:rPr lang="en-US" sz="1800" b="0" strike="noStrike" spc="-1" dirty="0">
                          <a:solidFill>
                            <a:srgbClr val="000000"/>
                          </a:solidFill>
                        </a:rPr>
                        <a:t>)</a:t>
                      </a:r>
                    </a:p>
                    <a:p>
                      <a:pPr algn="ctr"/>
                      <a:endParaRPr lang="en-IN" sz="1800" b="0" dirty="0">
                        <a:latin typeface="+mj-lt"/>
                      </a:endParaRPr>
                    </a:p>
                  </a:txBody>
                  <a:tcPr anchor="ctr"/>
                </a:tc>
                <a:tc>
                  <a:txBody>
                    <a:bodyPr/>
                    <a:lstStyle/>
                    <a:p>
                      <a:pPr algn="ctr"/>
                      <a:r>
                        <a:rPr lang="en-IN" sz="1800" b="0" dirty="0"/>
                        <a:t>11.0-13.0 cm </a:t>
                      </a:r>
                      <a:endParaRPr lang="en-IN" sz="1800" b="0" dirty="0">
                        <a:latin typeface="+mj-lt"/>
                      </a:endParaRPr>
                    </a:p>
                  </a:txBody>
                  <a:tcPr anchor="ctr"/>
                </a:tc>
                <a:tc>
                  <a:txBody>
                    <a:bodyPr/>
                    <a:lstStyle/>
                    <a:p>
                      <a:pPr algn="ctr"/>
                      <a:r>
                        <a:rPr lang="en-IN" sz="1800" b="0" dirty="0"/>
                        <a:t>7.0-9.5 cm</a:t>
                      </a:r>
                      <a:endParaRPr lang="en-IN" sz="1800" b="0" dirty="0">
                        <a:latin typeface="+mj-lt"/>
                      </a:endParaRPr>
                    </a:p>
                  </a:txBody>
                  <a:tcPr anchor="ctr"/>
                </a:tc>
                <a:tc>
                  <a:txBody>
                    <a:bodyPr/>
                    <a:lstStyle/>
                    <a:p>
                      <a:pPr algn="ctr"/>
                      <a:r>
                        <a:rPr lang="en-IN" sz="1800" b="0" dirty="0"/>
                        <a:t>15.0-19.0 cm</a:t>
                      </a:r>
                      <a:endParaRPr lang="en-IN" sz="1800" b="0" dirty="0">
                        <a:latin typeface="+mj-lt"/>
                      </a:endParaRPr>
                    </a:p>
                  </a:txBody>
                  <a:tcPr anchor="ctr"/>
                </a:tc>
                <a:tc>
                  <a:txBody>
                    <a:bodyPr/>
                    <a:lstStyle/>
                    <a:p>
                      <a:pPr algn="ctr"/>
                      <a:r>
                        <a:rPr lang="en-IN" sz="1800" b="0" dirty="0"/>
                        <a:t>4.5-7.5 cm</a:t>
                      </a:r>
                      <a:endParaRPr lang="en-IN" sz="1800" b="0" dirty="0">
                        <a:latin typeface="+mj-lt"/>
                      </a:endParaRPr>
                    </a:p>
                  </a:txBody>
                  <a:tcPr anchor="ctr"/>
                </a:tc>
                <a:tc>
                  <a:txBody>
                    <a:bodyPr/>
                    <a:lstStyle/>
                    <a:p>
                      <a:pPr algn="ctr"/>
                      <a:r>
                        <a:rPr lang="en-IN" sz="1800" b="0" dirty="0"/>
                        <a:t>9.0-14.0 cm</a:t>
                      </a:r>
                      <a:endParaRPr lang="en-IN" sz="1800" b="0" dirty="0">
                        <a:latin typeface="+mj-lt"/>
                      </a:endParaRPr>
                    </a:p>
                  </a:txBody>
                  <a:tcPr anchor="ctr"/>
                </a:tc>
                <a:tc>
                  <a:txBody>
                    <a:bodyPr/>
                    <a:lstStyle/>
                    <a:p>
                      <a:pPr algn="ctr"/>
                      <a:r>
                        <a:rPr lang="en-IN" sz="1800" b="0" dirty="0"/>
                        <a:t>2.5-5.0 cm</a:t>
                      </a:r>
                      <a:endParaRPr lang="en-IN" sz="1800" b="0" dirty="0">
                        <a:latin typeface="+mj-lt"/>
                      </a:endParaRPr>
                    </a:p>
                  </a:txBody>
                  <a:tcPr anchor="ctr"/>
                </a:tc>
                <a:extLst>
                  <a:ext uri="{0D108BD9-81ED-4DB2-BD59-A6C34878D82A}">
                    <a16:rowId xmlns:a16="http://schemas.microsoft.com/office/drawing/2014/main" val="1814647806"/>
                  </a:ext>
                </a:extLst>
              </a:tr>
              <a:tr h="754141">
                <a:tc>
                  <a:txBody>
                    <a:bodyPr/>
                    <a:lstStyle/>
                    <a:p>
                      <a:pPr algn="ctr">
                        <a:lnSpc>
                          <a:spcPct val="100000"/>
                        </a:lnSpc>
                        <a:spcAft>
                          <a:spcPts val="397"/>
                        </a:spcAft>
                      </a:pPr>
                      <a:r>
                        <a:rPr lang="en-IN" sz="1800" b="0" dirty="0"/>
                        <a:t>Resting Muscle Diameter</a:t>
                      </a:r>
                      <a:endParaRPr lang="en-US" sz="1800" b="0" strike="noStrike" spc="-1" dirty="0">
                        <a:solidFill>
                          <a:srgbClr val="000000"/>
                        </a:solidFill>
                        <a:latin typeface="+mj-lt"/>
                      </a:endParaRPr>
                    </a:p>
                  </a:txBody>
                  <a:tcPr marL="36000" marR="36000" anchor="ctr"/>
                </a:tc>
                <a:tc>
                  <a:txBody>
                    <a:bodyPr/>
                    <a:lstStyle/>
                    <a:p>
                      <a:pPr algn="ctr"/>
                      <a:r>
                        <a:rPr lang="en-IN" sz="1800" b="0" dirty="0"/>
                        <a:t>4.0-6.0 cm</a:t>
                      </a:r>
                      <a:endParaRPr lang="en-IN" sz="1800" b="0" dirty="0">
                        <a:latin typeface="+mj-lt"/>
                      </a:endParaRPr>
                    </a:p>
                  </a:txBody>
                  <a:tcPr anchor="ctr"/>
                </a:tc>
                <a:tc>
                  <a:txBody>
                    <a:bodyPr/>
                    <a:lstStyle/>
                    <a:p>
                      <a:pPr algn="ctr"/>
                      <a:r>
                        <a:rPr lang="en-IN" sz="1800" b="0" dirty="0"/>
                        <a:t>3.5-5.0 cm</a:t>
                      </a:r>
                      <a:endParaRPr lang="en-IN" sz="1800" b="0" dirty="0">
                        <a:latin typeface="+mj-lt"/>
                      </a:endParaRPr>
                    </a:p>
                  </a:txBody>
                  <a:tcPr anchor="ctr"/>
                </a:tc>
                <a:tc>
                  <a:txBody>
                    <a:bodyPr/>
                    <a:lstStyle/>
                    <a:p>
                      <a:pPr algn="ctr"/>
                      <a:r>
                        <a:rPr lang="en-IN" sz="1800" b="0" dirty="0"/>
                        <a:t>2.5-4.0 cm</a:t>
                      </a:r>
                      <a:endParaRPr lang="en-IN" sz="1800" b="0" dirty="0">
                        <a:latin typeface="+mj-lt"/>
                      </a:endParaRPr>
                    </a:p>
                  </a:txBody>
                  <a:tcPr anchor="ctr"/>
                </a:tc>
                <a:tc>
                  <a:txBody>
                    <a:bodyPr/>
                    <a:lstStyle/>
                    <a:p>
                      <a:pPr algn="ctr"/>
                      <a:r>
                        <a:rPr lang="en-IN" sz="1800" b="0" dirty="0"/>
                        <a:t>2.0-3.5 cm</a:t>
                      </a:r>
                      <a:endParaRPr lang="en-IN" sz="1800" b="0" dirty="0">
                        <a:latin typeface="+mj-lt"/>
                      </a:endParaRPr>
                    </a:p>
                  </a:txBody>
                  <a:tcPr anchor="ctr"/>
                </a:tc>
                <a:tc>
                  <a:txBody>
                    <a:bodyPr/>
                    <a:lstStyle/>
                    <a:p>
                      <a:pPr algn="ctr"/>
                      <a:r>
                        <a:rPr lang="en-IN" sz="1800" b="0" dirty="0"/>
                        <a:t>4.5-7.0 cm</a:t>
                      </a:r>
                      <a:endParaRPr lang="en-IN" sz="1800" b="0" dirty="0">
                        <a:latin typeface="+mj-lt"/>
                      </a:endParaRPr>
                    </a:p>
                  </a:txBody>
                  <a:tcPr anchor="ctr"/>
                </a:tc>
                <a:tc>
                  <a:txBody>
                    <a:bodyPr/>
                    <a:lstStyle/>
                    <a:p>
                      <a:pPr algn="ctr"/>
                      <a:r>
                        <a:rPr lang="en-IN" sz="1800" b="0" dirty="0"/>
                        <a:t>1.0-2.0 cm</a:t>
                      </a:r>
                      <a:endParaRPr lang="en-IN" sz="1800" b="0" dirty="0">
                        <a:latin typeface="+mj-lt"/>
                      </a:endParaRPr>
                    </a:p>
                  </a:txBody>
                  <a:tcPr anchor="ctr"/>
                </a:tc>
                <a:extLst>
                  <a:ext uri="{0D108BD9-81ED-4DB2-BD59-A6C34878D82A}">
                    <a16:rowId xmlns:a16="http://schemas.microsoft.com/office/drawing/2014/main" val="1350086726"/>
                  </a:ext>
                </a:extLst>
              </a:tr>
              <a:tr h="799296">
                <a:tc>
                  <a:txBody>
                    <a:bodyPr/>
                    <a:lstStyle/>
                    <a:p>
                      <a:pPr algn="ctr">
                        <a:lnSpc>
                          <a:spcPct val="100000"/>
                        </a:lnSpc>
                        <a:spcAft>
                          <a:spcPts val="397"/>
                        </a:spcAft>
                      </a:pPr>
                      <a:r>
                        <a:rPr lang="en-IN" sz="1800" b="0" dirty="0"/>
                        <a:t>Contracted Muscle Diameter</a:t>
                      </a:r>
                      <a:endParaRPr lang="en-US" sz="1800" b="0" strike="noStrike" spc="-1" dirty="0">
                        <a:solidFill>
                          <a:srgbClr val="000000"/>
                        </a:solidFill>
                        <a:latin typeface="+mj-lt"/>
                      </a:endParaRPr>
                    </a:p>
                  </a:txBody>
                  <a:tcPr marL="36000" marR="36000" anchor="ctr"/>
                </a:tc>
                <a:tc>
                  <a:txBody>
                    <a:bodyPr/>
                    <a:lstStyle/>
                    <a:p>
                      <a:pPr algn="ctr"/>
                      <a:r>
                        <a:rPr lang="en-IN" sz="1800" b="0" dirty="0"/>
                        <a:t>5.0-7.5 cm</a:t>
                      </a:r>
                      <a:endParaRPr lang="en-IN" sz="1800" b="0" dirty="0">
                        <a:latin typeface="+mj-lt"/>
                      </a:endParaRPr>
                    </a:p>
                  </a:txBody>
                  <a:tcPr anchor="ctr"/>
                </a:tc>
                <a:tc>
                  <a:txBody>
                    <a:bodyPr/>
                    <a:lstStyle/>
                    <a:p>
                      <a:pPr algn="ctr"/>
                      <a:r>
                        <a:rPr lang="en-IN" sz="1800" b="0" dirty="0"/>
                        <a:t>4.2-6.0 cm</a:t>
                      </a:r>
                      <a:endParaRPr lang="en-IN" sz="1800" b="0" dirty="0">
                        <a:latin typeface="+mj-lt"/>
                      </a:endParaRPr>
                    </a:p>
                  </a:txBody>
                  <a:tcPr anchor="ctr"/>
                </a:tc>
                <a:tc>
                  <a:txBody>
                    <a:bodyPr/>
                    <a:lstStyle/>
                    <a:p>
                      <a:pPr algn="ctr"/>
                      <a:r>
                        <a:rPr lang="en-IN" sz="1800" b="0" dirty="0"/>
                        <a:t>3.0-4.8 cm</a:t>
                      </a:r>
                      <a:endParaRPr lang="en-IN" sz="1800" b="0" dirty="0">
                        <a:latin typeface="+mj-lt"/>
                      </a:endParaRPr>
                    </a:p>
                  </a:txBody>
                  <a:tcPr anchor="ctr"/>
                </a:tc>
                <a:tc>
                  <a:txBody>
                    <a:bodyPr/>
                    <a:lstStyle/>
                    <a:p>
                      <a:pPr algn="ctr"/>
                      <a:r>
                        <a:rPr lang="en-IN" sz="1800" b="0" dirty="0"/>
                        <a:t>2.5-4.2 cm</a:t>
                      </a:r>
                      <a:endParaRPr lang="en-IN" sz="1800" b="0" dirty="0">
                        <a:latin typeface="+mj-lt"/>
                      </a:endParaRPr>
                    </a:p>
                  </a:txBody>
                  <a:tcPr anchor="ctr"/>
                </a:tc>
                <a:tc>
                  <a:txBody>
                    <a:bodyPr/>
                    <a:lstStyle/>
                    <a:p>
                      <a:pPr algn="ctr"/>
                      <a:r>
                        <a:rPr lang="en-IN" sz="1800" b="0" dirty="0"/>
                        <a:t>5.5-8.5 cm</a:t>
                      </a:r>
                      <a:endParaRPr lang="en-IN" sz="1800" b="0" dirty="0">
                        <a:latin typeface="+mj-lt"/>
                      </a:endParaRPr>
                    </a:p>
                  </a:txBody>
                  <a:tcPr anchor="ctr"/>
                </a:tc>
                <a:tc>
                  <a:txBody>
                    <a:bodyPr/>
                    <a:lstStyle/>
                    <a:p>
                      <a:pPr algn="ctr"/>
                      <a:r>
                        <a:rPr lang="en-IN" sz="1800" b="0" dirty="0"/>
                        <a:t>1.2-2.5 cm</a:t>
                      </a:r>
                      <a:endParaRPr lang="en-IN" sz="1800" b="0" dirty="0">
                        <a:latin typeface="+mj-lt"/>
                      </a:endParaRPr>
                    </a:p>
                  </a:txBody>
                  <a:tcPr anchor="ctr"/>
                </a:tc>
                <a:extLst>
                  <a:ext uri="{0D108BD9-81ED-4DB2-BD59-A6C34878D82A}">
                    <a16:rowId xmlns:a16="http://schemas.microsoft.com/office/drawing/2014/main" val="200859038"/>
                  </a:ext>
                </a:extLst>
              </a:tr>
              <a:tr h="12066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Max Shortening Displacement</a:t>
                      </a:r>
                    </a:p>
                    <a:p>
                      <a:pPr algn="ctr"/>
                      <a:endParaRPr lang="en-IN" sz="1800" b="0" dirty="0">
                        <a:latin typeface="+mj-lt"/>
                      </a:endParaRPr>
                    </a:p>
                  </a:txBody>
                  <a:tcPr anchor="ctr"/>
                </a:tc>
                <a:tc>
                  <a:txBody>
                    <a:bodyPr/>
                    <a:lstStyle/>
                    <a:p>
                      <a:pPr algn="ctr"/>
                      <a:r>
                        <a:rPr lang="en-IN" sz="1800" b="0" dirty="0"/>
                        <a:t>4.0-5.5 cm</a:t>
                      </a:r>
                      <a:endParaRPr lang="en-IN" sz="1800" b="0" dirty="0">
                        <a:latin typeface="+mj-lt"/>
                      </a:endParaRPr>
                    </a:p>
                  </a:txBody>
                  <a:tcPr anchor="ctr"/>
                </a:tc>
                <a:tc>
                  <a:txBody>
                    <a:bodyPr/>
                    <a:lstStyle/>
                    <a:p>
                      <a:pPr algn="ctr"/>
                      <a:r>
                        <a:rPr lang="en-IN" sz="1800" b="0" dirty="0"/>
                        <a:t>2.5-4.0 cm</a:t>
                      </a:r>
                      <a:endParaRPr lang="en-IN" sz="1800" b="0" dirty="0">
                        <a:latin typeface="+mj-lt"/>
                      </a:endParaRPr>
                    </a:p>
                  </a:txBody>
                  <a:tcPr anchor="ctr"/>
                </a:tc>
                <a:tc>
                  <a:txBody>
                    <a:bodyPr/>
                    <a:lstStyle/>
                    <a:p>
                      <a:pPr algn="ctr"/>
                      <a:r>
                        <a:rPr lang="en-IN" sz="1800" b="0" dirty="0"/>
                        <a:t>4.0-6.0 cm</a:t>
                      </a:r>
                      <a:endParaRPr lang="en-IN" sz="1800" b="0" dirty="0">
                        <a:latin typeface="+mj-lt"/>
                      </a:endParaRPr>
                    </a:p>
                  </a:txBody>
                  <a:tcPr anchor="ctr"/>
                </a:tc>
                <a:tc>
                  <a:txBody>
                    <a:bodyPr/>
                    <a:lstStyle/>
                    <a:p>
                      <a:pPr algn="ctr"/>
                      <a:r>
                        <a:rPr lang="en-IN" sz="1800" b="0" dirty="0"/>
                        <a:t>2.5-4.0 cm</a:t>
                      </a:r>
                      <a:endParaRPr lang="en-IN" sz="1800" b="0" dirty="0">
                        <a:latin typeface="+mj-lt"/>
                      </a:endParaRPr>
                    </a:p>
                  </a:txBody>
                  <a:tcPr anchor="ctr"/>
                </a:tc>
                <a:tc>
                  <a:txBody>
                    <a:bodyPr/>
                    <a:lstStyle/>
                    <a:p>
                      <a:pPr algn="ctr"/>
                      <a:r>
                        <a:rPr lang="en-IN" sz="1800" b="0" dirty="0"/>
                        <a:t>4.0-6.5 cm</a:t>
                      </a:r>
                      <a:endParaRPr lang="en-IN" sz="1800" b="0" dirty="0">
                        <a:latin typeface="+mj-lt"/>
                      </a:endParaRPr>
                    </a:p>
                  </a:txBody>
                  <a:tcPr anchor="ctr"/>
                </a:tc>
                <a:tc>
                  <a:txBody>
                    <a:bodyPr/>
                    <a:lstStyle/>
                    <a:p>
                      <a:pPr algn="ctr"/>
                      <a:r>
                        <a:rPr lang="en-IN" sz="1800" b="0" dirty="0"/>
                        <a:t>1.0-2.0 cm</a:t>
                      </a:r>
                      <a:endParaRPr lang="en-IN" sz="1800" b="0" dirty="0">
                        <a:latin typeface="+mj-lt"/>
                      </a:endParaRPr>
                    </a:p>
                  </a:txBody>
                  <a:tcPr anchor="ctr"/>
                </a:tc>
                <a:extLst>
                  <a:ext uri="{0D108BD9-81ED-4DB2-BD59-A6C34878D82A}">
                    <a16:rowId xmlns:a16="http://schemas.microsoft.com/office/drawing/2014/main" val="1039402190"/>
                  </a:ext>
                </a:extLst>
              </a:tr>
              <a:tr h="7992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Max Internal Force (F</a:t>
                      </a:r>
                      <a:r>
                        <a:rPr lang="en-US" sz="1800" b="0" strike="noStrike" spc="-1" baseline="-8000" dirty="0">
                          <a:solidFill>
                            <a:srgbClr val="000000"/>
                          </a:solidFill>
                        </a:rPr>
                        <a:t>0</a:t>
                      </a:r>
                      <a:r>
                        <a:rPr lang="en-US" sz="1800" b="0" strike="noStrike" spc="-1" dirty="0">
                          <a:solidFill>
                            <a:srgbClr val="000000"/>
                          </a:solidFill>
                        </a:rPr>
                        <a:t>)</a:t>
                      </a:r>
                    </a:p>
                    <a:p>
                      <a:pPr algn="ctr"/>
                      <a:endParaRPr lang="en-IN" sz="1800" b="0" dirty="0">
                        <a:latin typeface="+mj-lt"/>
                      </a:endParaRPr>
                    </a:p>
                  </a:txBody>
                  <a:tcPr anchor="ctr"/>
                </a:tc>
                <a:tc>
                  <a:txBody>
                    <a:bodyPr/>
                    <a:lstStyle/>
                    <a:p>
                      <a:pPr algn="ctr"/>
                      <a:r>
                        <a:rPr lang="en-IN" sz="1800" b="0" dirty="0"/>
                        <a:t>600 to 1100 N</a:t>
                      </a:r>
                      <a:endParaRPr lang="en-IN" sz="1800" b="0" dirty="0">
                        <a:latin typeface="+mj-lt"/>
                      </a:endParaRPr>
                    </a:p>
                  </a:txBody>
                  <a:tcPr anchor="ctr"/>
                </a:tc>
                <a:tc>
                  <a:txBody>
                    <a:bodyPr/>
                    <a:lstStyle/>
                    <a:p>
                      <a:pPr algn="ctr"/>
                      <a:r>
                        <a:rPr lang="en-IN" sz="1800" b="0" dirty="0"/>
                        <a:t>700-1000 N</a:t>
                      </a:r>
                      <a:endParaRPr lang="en-IN" sz="1800" b="0" dirty="0">
                        <a:latin typeface="+mj-lt"/>
                      </a:endParaRPr>
                    </a:p>
                  </a:txBody>
                  <a:tcPr anchor="ctr"/>
                </a:tc>
                <a:tc>
                  <a:txBody>
                    <a:bodyPr/>
                    <a:lstStyle/>
                    <a:p>
                      <a:pPr algn="ctr"/>
                      <a:r>
                        <a:rPr lang="en-IN" sz="1800" b="0" kern="1200" dirty="0">
                          <a:solidFill>
                            <a:schemeClr val="dk1"/>
                          </a:solidFill>
                        </a:rPr>
                        <a:t>150-300 N</a:t>
                      </a:r>
                      <a:endParaRPr lang="en-IN" sz="1800" b="0" dirty="0">
                        <a:latin typeface="+mj-lt"/>
                      </a:endParaRPr>
                    </a:p>
                  </a:txBody>
                  <a:tcPr anchor="ctr"/>
                </a:tc>
                <a:tc>
                  <a:txBody>
                    <a:bodyPr/>
                    <a:lstStyle/>
                    <a:p>
                      <a:pPr algn="ctr"/>
                      <a:r>
                        <a:rPr lang="en-IN" sz="1800" b="0" dirty="0"/>
                        <a:t>300-600 N</a:t>
                      </a:r>
                      <a:endParaRPr lang="en-IN" sz="1800" b="0" dirty="0">
                        <a:latin typeface="+mj-lt"/>
                      </a:endParaRPr>
                    </a:p>
                  </a:txBody>
                  <a:tcPr anchor="ctr"/>
                </a:tc>
                <a:tc>
                  <a:txBody>
                    <a:bodyPr/>
                    <a:lstStyle/>
                    <a:p>
                      <a:pPr algn="ctr"/>
                      <a:r>
                        <a:rPr lang="en-IN" sz="1800" b="0" dirty="0"/>
                        <a:t>1000-2000 N</a:t>
                      </a:r>
                      <a:endParaRPr lang="en-IN" sz="1800" b="0" dirty="0">
                        <a:latin typeface="+mj-lt"/>
                      </a:endParaRPr>
                    </a:p>
                  </a:txBody>
                  <a:tcPr anchor="ctr"/>
                </a:tc>
                <a:tc>
                  <a:txBody>
                    <a:bodyPr/>
                    <a:lstStyle/>
                    <a:p>
                      <a:pPr algn="ctr"/>
                      <a:r>
                        <a:rPr lang="en-IN" sz="1800" b="0" dirty="0"/>
                        <a:t>200-350 N</a:t>
                      </a:r>
                      <a:endParaRPr lang="en-IN" sz="1800" b="0" dirty="0">
                        <a:latin typeface="+mj-lt"/>
                      </a:endParaRPr>
                    </a:p>
                  </a:txBody>
                  <a:tcPr anchor="ctr"/>
                </a:tc>
                <a:extLst>
                  <a:ext uri="{0D108BD9-81ED-4DB2-BD59-A6C34878D82A}">
                    <a16:rowId xmlns:a16="http://schemas.microsoft.com/office/drawing/2014/main" val="1430541494"/>
                  </a:ext>
                </a:extLst>
              </a:tr>
              <a:tr h="7992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strike="noStrike" spc="-1" dirty="0">
                          <a:solidFill>
                            <a:srgbClr val="000000"/>
                          </a:solidFill>
                        </a:rPr>
                        <a:t>Electromechanical Delay</a:t>
                      </a:r>
                    </a:p>
                    <a:p>
                      <a:pPr algn="ctr"/>
                      <a:endParaRPr lang="en-IN" sz="1800" b="0" dirty="0">
                        <a:latin typeface="+mj-lt"/>
                      </a:endParaRPr>
                    </a:p>
                  </a:txBody>
                  <a:tcPr anchor="ctr"/>
                </a:tc>
                <a:tc>
                  <a:txBody>
                    <a:bodyPr/>
                    <a:lstStyle/>
                    <a:p>
                      <a:pPr algn="ctr"/>
                      <a:r>
                        <a:rPr lang="en-IN" sz="1800" b="0" dirty="0"/>
                        <a:t>30-50 </a:t>
                      </a:r>
                      <a:r>
                        <a:rPr lang="en-IN" sz="1800" b="0" dirty="0" err="1"/>
                        <a:t>ms</a:t>
                      </a:r>
                      <a:endParaRPr lang="en-IN" sz="1800" b="0" dirty="0">
                        <a:latin typeface="+mj-lt"/>
                      </a:endParaRPr>
                    </a:p>
                  </a:txBody>
                  <a:tcPr anchor="ctr"/>
                </a:tc>
                <a:tc>
                  <a:txBody>
                    <a:bodyPr/>
                    <a:lstStyle/>
                    <a:p>
                      <a:pPr algn="ctr"/>
                      <a:r>
                        <a:rPr lang="en-IN" sz="1800" b="0" dirty="0"/>
                        <a:t>30-45 </a:t>
                      </a:r>
                      <a:r>
                        <a:rPr lang="en-IN" sz="1800" b="0" dirty="0" err="1"/>
                        <a:t>ms</a:t>
                      </a:r>
                      <a:endParaRPr lang="en-IN" sz="1800" b="0" dirty="0">
                        <a:latin typeface="+mj-lt"/>
                      </a:endParaRPr>
                    </a:p>
                  </a:txBody>
                  <a:tcPr anchor="ctr"/>
                </a:tc>
                <a:tc>
                  <a:txBody>
                    <a:bodyPr/>
                    <a:lstStyle/>
                    <a:p>
                      <a:pPr algn="ctr"/>
                      <a:r>
                        <a:rPr lang="en-IN" sz="1800" b="0" kern="1200" dirty="0">
                          <a:solidFill>
                            <a:schemeClr val="dk1"/>
                          </a:solidFill>
                        </a:rPr>
                        <a:t>30-45 </a:t>
                      </a:r>
                      <a:r>
                        <a:rPr lang="en-IN" sz="1800" b="0" kern="1200" dirty="0" err="1">
                          <a:solidFill>
                            <a:schemeClr val="dk1"/>
                          </a:solidFill>
                        </a:rPr>
                        <a:t>ms</a:t>
                      </a:r>
                      <a:endParaRPr lang="en-IN" sz="1800" b="0" dirty="0">
                        <a:latin typeface="+mj-lt"/>
                      </a:endParaRPr>
                    </a:p>
                  </a:txBody>
                  <a:tcPr anchor="ctr"/>
                </a:tc>
                <a:tc>
                  <a:txBody>
                    <a:bodyPr/>
                    <a:lstStyle/>
                    <a:p>
                      <a:pPr algn="ctr"/>
                      <a:r>
                        <a:rPr lang="en-IN" sz="1800" b="0" dirty="0"/>
                        <a:t>30-45 </a:t>
                      </a:r>
                      <a:r>
                        <a:rPr lang="en-IN" sz="1800" b="0" dirty="0" err="1"/>
                        <a:t>ms</a:t>
                      </a:r>
                      <a:endParaRPr lang="en-IN" sz="1800" b="0" dirty="0">
                        <a:latin typeface="+mj-lt"/>
                      </a:endParaRPr>
                    </a:p>
                  </a:txBody>
                  <a:tcPr anchor="ctr"/>
                </a:tc>
                <a:tc>
                  <a:txBody>
                    <a:bodyPr/>
                    <a:lstStyle/>
                    <a:p>
                      <a:pPr algn="ctr"/>
                      <a:r>
                        <a:rPr lang="en-IN" sz="1800" b="0" dirty="0"/>
                        <a:t>30-50 </a:t>
                      </a:r>
                      <a:r>
                        <a:rPr lang="en-IN" sz="1800" b="0" dirty="0" err="1"/>
                        <a:t>ms</a:t>
                      </a:r>
                      <a:endParaRPr lang="en-IN" sz="1800" b="0" dirty="0">
                        <a:latin typeface="+mj-lt"/>
                      </a:endParaRPr>
                    </a:p>
                  </a:txBody>
                  <a:tcPr anchor="ctr"/>
                </a:tc>
                <a:tc>
                  <a:txBody>
                    <a:bodyPr/>
                    <a:lstStyle/>
                    <a:p>
                      <a:pPr algn="ctr"/>
                      <a:r>
                        <a:rPr lang="en-IN" sz="1800" b="0" dirty="0"/>
                        <a:t>30-45 </a:t>
                      </a:r>
                      <a:r>
                        <a:rPr lang="en-IN" sz="1800" b="0" dirty="0" err="1"/>
                        <a:t>ms</a:t>
                      </a:r>
                      <a:endParaRPr lang="en-IN" sz="1800" b="0" dirty="0">
                        <a:latin typeface="+mj-lt"/>
                      </a:endParaRPr>
                    </a:p>
                  </a:txBody>
                  <a:tcPr anchor="ctr"/>
                </a:tc>
                <a:extLst>
                  <a:ext uri="{0D108BD9-81ED-4DB2-BD59-A6C34878D82A}">
                    <a16:rowId xmlns:a16="http://schemas.microsoft.com/office/drawing/2014/main" val="357856568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12976A-11CE-26DA-B08F-25C58DFC09CD}"/>
              </a:ext>
            </a:extLst>
          </p:cNvPr>
          <p:cNvSpPr txBox="1"/>
          <p:nvPr/>
        </p:nvSpPr>
        <p:spPr>
          <a:xfrm>
            <a:off x="635001" y="397934"/>
            <a:ext cx="6006773" cy="3785652"/>
          </a:xfrm>
          <a:prstGeom prst="rect">
            <a:avLst/>
          </a:prstGeom>
          <a:noFill/>
        </p:spPr>
        <p:txBody>
          <a:bodyPr wrap="none" rtlCol="0">
            <a:spAutoFit/>
          </a:bodyPr>
          <a:lstStyle/>
          <a:p>
            <a:r>
              <a:rPr lang="en-IN" sz="2400" b="1" u="sng" dirty="0"/>
              <a:t>Flexion</a:t>
            </a:r>
          </a:p>
          <a:p>
            <a:endParaRPr lang="en-IN" dirty="0"/>
          </a:p>
          <a:p>
            <a:r>
              <a:rPr lang="en-IN" dirty="0"/>
              <a:t>Muscles involved in Flexion movement and its placement</a:t>
            </a:r>
          </a:p>
          <a:p>
            <a:pPr lvl="0"/>
            <a:endParaRPr lang="en-IN" dirty="0"/>
          </a:p>
          <a:p>
            <a:pPr marL="285750" lvl="0" indent="-285750">
              <a:buFont typeface="Arial" panose="020B0604020202020204" pitchFamily="34" charset="0"/>
              <a:buChar char="•"/>
            </a:pPr>
            <a:r>
              <a:rPr lang="en-IN" dirty="0"/>
              <a:t>Biceps brachii</a:t>
            </a:r>
          </a:p>
          <a:p>
            <a:pPr marL="285750" lvl="0" indent="-285750">
              <a:buFont typeface="Arial" panose="020B0604020202020204" pitchFamily="34" charset="0"/>
              <a:buChar char="•"/>
            </a:pPr>
            <a:r>
              <a:rPr lang="en-IN" dirty="0"/>
              <a:t>Brachialis</a:t>
            </a:r>
          </a:p>
          <a:p>
            <a:pPr marL="285750" lvl="0" indent="-285750">
              <a:buFont typeface="Arial" panose="020B0604020202020204" pitchFamily="34" charset="0"/>
              <a:buChar char="•"/>
            </a:pPr>
            <a:r>
              <a:rPr lang="en-IN" dirty="0"/>
              <a:t>Brachioradialis</a:t>
            </a:r>
          </a:p>
          <a:p>
            <a:pPr marL="285750" lvl="0" indent="-285750">
              <a:buFont typeface="Arial" panose="020B0604020202020204" pitchFamily="34" charset="0"/>
              <a:buChar char="•"/>
            </a:pPr>
            <a:endParaRPr lang="en-IN" dirty="0"/>
          </a:p>
          <a:p>
            <a:r>
              <a:rPr lang="en-IN" dirty="0"/>
              <a:t>Primary flexors: Biceps brachii and brachialis</a:t>
            </a:r>
            <a:br>
              <a:rPr lang="en-IN" dirty="0"/>
            </a:br>
            <a:r>
              <a:rPr lang="en-IN" dirty="0"/>
              <a:t>Assistive flexor: Brachioradialis</a:t>
            </a:r>
          </a:p>
          <a:p>
            <a:endParaRPr lang="en-IN" dirty="0"/>
          </a:p>
          <a:p>
            <a:endParaRPr lang="en-IN" dirty="0"/>
          </a:p>
          <a:p>
            <a:endParaRPr lang="en-IN" dirty="0"/>
          </a:p>
        </p:txBody>
      </p:sp>
      <p:pic>
        <p:nvPicPr>
          <p:cNvPr id="4" name="Picture 3" descr="Muscle Extension and Flexion Anatomy – Royalty-Free Vector | VectorStock">
            <a:extLst>
              <a:ext uri="{FF2B5EF4-FFF2-40B4-BE49-F238E27FC236}">
                <a16:creationId xmlns:a16="http://schemas.microsoft.com/office/drawing/2014/main" id="{DCDF4D2B-D554-035C-208E-FF8AB948A9DA}"/>
              </a:ext>
            </a:extLst>
          </p:cNvPr>
          <p:cNvPicPr>
            <a:picLocks noChangeAspect="1"/>
          </p:cNvPicPr>
          <p:nvPr/>
        </p:nvPicPr>
        <p:blipFill>
          <a:blip r:embed="rId2"/>
          <a:srcRect l="55573" b="17077"/>
          <a:stretch>
            <a:fillRect/>
          </a:stretch>
        </p:blipFill>
        <p:spPr>
          <a:xfrm>
            <a:off x="8627682" y="992480"/>
            <a:ext cx="3071419" cy="42650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Interactions of Skeletal Muscles | Lifetime Fitness and Wellness">
            <a:extLst>
              <a:ext uri="{FF2B5EF4-FFF2-40B4-BE49-F238E27FC236}">
                <a16:creationId xmlns:a16="http://schemas.microsoft.com/office/drawing/2014/main" id="{D5CDEBCA-007A-E677-43F8-195EC2BAEE40}"/>
              </a:ext>
            </a:extLst>
          </p:cNvPr>
          <p:cNvPicPr>
            <a:picLocks noChangeAspect="1"/>
          </p:cNvPicPr>
          <p:nvPr/>
        </p:nvPicPr>
        <p:blipFill>
          <a:blip r:embed="rId3"/>
          <a:stretch>
            <a:fillRect/>
          </a:stretch>
        </p:blipFill>
        <p:spPr>
          <a:xfrm>
            <a:off x="3980111" y="3125022"/>
            <a:ext cx="4231778" cy="33350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551C610C-AB30-9C09-B2A4-0E120A4035CA}"/>
              </a:ext>
            </a:extLst>
          </p:cNvPr>
          <p:cNvSpPr txBox="1"/>
          <p:nvPr/>
        </p:nvSpPr>
        <p:spPr>
          <a:xfrm>
            <a:off x="635001" y="6460066"/>
            <a:ext cx="6101080" cy="369332"/>
          </a:xfrm>
          <a:prstGeom prst="rect">
            <a:avLst/>
          </a:prstGeom>
          <a:noFill/>
        </p:spPr>
        <p:txBody>
          <a:bodyPr wrap="square">
            <a:spAutoFit/>
          </a:bodyPr>
          <a:lstStyle/>
          <a:p>
            <a:r>
              <a:rPr lang="en-IN" sz="1800" dirty="0"/>
              <a:t>Photos source : Google</a:t>
            </a:r>
            <a:endParaRPr lang="en-IN" dirty="0"/>
          </a:p>
        </p:txBody>
      </p:sp>
      <p:sp>
        <p:nvSpPr>
          <p:cNvPr id="10" name="TextBox 9">
            <a:extLst>
              <a:ext uri="{FF2B5EF4-FFF2-40B4-BE49-F238E27FC236}">
                <a16:creationId xmlns:a16="http://schemas.microsoft.com/office/drawing/2014/main" id="{0DB21F9E-5084-1E79-3E43-29FD10E5935A}"/>
              </a:ext>
            </a:extLst>
          </p:cNvPr>
          <p:cNvSpPr txBox="1"/>
          <p:nvPr/>
        </p:nvSpPr>
        <p:spPr>
          <a:xfrm>
            <a:off x="9166721" y="6275400"/>
            <a:ext cx="2654300" cy="369332"/>
          </a:xfrm>
          <a:prstGeom prst="rect">
            <a:avLst/>
          </a:prstGeom>
          <a:noFill/>
        </p:spPr>
        <p:txBody>
          <a:bodyPr wrap="square">
            <a:spAutoFit/>
          </a:bodyPr>
          <a:lstStyle/>
          <a:p>
            <a:r>
              <a:rPr lang="en-IN" dirty="0"/>
              <a:t>images source : Google</a:t>
            </a:r>
          </a:p>
        </p:txBody>
      </p:sp>
      <p:sp>
        <p:nvSpPr>
          <p:cNvPr id="14" name="Rectangle 13">
            <a:extLst>
              <a:ext uri="{FF2B5EF4-FFF2-40B4-BE49-F238E27FC236}">
                <a16:creationId xmlns:a16="http://schemas.microsoft.com/office/drawing/2014/main" id="{70E63A08-EBDF-A7C4-4A98-80838385A383}"/>
              </a:ext>
            </a:extLst>
          </p:cNvPr>
          <p:cNvSpPr/>
          <p:nvPr/>
        </p:nvSpPr>
        <p:spPr>
          <a:xfrm>
            <a:off x="9072741" y="6309452"/>
            <a:ext cx="2626360" cy="33528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40006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067E46-131D-D188-5B6A-B5E86D6533CD}"/>
              </a:ext>
            </a:extLst>
          </p:cNvPr>
          <p:cNvSpPr txBox="1"/>
          <p:nvPr/>
        </p:nvSpPr>
        <p:spPr>
          <a:xfrm>
            <a:off x="687917" y="443974"/>
            <a:ext cx="6534150" cy="3231654"/>
          </a:xfrm>
          <a:prstGeom prst="rect">
            <a:avLst/>
          </a:prstGeom>
          <a:noFill/>
        </p:spPr>
        <p:txBody>
          <a:bodyPr wrap="square">
            <a:spAutoFit/>
          </a:bodyPr>
          <a:lstStyle/>
          <a:p>
            <a:r>
              <a:rPr lang="en-IN" sz="2400" b="1" dirty="0"/>
              <a:t>Extension</a:t>
            </a:r>
          </a:p>
          <a:p>
            <a:endParaRPr lang="en-IN" sz="1800" dirty="0"/>
          </a:p>
          <a:p>
            <a:r>
              <a:rPr lang="en-IN" sz="1800" dirty="0"/>
              <a:t>Muscles involved in Extension movement and its placement</a:t>
            </a:r>
          </a:p>
          <a:p>
            <a:pPr lvl="0"/>
            <a:endParaRPr lang="en-IN" sz="1800" dirty="0"/>
          </a:p>
          <a:p>
            <a:pPr marL="285750" lvl="0" indent="-285750">
              <a:buFont typeface="Arial" panose="020B0604020202020204" pitchFamily="34" charset="0"/>
              <a:buChar char="•"/>
            </a:pPr>
            <a:r>
              <a:rPr lang="en-IN" dirty="0"/>
              <a:t>Triceps brachii</a:t>
            </a:r>
          </a:p>
          <a:p>
            <a:pPr marL="285750" lvl="0" indent="-285750">
              <a:buFont typeface="Arial" panose="020B0604020202020204" pitchFamily="34" charset="0"/>
              <a:buChar char="•"/>
            </a:pPr>
            <a:r>
              <a:rPr lang="en-IN" dirty="0" err="1"/>
              <a:t>Anconeus</a:t>
            </a:r>
            <a:endParaRPr lang="en-IN" dirty="0"/>
          </a:p>
          <a:p>
            <a:pPr marL="285750" lvl="0" indent="-285750">
              <a:buFont typeface="Arial" panose="020B0604020202020204" pitchFamily="34" charset="0"/>
              <a:buChar char="•"/>
            </a:pPr>
            <a:endParaRPr lang="en-IN" sz="1800" dirty="0"/>
          </a:p>
          <a:p>
            <a:r>
              <a:rPr lang="en-IN" sz="1800" dirty="0"/>
              <a:t>Primary </a:t>
            </a:r>
            <a:r>
              <a:rPr lang="en-IN" dirty="0"/>
              <a:t>extensor</a:t>
            </a:r>
            <a:r>
              <a:rPr lang="en-IN" sz="1800" dirty="0"/>
              <a:t>: </a:t>
            </a:r>
            <a:r>
              <a:rPr lang="en-IN" dirty="0"/>
              <a:t>Triceps brachii</a:t>
            </a:r>
            <a:br>
              <a:rPr lang="en-IN" sz="1800" dirty="0"/>
            </a:br>
            <a:r>
              <a:rPr lang="en-IN" sz="1800" dirty="0"/>
              <a:t>Assistive </a:t>
            </a:r>
            <a:r>
              <a:rPr lang="en-IN" dirty="0"/>
              <a:t>extensor</a:t>
            </a:r>
            <a:r>
              <a:rPr lang="en-IN" sz="1800" dirty="0"/>
              <a:t>: </a:t>
            </a:r>
            <a:r>
              <a:rPr lang="en-IN" dirty="0" err="1"/>
              <a:t>Anconeus</a:t>
            </a:r>
            <a:endParaRPr lang="en-IN" sz="1800" dirty="0"/>
          </a:p>
          <a:p>
            <a:endParaRPr lang="en-IN" sz="1800" dirty="0"/>
          </a:p>
          <a:p>
            <a:endParaRPr lang="en-IN" sz="1800" dirty="0"/>
          </a:p>
        </p:txBody>
      </p:sp>
      <p:pic>
        <p:nvPicPr>
          <p:cNvPr id="6" name="Picture 5">
            <a:extLst>
              <a:ext uri="{FF2B5EF4-FFF2-40B4-BE49-F238E27FC236}">
                <a16:creationId xmlns:a16="http://schemas.microsoft.com/office/drawing/2014/main" id="{6BDC9149-4323-57ED-722E-66B523BEF7C2}"/>
              </a:ext>
            </a:extLst>
          </p:cNvPr>
          <p:cNvPicPr>
            <a:picLocks noChangeAspect="1"/>
          </p:cNvPicPr>
          <p:nvPr/>
        </p:nvPicPr>
        <p:blipFill>
          <a:blip r:embed="rId2"/>
          <a:srcRect l="6822" b="2346"/>
          <a:stretch>
            <a:fillRect/>
          </a:stretch>
        </p:blipFill>
        <p:spPr>
          <a:xfrm>
            <a:off x="8593666" y="565293"/>
            <a:ext cx="3268134" cy="4734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2FF329F8-69A7-373D-EDA5-AF49CD782ADE}"/>
              </a:ext>
            </a:extLst>
          </p:cNvPr>
          <p:cNvPicPr>
            <a:picLocks noChangeAspect="1"/>
          </p:cNvPicPr>
          <p:nvPr/>
        </p:nvPicPr>
        <p:blipFill>
          <a:blip r:embed="rId3"/>
          <a:stretch>
            <a:fillRect/>
          </a:stretch>
        </p:blipFill>
        <p:spPr>
          <a:xfrm>
            <a:off x="4000037" y="3327400"/>
            <a:ext cx="4191926" cy="27946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26720409-A5EF-8258-09C2-A5B41A4CBF63}"/>
              </a:ext>
            </a:extLst>
          </p:cNvPr>
          <p:cNvSpPr txBox="1"/>
          <p:nvPr/>
        </p:nvSpPr>
        <p:spPr>
          <a:xfrm>
            <a:off x="9288357" y="6371600"/>
            <a:ext cx="2718916" cy="369332"/>
          </a:xfrm>
          <a:prstGeom prst="rect">
            <a:avLst/>
          </a:prstGeom>
          <a:noFill/>
        </p:spPr>
        <p:txBody>
          <a:bodyPr wrap="square">
            <a:spAutoFit/>
          </a:bodyPr>
          <a:lstStyle/>
          <a:p>
            <a:r>
              <a:rPr lang="en-IN" dirty="0"/>
              <a:t>images</a:t>
            </a:r>
            <a:r>
              <a:rPr lang="en-IN" sz="1800" dirty="0"/>
              <a:t> source : Google</a:t>
            </a:r>
            <a:endParaRPr lang="en-IN" dirty="0"/>
          </a:p>
        </p:txBody>
      </p:sp>
      <p:sp>
        <p:nvSpPr>
          <p:cNvPr id="9" name="Rectangle 8">
            <a:extLst>
              <a:ext uri="{FF2B5EF4-FFF2-40B4-BE49-F238E27FC236}">
                <a16:creationId xmlns:a16="http://schemas.microsoft.com/office/drawing/2014/main" id="{CCF1FEBE-DAC3-478D-4E0B-771590C8422B}"/>
              </a:ext>
            </a:extLst>
          </p:cNvPr>
          <p:cNvSpPr/>
          <p:nvPr/>
        </p:nvSpPr>
        <p:spPr>
          <a:xfrm>
            <a:off x="9235440" y="6390640"/>
            <a:ext cx="2626360" cy="33528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38408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0A615D-D4DC-3DF3-D658-AB17F1BB17A6}"/>
              </a:ext>
            </a:extLst>
          </p:cNvPr>
          <p:cNvSpPr txBox="1"/>
          <p:nvPr/>
        </p:nvSpPr>
        <p:spPr>
          <a:xfrm>
            <a:off x="163744" y="1763800"/>
            <a:ext cx="12313328" cy="3330399"/>
          </a:xfrm>
          <a:prstGeom prst="rect">
            <a:avLst/>
          </a:prstGeom>
          <a:noFill/>
        </p:spPr>
        <p:txBody>
          <a:bodyPr wrap="square">
            <a:spAutoFit/>
          </a:bodyPr>
          <a:lstStyle/>
          <a:p>
            <a:pPr marL="342900" indent="-342900">
              <a:lnSpc>
                <a:spcPct val="200000"/>
              </a:lnSpc>
              <a:buFont typeface="+mj-lt"/>
              <a:buAutoNum type="arabicPeriod"/>
            </a:pPr>
            <a:r>
              <a:rPr lang="en-US" dirty="0"/>
              <a:t>Determine how the force &amp; total joint torque is distributed amongst the participating muscles in elbow movements.</a:t>
            </a:r>
          </a:p>
          <a:p>
            <a:pPr marL="342900" indent="-342900">
              <a:lnSpc>
                <a:spcPct val="200000"/>
              </a:lnSpc>
              <a:buFont typeface="+mj-lt"/>
              <a:buAutoNum type="arabicPeriod"/>
            </a:pPr>
            <a:r>
              <a:rPr lang="en-US" dirty="0"/>
              <a:t>Effect of change in Elbow Joint Angle on forces.</a:t>
            </a:r>
          </a:p>
          <a:p>
            <a:pPr marL="342900" indent="-342900">
              <a:lnSpc>
                <a:spcPct val="200000"/>
              </a:lnSpc>
              <a:buFont typeface="+mj-lt"/>
              <a:buAutoNum type="arabicPeriod"/>
            </a:pPr>
            <a:r>
              <a:rPr lang="en-US" dirty="0"/>
              <a:t>Effect of External Load on force requirements</a:t>
            </a:r>
          </a:p>
          <a:p>
            <a:pPr marL="342900" indent="-342900">
              <a:lnSpc>
                <a:spcPct val="200000"/>
              </a:lnSpc>
              <a:buFont typeface="+mj-lt"/>
              <a:buAutoNum type="arabicPeriod"/>
            </a:pPr>
            <a:r>
              <a:rPr lang="en-US" dirty="0"/>
              <a:t>Identify the contribution of individual muscles during flexion and extension.</a:t>
            </a:r>
          </a:p>
          <a:p>
            <a:pPr marL="342900" indent="-342900">
              <a:lnSpc>
                <a:spcPct val="200000"/>
              </a:lnSpc>
              <a:buFont typeface="+mj-lt"/>
              <a:buAutoNum type="arabicPeriod"/>
            </a:pPr>
            <a:r>
              <a:rPr lang="en-US" dirty="0"/>
              <a:t>Force Requirements for Soft Actuators</a:t>
            </a:r>
          </a:p>
          <a:p>
            <a:pPr marL="285750" indent="-285750">
              <a:lnSpc>
                <a:spcPct val="200000"/>
              </a:lnSpc>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1511AA91-885B-1531-9761-353E1EC03110}"/>
              </a:ext>
            </a:extLst>
          </p:cNvPr>
          <p:cNvSpPr txBox="1"/>
          <p:nvPr/>
        </p:nvSpPr>
        <p:spPr>
          <a:xfrm>
            <a:off x="352346" y="906410"/>
            <a:ext cx="7562294" cy="523220"/>
          </a:xfrm>
          <a:prstGeom prst="rect">
            <a:avLst/>
          </a:prstGeom>
          <a:noFill/>
        </p:spPr>
        <p:txBody>
          <a:bodyPr wrap="square" rtlCol="0">
            <a:spAutoFit/>
          </a:bodyPr>
          <a:lstStyle/>
          <a:p>
            <a:r>
              <a:rPr lang="en-IN" sz="2800" dirty="0"/>
              <a:t>Upcoming tasks which needs to be done:</a:t>
            </a:r>
          </a:p>
        </p:txBody>
      </p:sp>
    </p:spTree>
    <p:extLst>
      <p:ext uri="{BB962C8B-B14F-4D97-AF65-F5344CB8AC3E}">
        <p14:creationId xmlns:p14="http://schemas.microsoft.com/office/powerpoint/2010/main" val="2645371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D0CDFA-55A2-B576-A7FD-C3D040880055}"/>
              </a:ext>
            </a:extLst>
          </p:cNvPr>
          <p:cNvSpPr txBox="1"/>
          <p:nvPr/>
        </p:nvSpPr>
        <p:spPr>
          <a:xfrm>
            <a:off x="264110" y="0"/>
            <a:ext cx="10648765" cy="1668405"/>
          </a:xfrm>
          <a:prstGeom prst="rect">
            <a:avLst/>
          </a:prstGeom>
          <a:noFill/>
        </p:spPr>
        <p:txBody>
          <a:bodyPr wrap="square">
            <a:spAutoFit/>
          </a:bodyPr>
          <a:lstStyle/>
          <a:p>
            <a:pPr lvl="0">
              <a:lnSpc>
                <a:spcPct val="200000"/>
              </a:lnSpc>
            </a:pPr>
            <a:r>
              <a:rPr lang="en-IN" dirty="0"/>
              <a:t>Simulation-Based Validation for Actuator Design</a:t>
            </a:r>
          </a:p>
          <a:p>
            <a:pPr lvl="0">
              <a:lnSpc>
                <a:spcPct val="200000"/>
              </a:lnSpc>
            </a:pPr>
            <a:r>
              <a:rPr lang="en-IN" sz="1800" dirty="0"/>
              <a:t>6. Simulation using </a:t>
            </a:r>
            <a:r>
              <a:rPr lang="en-IN" sz="1800" dirty="0" err="1"/>
              <a:t>OpenSim</a:t>
            </a:r>
            <a:r>
              <a:rPr lang="en-IN" sz="1800" dirty="0"/>
              <a:t>, Biomechanics of Bodies(BOB), MSC Adams [any suitable software].</a:t>
            </a:r>
          </a:p>
          <a:p>
            <a:pPr lvl="0">
              <a:lnSpc>
                <a:spcPct val="200000"/>
              </a:lnSpc>
            </a:pPr>
            <a:r>
              <a:rPr lang="en-IN" sz="1800" dirty="0"/>
              <a:t>7. Comparison and validation with published biomechanical data.</a:t>
            </a:r>
          </a:p>
        </p:txBody>
      </p:sp>
      <p:pic>
        <p:nvPicPr>
          <p:cNvPr id="4" name="Picture 3" descr="The Model Warper — OpenSim Creator documentation">
            <a:extLst>
              <a:ext uri="{FF2B5EF4-FFF2-40B4-BE49-F238E27FC236}">
                <a16:creationId xmlns:a16="http://schemas.microsoft.com/office/drawing/2014/main" id="{C0212E0A-EE04-591A-9245-7C74D53FD3F7}"/>
              </a:ext>
            </a:extLst>
          </p:cNvPr>
          <p:cNvPicPr>
            <a:picLocks noChangeAspect="1"/>
          </p:cNvPicPr>
          <p:nvPr/>
        </p:nvPicPr>
        <p:blipFill>
          <a:blip r:embed="rId2"/>
          <a:stretch>
            <a:fillRect/>
          </a:stretch>
        </p:blipFill>
        <p:spPr>
          <a:xfrm>
            <a:off x="264110" y="1872563"/>
            <a:ext cx="5186779" cy="29175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OpenSim Creator Documentation — OpenSim Creator documentation">
            <a:extLst>
              <a:ext uri="{FF2B5EF4-FFF2-40B4-BE49-F238E27FC236}">
                <a16:creationId xmlns:a16="http://schemas.microsoft.com/office/drawing/2014/main" id="{3D632AFB-B632-28C5-E2C0-9174E10B6B00}"/>
              </a:ext>
            </a:extLst>
          </p:cNvPr>
          <p:cNvPicPr>
            <a:picLocks noChangeAspect="1"/>
          </p:cNvPicPr>
          <p:nvPr/>
        </p:nvPicPr>
        <p:blipFill>
          <a:blip r:embed="rId3"/>
          <a:stretch>
            <a:fillRect/>
          </a:stretch>
        </p:blipFill>
        <p:spPr>
          <a:xfrm>
            <a:off x="6203272" y="1872563"/>
            <a:ext cx="5266678" cy="2962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191E17FD-553C-05F3-B32D-7B3568D13EF3}"/>
              </a:ext>
            </a:extLst>
          </p:cNvPr>
          <p:cNvSpPr txBox="1"/>
          <p:nvPr/>
        </p:nvSpPr>
        <p:spPr>
          <a:xfrm>
            <a:off x="412811" y="5149049"/>
            <a:ext cx="7135287" cy="1477328"/>
          </a:xfrm>
          <a:prstGeom prst="rect">
            <a:avLst/>
          </a:prstGeom>
          <a:noFill/>
        </p:spPr>
        <p:txBody>
          <a:bodyPr wrap="none" rtlCol="0">
            <a:spAutoFit/>
          </a:bodyPr>
          <a:lstStyle/>
          <a:p>
            <a:r>
              <a:rPr lang="en-IN" dirty="0"/>
              <a:t>This are reference photos of simulations done in </a:t>
            </a:r>
            <a:r>
              <a:rPr lang="en-IN" dirty="0" err="1"/>
              <a:t>OpenSim</a:t>
            </a:r>
            <a:r>
              <a:rPr lang="en-IN" dirty="0"/>
              <a:t> software.</a:t>
            </a:r>
            <a:br>
              <a:rPr lang="en-IN" dirty="0"/>
            </a:br>
            <a:br>
              <a:rPr lang="en-IN" dirty="0"/>
            </a:br>
            <a:br>
              <a:rPr lang="en-IN" dirty="0"/>
            </a:br>
            <a:br>
              <a:rPr lang="en-IN" dirty="0"/>
            </a:br>
            <a:endParaRPr lang="en-IN" dirty="0"/>
          </a:p>
        </p:txBody>
      </p:sp>
      <p:sp>
        <p:nvSpPr>
          <p:cNvPr id="8" name="Rectangle 7">
            <a:extLst>
              <a:ext uri="{FF2B5EF4-FFF2-40B4-BE49-F238E27FC236}">
                <a16:creationId xmlns:a16="http://schemas.microsoft.com/office/drawing/2014/main" id="{312738DA-BC6C-AD07-2AB1-CE554C2F45AE}"/>
              </a:ext>
            </a:extLst>
          </p:cNvPr>
          <p:cNvSpPr/>
          <p:nvPr/>
        </p:nvSpPr>
        <p:spPr>
          <a:xfrm>
            <a:off x="8876216" y="6313196"/>
            <a:ext cx="2626360" cy="33528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A69B3F56-7B56-37C4-6D2F-A05E876E8F97}"/>
              </a:ext>
            </a:extLst>
          </p:cNvPr>
          <p:cNvSpPr txBox="1"/>
          <p:nvPr/>
        </p:nvSpPr>
        <p:spPr>
          <a:xfrm>
            <a:off x="8928347" y="6313196"/>
            <a:ext cx="2718708" cy="369332"/>
          </a:xfrm>
          <a:prstGeom prst="rect">
            <a:avLst/>
          </a:prstGeom>
          <a:noFill/>
        </p:spPr>
        <p:txBody>
          <a:bodyPr wrap="square">
            <a:spAutoFit/>
          </a:bodyPr>
          <a:lstStyle/>
          <a:p>
            <a:r>
              <a:rPr lang="en-IN" dirty="0"/>
              <a:t>images source : Google</a:t>
            </a:r>
          </a:p>
        </p:txBody>
      </p:sp>
    </p:spTree>
    <p:extLst>
      <p:ext uri="{BB962C8B-B14F-4D97-AF65-F5344CB8AC3E}">
        <p14:creationId xmlns:p14="http://schemas.microsoft.com/office/powerpoint/2010/main" val="1820670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A846FB-2BEA-DAA1-E52E-3561845CEEDD}"/>
              </a:ext>
            </a:extLst>
          </p:cNvPr>
          <p:cNvSpPr txBox="1"/>
          <p:nvPr/>
        </p:nvSpPr>
        <p:spPr>
          <a:xfrm>
            <a:off x="424873" y="492262"/>
            <a:ext cx="10658764" cy="4196020"/>
          </a:xfrm>
          <a:prstGeom prst="rect">
            <a:avLst/>
          </a:prstGeom>
          <a:noFill/>
        </p:spPr>
        <p:txBody>
          <a:bodyPr wrap="square">
            <a:spAutoFit/>
          </a:bodyPr>
          <a:lstStyle/>
          <a:p>
            <a:pPr>
              <a:lnSpc>
                <a:spcPct val="150000"/>
              </a:lnSpc>
              <a:buNone/>
            </a:pPr>
            <a:r>
              <a:rPr lang="en-IN" b="1" dirty="0"/>
              <a:t>Expected Outcome of the Internship</a:t>
            </a:r>
          </a:p>
          <a:p>
            <a:pPr>
              <a:lnSpc>
                <a:spcPct val="150000"/>
              </a:lnSpc>
              <a:buNone/>
            </a:pPr>
            <a:r>
              <a:rPr lang="en-IN" dirty="0"/>
              <a:t>By the end of the internship, the work will aim to:</a:t>
            </a:r>
          </a:p>
          <a:p>
            <a:pPr marL="342900" lvl="0" indent="-342900">
              <a:lnSpc>
                <a:spcPct val="150000"/>
              </a:lnSpc>
              <a:buFont typeface="Arial" panose="020B0604020202020204" pitchFamily="34" charset="0"/>
              <a:buChar char="•"/>
            </a:pPr>
            <a:r>
              <a:rPr lang="en-IN" dirty="0"/>
              <a:t>Develop a detailed understanding of </a:t>
            </a:r>
            <a:r>
              <a:rPr lang="en-IN" b="1" dirty="0"/>
              <a:t>human arm biomechanics and muscle characteristics</a:t>
            </a:r>
            <a:r>
              <a:rPr lang="en-IN" dirty="0"/>
              <a:t>. </a:t>
            </a:r>
          </a:p>
          <a:p>
            <a:pPr marL="342900" lvl="0" indent="-342900">
              <a:lnSpc>
                <a:spcPct val="150000"/>
              </a:lnSpc>
              <a:buFont typeface="Arial" panose="020B0604020202020204" pitchFamily="34" charset="0"/>
              <a:buChar char="•"/>
            </a:pPr>
            <a:r>
              <a:rPr lang="en-IN" dirty="0"/>
              <a:t>Analyse </a:t>
            </a:r>
            <a:r>
              <a:rPr lang="en-IN" b="1" dirty="0"/>
              <a:t>muscle force distribution and joint torque</a:t>
            </a:r>
            <a:r>
              <a:rPr lang="en-IN" dirty="0"/>
              <a:t> during different arm movements. </a:t>
            </a:r>
          </a:p>
          <a:p>
            <a:pPr marL="342900" lvl="0" indent="-342900">
              <a:lnSpc>
                <a:spcPct val="150000"/>
              </a:lnSpc>
              <a:buFont typeface="Arial" panose="020B0604020202020204" pitchFamily="34" charset="0"/>
              <a:buChar char="•"/>
            </a:pPr>
            <a:r>
              <a:rPr lang="en-IN" dirty="0"/>
              <a:t>Study the effect of </a:t>
            </a:r>
            <a:r>
              <a:rPr lang="en-IN" b="1" dirty="0"/>
              <a:t>elbow joint angle and external payload</a:t>
            </a:r>
            <a:r>
              <a:rPr lang="en-IN" dirty="0"/>
              <a:t> on muscle force requirements. </a:t>
            </a:r>
          </a:p>
          <a:p>
            <a:pPr marL="342900" lvl="0" indent="-342900">
              <a:lnSpc>
                <a:spcPct val="150000"/>
              </a:lnSpc>
              <a:buFont typeface="Arial" panose="020B0604020202020204" pitchFamily="34" charset="0"/>
              <a:buChar char="•"/>
            </a:pPr>
            <a:r>
              <a:rPr lang="en-IN" dirty="0"/>
              <a:t>Perform </a:t>
            </a:r>
            <a:r>
              <a:rPr lang="en-IN" b="1" dirty="0"/>
              <a:t>analysis and simulation</a:t>
            </a:r>
            <a:r>
              <a:rPr lang="en-IN" dirty="0"/>
              <a:t> using suitable biomechanical or multibody simulation software. </a:t>
            </a:r>
          </a:p>
          <a:p>
            <a:pPr marL="342900" lvl="0" indent="-342900">
              <a:lnSpc>
                <a:spcPct val="150000"/>
              </a:lnSpc>
              <a:buFont typeface="Arial" panose="020B0604020202020204" pitchFamily="34" charset="0"/>
              <a:buChar char="•"/>
            </a:pPr>
            <a:r>
              <a:rPr lang="en-IN" dirty="0"/>
              <a:t>Compare and validate the simulation results with </a:t>
            </a:r>
            <a:r>
              <a:rPr lang="en-IN" b="1" dirty="0"/>
              <a:t>published biomechanical data</a:t>
            </a:r>
            <a:r>
              <a:rPr lang="en-IN" dirty="0"/>
              <a:t>. </a:t>
            </a:r>
          </a:p>
          <a:p>
            <a:pPr marL="342900" lvl="0" indent="-342900">
              <a:lnSpc>
                <a:spcPct val="150000"/>
              </a:lnSpc>
              <a:buFont typeface="Arial" panose="020B0604020202020204" pitchFamily="34" charset="0"/>
              <a:buChar char="•"/>
            </a:pPr>
            <a:r>
              <a:rPr lang="en-IN" dirty="0"/>
              <a:t>Establish a reliable range of </a:t>
            </a:r>
            <a:r>
              <a:rPr lang="en-IN" b="1" dirty="0"/>
              <a:t>force, torque, displacement, and motion parameters</a:t>
            </a:r>
            <a:r>
              <a:rPr lang="en-IN" dirty="0"/>
              <a:t>. </a:t>
            </a:r>
          </a:p>
          <a:p>
            <a:pPr marL="342900" lvl="0" indent="-342900">
              <a:lnSpc>
                <a:spcPct val="150000"/>
              </a:lnSpc>
              <a:buFont typeface="Arial" panose="020B0604020202020204" pitchFamily="34" charset="0"/>
              <a:buChar char="•"/>
            </a:pPr>
            <a:r>
              <a:rPr lang="en-IN" dirty="0"/>
              <a:t>Use these validated parameter ranges to support the </a:t>
            </a:r>
            <a:r>
              <a:rPr lang="en-IN" b="1" dirty="0"/>
              <a:t>design and selection of a suitable soft actuator</a:t>
            </a:r>
            <a:endParaRPr lang="en-IN" dirty="0"/>
          </a:p>
        </p:txBody>
      </p:sp>
    </p:spTree>
    <p:extLst>
      <p:ext uri="{BB962C8B-B14F-4D97-AF65-F5344CB8AC3E}">
        <p14:creationId xmlns:p14="http://schemas.microsoft.com/office/powerpoint/2010/main" val="1985548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CAE1E1-64D9-4C8E-CF58-4C093673ADF6}"/>
              </a:ext>
            </a:extLst>
          </p:cNvPr>
          <p:cNvSpPr txBox="1"/>
          <p:nvPr/>
        </p:nvSpPr>
        <p:spPr>
          <a:xfrm flipH="1">
            <a:off x="243840" y="557917"/>
            <a:ext cx="1706880" cy="677108"/>
          </a:xfrm>
          <a:prstGeom prst="rect">
            <a:avLst/>
          </a:prstGeom>
          <a:noFill/>
        </p:spPr>
        <p:txBody>
          <a:bodyPr wrap="square" rtlCol="0">
            <a:spAutoFit/>
          </a:bodyPr>
          <a:lstStyle/>
          <a:p>
            <a:r>
              <a:rPr lang="en-IN" sz="2000" dirty="0"/>
              <a:t>References</a:t>
            </a:r>
            <a:r>
              <a:rPr lang="en-IN" dirty="0"/>
              <a:t>:</a:t>
            </a:r>
          </a:p>
          <a:p>
            <a:endParaRPr lang="en-IN" dirty="0"/>
          </a:p>
        </p:txBody>
      </p:sp>
      <p:sp>
        <p:nvSpPr>
          <p:cNvPr id="4" name="TextBox 3">
            <a:extLst>
              <a:ext uri="{FF2B5EF4-FFF2-40B4-BE49-F238E27FC236}">
                <a16:creationId xmlns:a16="http://schemas.microsoft.com/office/drawing/2014/main" id="{D49C60E2-369E-B8B7-AA78-58E362B5AE6D}"/>
              </a:ext>
            </a:extLst>
          </p:cNvPr>
          <p:cNvSpPr txBox="1"/>
          <p:nvPr/>
        </p:nvSpPr>
        <p:spPr>
          <a:xfrm>
            <a:off x="0" y="1021368"/>
            <a:ext cx="12100560" cy="5355312"/>
          </a:xfrm>
          <a:prstGeom prst="rect">
            <a:avLst/>
          </a:prstGeom>
          <a:noFill/>
        </p:spPr>
        <p:txBody>
          <a:bodyPr wrap="square">
            <a:spAutoFit/>
          </a:bodyPr>
          <a:lstStyle/>
          <a:p>
            <a:pPr marL="285750" indent="-285750">
              <a:buFont typeface="Arial" panose="020B0604020202020204" pitchFamily="34" charset="0"/>
              <a:buChar char="•"/>
            </a:pPr>
            <a:r>
              <a:rPr lang="en-IN" dirty="0"/>
              <a:t>Holzbaur, Murray &amp; Delp (2005)→ PCSA, optimal </a:t>
            </a:r>
            <a:r>
              <a:rPr lang="en-IN" dirty="0" err="1"/>
              <a:t>fiber</a:t>
            </a:r>
            <a:r>
              <a:rPr lang="en-IN" dirty="0"/>
              <a:t> length, tendon slack length, peak force, upper-extremity model.</a:t>
            </a:r>
          </a:p>
          <a:p>
            <a:pPr marL="285750" indent="-285750">
              <a:buFont typeface="Arial" panose="020B0604020202020204" pitchFamily="34" charset="0"/>
              <a:buChar char="•"/>
            </a:pPr>
            <a:r>
              <a:rPr lang="en-IN" dirty="0"/>
              <a:t>An et al. (1981)→ Original elbow muscle biomechanical analysis, </a:t>
            </a:r>
            <a:r>
              <a:rPr lang="en-IN" dirty="0" err="1"/>
              <a:t>fiber</a:t>
            </a:r>
            <a:r>
              <a:rPr lang="en-IN" dirty="0"/>
              <a:t> length, PCSA, volume and moment arms.</a:t>
            </a:r>
          </a:p>
          <a:p>
            <a:pPr marL="285750" indent="-285750">
              <a:buFont typeface="Arial" panose="020B0604020202020204" pitchFamily="34" charset="0"/>
              <a:buChar char="•"/>
            </a:pPr>
            <a:r>
              <a:rPr lang="en-IN" dirty="0"/>
              <a:t>Murray, Delp &amp; Buchanan (1995)→ Position-dependent moment arms of biceps, brachialis, brachioradialis, pronator teres and triceps.</a:t>
            </a:r>
          </a:p>
          <a:p>
            <a:pPr marL="285750" indent="-285750">
              <a:buFont typeface="Arial" panose="020B0604020202020204" pitchFamily="34" charset="0"/>
              <a:buChar char="•"/>
            </a:pPr>
            <a:r>
              <a:rPr lang="en-IN" dirty="0"/>
              <a:t>Buchanan (1995)→ Specific tension and maximum force estimation for elbow flexors and extensors.</a:t>
            </a:r>
          </a:p>
          <a:p>
            <a:pPr marL="285750" indent="-285750">
              <a:buFont typeface="Arial" panose="020B0604020202020204" pitchFamily="34" charset="0"/>
              <a:buChar char="•"/>
            </a:pPr>
            <a:r>
              <a:rPr lang="en-IN" dirty="0"/>
              <a:t>Abrams et al. (2005)→ Dedicated experimental architecture data for pronator teres.</a:t>
            </a:r>
          </a:p>
          <a:p>
            <a:pPr marL="285750" indent="-285750">
              <a:buFont typeface="Arial" panose="020B0604020202020204" pitchFamily="34" charset="0"/>
              <a:buChar char="•"/>
            </a:pPr>
            <a:r>
              <a:rPr lang="en-IN" dirty="0"/>
              <a:t>Hodges et al. (2003)→ Muscle thickness, fascicle length, and muscle geometry changes during contraction; supports resting/non-actuated and activated/actuated muscle dimensions.</a:t>
            </a:r>
          </a:p>
          <a:p>
            <a:pPr marL="285750" indent="-285750">
              <a:buFont typeface="Arial" panose="020B0604020202020204" pitchFamily="34" charset="0"/>
              <a:buChar char="•"/>
            </a:pPr>
            <a:r>
              <a:rPr lang="en-IN" dirty="0"/>
              <a:t>Abe et al. (2016)→ Ultrasound-based measurement of upper-extremity muscle thickness and its relationship with muscle size, cross-sectional area, and morphology</a:t>
            </a:r>
          </a:p>
          <a:p>
            <a:pPr marL="285750" indent="-285750">
              <a:buFont typeface="Arial" panose="020B0604020202020204" pitchFamily="34" charset="0"/>
              <a:buChar char="•"/>
            </a:pPr>
            <a:r>
              <a:rPr lang="en-IN" dirty="0" err="1"/>
              <a:t>Maganaris</a:t>
            </a:r>
            <a:r>
              <a:rPr lang="en-IN" dirty="0"/>
              <a:t> &amp; Paul (1999)→ In vivo tendon mechanical properties, including tendon cross-sectional area, force–elongation </a:t>
            </a:r>
            <a:r>
              <a:rPr lang="en-IN" dirty="0" err="1"/>
              <a:t>behavior</a:t>
            </a:r>
            <a:r>
              <a:rPr lang="en-IN" dirty="0"/>
              <a:t>, and stiffness.</a:t>
            </a:r>
          </a:p>
          <a:p>
            <a:pPr marL="285750" indent="-285750">
              <a:buFont typeface="Arial" panose="020B0604020202020204" pitchFamily="34" charset="0"/>
              <a:buChar char="•"/>
            </a:pPr>
            <a:r>
              <a:rPr lang="en-IN" dirty="0" err="1"/>
              <a:t>Maganaris</a:t>
            </a:r>
            <a:r>
              <a:rPr lang="en-IN" dirty="0"/>
              <a:t> &amp; Paul (2000)→ Tendon hysteresis and energy dissipation during loading and unloading of human tendons.</a:t>
            </a:r>
          </a:p>
          <a:p>
            <a:pPr marL="285750" indent="-285750">
              <a:buFont typeface="Arial" panose="020B0604020202020204" pitchFamily="34" charset="0"/>
              <a:buChar char="•"/>
            </a:pPr>
            <a:r>
              <a:rPr lang="en-IN" dirty="0"/>
              <a:t>Cavanagh &amp; Komi (1979)→ Electromechanical delay and force-development timing in human skeletal muscles.</a:t>
            </a:r>
          </a:p>
          <a:p>
            <a:pPr marL="285750" indent="-285750">
              <a:buFont typeface="Arial" panose="020B0604020202020204" pitchFamily="34" charset="0"/>
              <a:buChar char="•"/>
            </a:pPr>
            <a:r>
              <a:rPr lang="en-IN" dirty="0"/>
              <a:t>Norman &amp; Komi (1979)→ Electromechanical delay characteristics of biceps brachii and triceps brachii during normal movement conditions.</a:t>
            </a:r>
          </a:p>
          <a:p>
            <a:pPr marL="285750" indent="-285750">
              <a:buFont typeface="Arial" panose="020B0604020202020204" pitchFamily="34" charset="0"/>
              <a:buChar char="•"/>
            </a:pPr>
            <a:r>
              <a:rPr lang="en-IN" dirty="0"/>
              <a:t>Al </a:t>
            </a:r>
          </a:p>
        </p:txBody>
      </p:sp>
    </p:spTree>
    <p:extLst>
      <p:ext uri="{BB962C8B-B14F-4D97-AF65-F5344CB8AC3E}">
        <p14:creationId xmlns:p14="http://schemas.microsoft.com/office/powerpoint/2010/main" val="25450310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824</TotalTime>
  <Words>2134</Words>
  <Application>Microsoft Office PowerPoint</Application>
  <PresentationFormat>Widescreen</PresentationFormat>
  <Paragraphs>416</Paragraphs>
  <Slides>25</Slides>
  <Notes>0</Notes>
  <HiddenSlides>0</HiddenSlides>
  <MMClips>0</MMClips>
  <ScaleCrop>false</ScaleCrop>
  <HeadingPairs>
    <vt:vector size="6" baseType="variant">
      <vt:variant>
        <vt:lpstr>Fonts Used</vt:lpstr>
      </vt:variant>
      <vt:variant>
        <vt:i4>7</vt:i4>
      </vt:variant>
      <vt:variant>
        <vt:lpstr>Theme</vt:lpstr>
      </vt:variant>
      <vt:variant>
        <vt:i4>13</vt:i4>
      </vt:variant>
      <vt:variant>
        <vt:lpstr>Slide Titles</vt:lpstr>
      </vt:variant>
      <vt:variant>
        <vt:i4>25</vt:i4>
      </vt:variant>
    </vt:vector>
  </HeadingPairs>
  <TitlesOfParts>
    <vt:vector size="45" baseType="lpstr">
      <vt:lpstr>Arial</vt:lpstr>
      <vt:lpstr>Calibri</vt:lpstr>
      <vt:lpstr>Liberation Sans Narrow</vt:lpstr>
      <vt:lpstr>OpenSymbol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Bio-Mechanics Study of Human Arm based on human muscle capability and analysis &amp; simulation of Bio-Mechanics using available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Atharv Nagvekar</dc:creator>
  <dc:description/>
  <cp:lastModifiedBy>Atharv Nagvekar</cp:lastModifiedBy>
  <cp:revision>20</cp:revision>
  <dcterms:created xsi:type="dcterms:W3CDTF">2026-08-24T15:24:42Z</dcterms:created>
  <dcterms:modified xsi:type="dcterms:W3CDTF">2026-08-27T01:37:53Z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7</vt:r8>
  </property>
</Properties>
</file>