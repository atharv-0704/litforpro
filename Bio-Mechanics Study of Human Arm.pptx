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59" r:id="rId6"/>
    <p:sldId id="26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E1853-C4A9-886B-E6D7-7F61856D12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6AABD0-6F0E-3DAA-9343-2E1DFC5AF8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05B8D35-EE54-8FBF-0552-A72B002E8D12}"/>
              </a:ext>
            </a:extLst>
          </p:cNvPr>
          <p:cNvSpPr>
            <a:spLocks noGrp="1"/>
          </p:cNvSpPr>
          <p:nvPr>
            <p:ph type="dt" sz="half" idx="10"/>
          </p:nvPr>
        </p:nvSpPr>
        <p:spPr/>
        <p:txBody>
          <a:bodyPr/>
          <a:lstStyle/>
          <a:p>
            <a:fld id="{7559BF3C-4DB6-4035-9314-C67672851BA7}" type="datetimeFigureOut">
              <a:rPr lang="en-IN" smtClean="0"/>
              <a:t>24-08-2026</a:t>
            </a:fld>
            <a:endParaRPr lang="en-IN"/>
          </a:p>
        </p:txBody>
      </p:sp>
      <p:sp>
        <p:nvSpPr>
          <p:cNvPr id="5" name="Footer Placeholder 4">
            <a:extLst>
              <a:ext uri="{FF2B5EF4-FFF2-40B4-BE49-F238E27FC236}">
                <a16:creationId xmlns:a16="http://schemas.microsoft.com/office/drawing/2014/main" id="{3D847BEA-5C7E-91D4-1007-13032058A2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ECB624-43D8-985D-C497-91324DA22370}"/>
              </a:ext>
            </a:extLst>
          </p:cNvPr>
          <p:cNvSpPr>
            <a:spLocks noGrp="1"/>
          </p:cNvSpPr>
          <p:nvPr>
            <p:ph type="sldNum" sz="quarter" idx="12"/>
          </p:nvPr>
        </p:nvSpPr>
        <p:spPr/>
        <p:txBody>
          <a:bodyPr/>
          <a:lstStyle/>
          <a:p>
            <a:fld id="{5553B87A-460D-439E-AF9A-B70FCE0D0803}" type="slidenum">
              <a:rPr lang="en-IN" smtClean="0"/>
              <a:t>‹#›</a:t>
            </a:fld>
            <a:endParaRPr lang="en-IN"/>
          </a:p>
        </p:txBody>
      </p:sp>
    </p:spTree>
    <p:extLst>
      <p:ext uri="{BB962C8B-B14F-4D97-AF65-F5344CB8AC3E}">
        <p14:creationId xmlns:p14="http://schemas.microsoft.com/office/powerpoint/2010/main" val="396311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4B7A2-A1C0-5FBB-10EF-02085D356A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101FE7-FB21-9F9F-6A49-7297D8D48A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3C6BFA-AD46-FBC5-E26C-2E1083B291BF}"/>
              </a:ext>
            </a:extLst>
          </p:cNvPr>
          <p:cNvSpPr>
            <a:spLocks noGrp="1"/>
          </p:cNvSpPr>
          <p:nvPr>
            <p:ph type="dt" sz="half" idx="10"/>
          </p:nvPr>
        </p:nvSpPr>
        <p:spPr/>
        <p:txBody>
          <a:bodyPr/>
          <a:lstStyle/>
          <a:p>
            <a:fld id="{7559BF3C-4DB6-4035-9314-C67672851BA7}" type="datetimeFigureOut">
              <a:rPr lang="en-IN" smtClean="0"/>
              <a:t>24-08-2026</a:t>
            </a:fld>
            <a:endParaRPr lang="en-IN"/>
          </a:p>
        </p:txBody>
      </p:sp>
      <p:sp>
        <p:nvSpPr>
          <p:cNvPr id="5" name="Footer Placeholder 4">
            <a:extLst>
              <a:ext uri="{FF2B5EF4-FFF2-40B4-BE49-F238E27FC236}">
                <a16:creationId xmlns:a16="http://schemas.microsoft.com/office/drawing/2014/main" id="{0CD44E4E-EC19-D3CB-4626-AD5F05A3B2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173F32-EAD3-FDB4-09D4-0A4E3275ECE3}"/>
              </a:ext>
            </a:extLst>
          </p:cNvPr>
          <p:cNvSpPr>
            <a:spLocks noGrp="1"/>
          </p:cNvSpPr>
          <p:nvPr>
            <p:ph type="sldNum" sz="quarter" idx="12"/>
          </p:nvPr>
        </p:nvSpPr>
        <p:spPr/>
        <p:txBody>
          <a:bodyPr/>
          <a:lstStyle/>
          <a:p>
            <a:fld id="{5553B87A-460D-439E-AF9A-B70FCE0D0803}" type="slidenum">
              <a:rPr lang="en-IN" smtClean="0"/>
              <a:t>‹#›</a:t>
            </a:fld>
            <a:endParaRPr lang="en-IN"/>
          </a:p>
        </p:txBody>
      </p:sp>
    </p:spTree>
    <p:extLst>
      <p:ext uri="{BB962C8B-B14F-4D97-AF65-F5344CB8AC3E}">
        <p14:creationId xmlns:p14="http://schemas.microsoft.com/office/powerpoint/2010/main" val="1636550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5AA99-783C-980E-42EA-C40F81FCC1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A77A8EB-9177-0BB8-A86F-C4DB3E400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FD57C6-8AF5-E048-A2E8-C47CDF14846E}"/>
              </a:ext>
            </a:extLst>
          </p:cNvPr>
          <p:cNvSpPr>
            <a:spLocks noGrp="1"/>
          </p:cNvSpPr>
          <p:nvPr>
            <p:ph type="dt" sz="half" idx="10"/>
          </p:nvPr>
        </p:nvSpPr>
        <p:spPr/>
        <p:txBody>
          <a:bodyPr/>
          <a:lstStyle/>
          <a:p>
            <a:fld id="{7559BF3C-4DB6-4035-9314-C67672851BA7}" type="datetimeFigureOut">
              <a:rPr lang="en-IN" smtClean="0"/>
              <a:t>24-08-2026</a:t>
            </a:fld>
            <a:endParaRPr lang="en-IN"/>
          </a:p>
        </p:txBody>
      </p:sp>
      <p:sp>
        <p:nvSpPr>
          <p:cNvPr id="5" name="Footer Placeholder 4">
            <a:extLst>
              <a:ext uri="{FF2B5EF4-FFF2-40B4-BE49-F238E27FC236}">
                <a16:creationId xmlns:a16="http://schemas.microsoft.com/office/drawing/2014/main" id="{3366A1A4-C7CC-EAA8-20C0-9752046DD8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40B427-2EF2-2441-7B25-3A7C5DD5410C}"/>
              </a:ext>
            </a:extLst>
          </p:cNvPr>
          <p:cNvSpPr>
            <a:spLocks noGrp="1"/>
          </p:cNvSpPr>
          <p:nvPr>
            <p:ph type="sldNum" sz="quarter" idx="12"/>
          </p:nvPr>
        </p:nvSpPr>
        <p:spPr/>
        <p:txBody>
          <a:bodyPr/>
          <a:lstStyle/>
          <a:p>
            <a:fld id="{5553B87A-460D-439E-AF9A-B70FCE0D0803}" type="slidenum">
              <a:rPr lang="en-IN" smtClean="0"/>
              <a:t>‹#›</a:t>
            </a:fld>
            <a:endParaRPr lang="en-IN"/>
          </a:p>
        </p:txBody>
      </p:sp>
    </p:spTree>
    <p:extLst>
      <p:ext uri="{BB962C8B-B14F-4D97-AF65-F5344CB8AC3E}">
        <p14:creationId xmlns:p14="http://schemas.microsoft.com/office/powerpoint/2010/main" val="1436913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25026-81A1-D1A0-F729-07B352670A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00032C-10D7-106A-8BE5-5B652DB53D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02ED7-EB11-B0BF-4096-FF9B7A74B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527210B-2E80-CEF0-02B0-AE523084679A}"/>
              </a:ext>
            </a:extLst>
          </p:cNvPr>
          <p:cNvSpPr>
            <a:spLocks noGrp="1"/>
          </p:cNvSpPr>
          <p:nvPr>
            <p:ph type="dt" sz="half" idx="10"/>
          </p:nvPr>
        </p:nvSpPr>
        <p:spPr/>
        <p:txBody>
          <a:bodyPr/>
          <a:lstStyle/>
          <a:p>
            <a:fld id="{7559BF3C-4DB6-4035-9314-C67672851BA7}" type="datetimeFigureOut">
              <a:rPr lang="en-IN" smtClean="0"/>
              <a:t>24-08-2026</a:t>
            </a:fld>
            <a:endParaRPr lang="en-IN"/>
          </a:p>
        </p:txBody>
      </p:sp>
      <p:sp>
        <p:nvSpPr>
          <p:cNvPr id="6" name="Footer Placeholder 5">
            <a:extLst>
              <a:ext uri="{FF2B5EF4-FFF2-40B4-BE49-F238E27FC236}">
                <a16:creationId xmlns:a16="http://schemas.microsoft.com/office/drawing/2014/main" id="{E44BDE94-18CA-F2E9-BD9F-A3094AAFED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668E77-86FF-E64C-8BD7-8799BC4A4D43}"/>
              </a:ext>
            </a:extLst>
          </p:cNvPr>
          <p:cNvSpPr>
            <a:spLocks noGrp="1"/>
          </p:cNvSpPr>
          <p:nvPr>
            <p:ph type="sldNum" sz="quarter" idx="12"/>
          </p:nvPr>
        </p:nvSpPr>
        <p:spPr/>
        <p:txBody>
          <a:bodyPr/>
          <a:lstStyle/>
          <a:p>
            <a:fld id="{5553B87A-460D-439E-AF9A-B70FCE0D0803}" type="slidenum">
              <a:rPr lang="en-IN" smtClean="0"/>
              <a:t>‹#›</a:t>
            </a:fld>
            <a:endParaRPr lang="en-IN"/>
          </a:p>
        </p:txBody>
      </p:sp>
    </p:spTree>
    <p:extLst>
      <p:ext uri="{BB962C8B-B14F-4D97-AF65-F5344CB8AC3E}">
        <p14:creationId xmlns:p14="http://schemas.microsoft.com/office/powerpoint/2010/main" val="3351162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66BCB-AF2A-F1E3-A754-0B14C318BE4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5BAA10-A506-A627-BAA1-9EA089AEC6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CA6668-7B36-249D-12FC-FFB0E22531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DE341C-BA34-F590-25BD-8B7A4367D5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06626F-2F60-914A-4D54-731F456952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7620D0-33F5-0165-2A9D-2E44714652EA}"/>
              </a:ext>
            </a:extLst>
          </p:cNvPr>
          <p:cNvSpPr>
            <a:spLocks noGrp="1"/>
          </p:cNvSpPr>
          <p:nvPr>
            <p:ph type="dt" sz="half" idx="10"/>
          </p:nvPr>
        </p:nvSpPr>
        <p:spPr/>
        <p:txBody>
          <a:bodyPr/>
          <a:lstStyle/>
          <a:p>
            <a:fld id="{7559BF3C-4DB6-4035-9314-C67672851BA7}" type="datetimeFigureOut">
              <a:rPr lang="en-IN" smtClean="0"/>
              <a:t>24-08-2026</a:t>
            </a:fld>
            <a:endParaRPr lang="en-IN"/>
          </a:p>
        </p:txBody>
      </p:sp>
      <p:sp>
        <p:nvSpPr>
          <p:cNvPr id="8" name="Footer Placeholder 7">
            <a:extLst>
              <a:ext uri="{FF2B5EF4-FFF2-40B4-BE49-F238E27FC236}">
                <a16:creationId xmlns:a16="http://schemas.microsoft.com/office/drawing/2014/main" id="{CB2B87C9-4383-792F-A1DF-702C1E035C6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DDD68A-E81B-21C9-38F6-E2629A55058D}"/>
              </a:ext>
            </a:extLst>
          </p:cNvPr>
          <p:cNvSpPr>
            <a:spLocks noGrp="1"/>
          </p:cNvSpPr>
          <p:nvPr>
            <p:ph type="sldNum" sz="quarter" idx="12"/>
          </p:nvPr>
        </p:nvSpPr>
        <p:spPr/>
        <p:txBody>
          <a:bodyPr/>
          <a:lstStyle/>
          <a:p>
            <a:fld id="{5553B87A-460D-439E-AF9A-B70FCE0D0803}" type="slidenum">
              <a:rPr lang="en-IN" smtClean="0"/>
              <a:t>‹#›</a:t>
            </a:fld>
            <a:endParaRPr lang="en-IN"/>
          </a:p>
        </p:txBody>
      </p:sp>
    </p:spTree>
    <p:extLst>
      <p:ext uri="{BB962C8B-B14F-4D97-AF65-F5344CB8AC3E}">
        <p14:creationId xmlns:p14="http://schemas.microsoft.com/office/powerpoint/2010/main" val="4094852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83CDC-94E4-B87E-58C5-3524CFCADF0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3771C27-AE7A-6DB1-543B-B2067F6E54E1}"/>
              </a:ext>
            </a:extLst>
          </p:cNvPr>
          <p:cNvSpPr>
            <a:spLocks noGrp="1"/>
          </p:cNvSpPr>
          <p:nvPr>
            <p:ph type="dt" sz="half" idx="10"/>
          </p:nvPr>
        </p:nvSpPr>
        <p:spPr/>
        <p:txBody>
          <a:bodyPr/>
          <a:lstStyle/>
          <a:p>
            <a:fld id="{7559BF3C-4DB6-4035-9314-C67672851BA7}" type="datetimeFigureOut">
              <a:rPr lang="en-IN" smtClean="0"/>
              <a:t>24-08-2026</a:t>
            </a:fld>
            <a:endParaRPr lang="en-IN"/>
          </a:p>
        </p:txBody>
      </p:sp>
      <p:sp>
        <p:nvSpPr>
          <p:cNvPr id="4" name="Footer Placeholder 3">
            <a:extLst>
              <a:ext uri="{FF2B5EF4-FFF2-40B4-BE49-F238E27FC236}">
                <a16:creationId xmlns:a16="http://schemas.microsoft.com/office/drawing/2014/main" id="{B5A9CF33-5E0B-0F57-3846-774E88BCBA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C4C7DFE-A8CC-7A30-E425-EA75B972C8E1}"/>
              </a:ext>
            </a:extLst>
          </p:cNvPr>
          <p:cNvSpPr>
            <a:spLocks noGrp="1"/>
          </p:cNvSpPr>
          <p:nvPr>
            <p:ph type="sldNum" sz="quarter" idx="12"/>
          </p:nvPr>
        </p:nvSpPr>
        <p:spPr/>
        <p:txBody>
          <a:bodyPr/>
          <a:lstStyle/>
          <a:p>
            <a:fld id="{5553B87A-460D-439E-AF9A-B70FCE0D0803}" type="slidenum">
              <a:rPr lang="en-IN" smtClean="0"/>
              <a:t>‹#›</a:t>
            </a:fld>
            <a:endParaRPr lang="en-IN"/>
          </a:p>
        </p:txBody>
      </p:sp>
    </p:spTree>
    <p:extLst>
      <p:ext uri="{BB962C8B-B14F-4D97-AF65-F5344CB8AC3E}">
        <p14:creationId xmlns:p14="http://schemas.microsoft.com/office/powerpoint/2010/main" val="1821915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F3D9F9-68E2-15F0-D648-D6481237E3AE}"/>
              </a:ext>
            </a:extLst>
          </p:cNvPr>
          <p:cNvSpPr>
            <a:spLocks noGrp="1"/>
          </p:cNvSpPr>
          <p:nvPr>
            <p:ph type="dt" sz="half" idx="10"/>
          </p:nvPr>
        </p:nvSpPr>
        <p:spPr/>
        <p:txBody>
          <a:bodyPr/>
          <a:lstStyle/>
          <a:p>
            <a:fld id="{7559BF3C-4DB6-4035-9314-C67672851BA7}" type="datetimeFigureOut">
              <a:rPr lang="en-IN" smtClean="0"/>
              <a:t>24-08-2026</a:t>
            </a:fld>
            <a:endParaRPr lang="en-IN"/>
          </a:p>
        </p:txBody>
      </p:sp>
      <p:sp>
        <p:nvSpPr>
          <p:cNvPr id="3" name="Footer Placeholder 2">
            <a:extLst>
              <a:ext uri="{FF2B5EF4-FFF2-40B4-BE49-F238E27FC236}">
                <a16:creationId xmlns:a16="http://schemas.microsoft.com/office/drawing/2014/main" id="{E39A5642-D6A3-A985-B92A-680815DB137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D9A4C3C-E82C-5C64-C42F-90670E7E9FEE}"/>
              </a:ext>
            </a:extLst>
          </p:cNvPr>
          <p:cNvSpPr>
            <a:spLocks noGrp="1"/>
          </p:cNvSpPr>
          <p:nvPr>
            <p:ph type="sldNum" sz="quarter" idx="12"/>
          </p:nvPr>
        </p:nvSpPr>
        <p:spPr/>
        <p:txBody>
          <a:bodyPr/>
          <a:lstStyle/>
          <a:p>
            <a:fld id="{5553B87A-460D-439E-AF9A-B70FCE0D0803}" type="slidenum">
              <a:rPr lang="en-IN" smtClean="0"/>
              <a:t>‹#›</a:t>
            </a:fld>
            <a:endParaRPr lang="en-IN"/>
          </a:p>
        </p:txBody>
      </p:sp>
    </p:spTree>
    <p:extLst>
      <p:ext uri="{BB962C8B-B14F-4D97-AF65-F5344CB8AC3E}">
        <p14:creationId xmlns:p14="http://schemas.microsoft.com/office/powerpoint/2010/main" val="3430412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55E06-8323-B7E2-A378-9CAFDE0263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FEFF57C-016B-F927-BD21-3DC0BF67FC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0047FD-E46D-947F-6E19-258FDDAC09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503BD9-4CAD-4056-FAD5-A9C75AD9280B}"/>
              </a:ext>
            </a:extLst>
          </p:cNvPr>
          <p:cNvSpPr>
            <a:spLocks noGrp="1"/>
          </p:cNvSpPr>
          <p:nvPr>
            <p:ph type="dt" sz="half" idx="10"/>
          </p:nvPr>
        </p:nvSpPr>
        <p:spPr/>
        <p:txBody>
          <a:bodyPr/>
          <a:lstStyle/>
          <a:p>
            <a:fld id="{7559BF3C-4DB6-4035-9314-C67672851BA7}" type="datetimeFigureOut">
              <a:rPr lang="en-IN" smtClean="0"/>
              <a:t>24-08-2026</a:t>
            </a:fld>
            <a:endParaRPr lang="en-IN"/>
          </a:p>
        </p:txBody>
      </p:sp>
      <p:sp>
        <p:nvSpPr>
          <p:cNvPr id="6" name="Footer Placeholder 5">
            <a:extLst>
              <a:ext uri="{FF2B5EF4-FFF2-40B4-BE49-F238E27FC236}">
                <a16:creationId xmlns:a16="http://schemas.microsoft.com/office/drawing/2014/main" id="{C149C09B-05C0-5032-AE6C-2D9A84B9D8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0AA88B-92E8-EF67-A264-3E6AE0B120BE}"/>
              </a:ext>
            </a:extLst>
          </p:cNvPr>
          <p:cNvSpPr>
            <a:spLocks noGrp="1"/>
          </p:cNvSpPr>
          <p:nvPr>
            <p:ph type="sldNum" sz="quarter" idx="12"/>
          </p:nvPr>
        </p:nvSpPr>
        <p:spPr/>
        <p:txBody>
          <a:bodyPr/>
          <a:lstStyle/>
          <a:p>
            <a:fld id="{5553B87A-460D-439E-AF9A-B70FCE0D0803}" type="slidenum">
              <a:rPr lang="en-IN" smtClean="0"/>
              <a:t>‹#›</a:t>
            </a:fld>
            <a:endParaRPr lang="en-IN"/>
          </a:p>
        </p:txBody>
      </p:sp>
    </p:spTree>
    <p:extLst>
      <p:ext uri="{BB962C8B-B14F-4D97-AF65-F5344CB8AC3E}">
        <p14:creationId xmlns:p14="http://schemas.microsoft.com/office/powerpoint/2010/main" val="333947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B8FB2-1A0C-69D3-E924-1C4DBD564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61E221-9DCB-5EC3-0ACF-E568C073E3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39F0695-3B8D-E1AE-9D5C-AAC772D08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DB2136-3831-A053-B8FF-883F659C4629}"/>
              </a:ext>
            </a:extLst>
          </p:cNvPr>
          <p:cNvSpPr>
            <a:spLocks noGrp="1"/>
          </p:cNvSpPr>
          <p:nvPr>
            <p:ph type="dt" sz="half" idx="10"/>
          </p:nvPr>
        </p:nvSpPr>
        <p:spPr/>
        <p:txBody>
          <a:bodyPr/>
          <a:lstStyle/>
          <a:p>
            <a:fld id="{7559BF3C-4DB6-4035-9314-C67672851BA7}" type="datetimeFigureOut">
              <a:rPr lang="en-IN" smtClean="0"/>
              <a:t>24-08-2026</a:t>
            </a:fld>
            <a:endParaRPr lang="en-IN"/>
          </a:p>
        </p:txBody>
      </p:sp>
      <p:sp>
        <p:nvSpPr>
          <p:cNvPr id="6" name="Footer Placeholder 5">
            <a:extLst>
              <a:ext uri="{FF2B5EF4-FFF2-40B4-BE49-F238E27FC236}">
                <a16:creationId xmlns:a16="http://schemas.microsoft.com/office/drawing/2014/main" id="{59B5BCA8-BE7D-0666-2AD8-03FD601E77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813B96-1DE5-1EDB-032B-E7230E6E41FE}"/>
              </a:ext>
            </a:extLst>
          </p:cNvPr>
          <p:cNvSpPr>
            <a:spLocks noGrp="1"/>
          </p:cNvSpPr>
          <p:nvPr>
            <p:ph type="sldNum" sz="quarter" idx="12"/>
          </p:nvPr>
        </p:nvSpPr>
        <p:spPr/>
        <p:txBody>
          <a:bodyPr/>
          <a:lstStyle/>
          <a:p>
            <a:fld id="{5553B87A-460D-439E-AF9A-B70FCE0D0803}" type="slidenum">
              <a:rPr lang="en-IN" smtClean="0"/>
              <a:t>‹#›</a:t>
            </a:fld>
            <a:endParaRPr lang="en-IN"/>
          </a:p>
        </p:txBody>
      </p:sp>
    </p:spTree>
    <p:extLst>
      <p:ext uri="{BB962C8B-B14F-4D97-AF65-F5344CB8AC3E}">
        <p14:creationId xmlns:p14="http://schemas.microsoft.com/office/powerpoint/2010/main" val="1693773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3FA53-82E4-0318-F5BF-988DA1BF27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BA73F0-58AE-3C72-FE9A-B346C0E580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F60E85-2595-DFCA-46DA-AD8495FFE902}"/>
              </a:ext>
            </a:extLst>
          </p:cNvPr>
          <p:cNvSpPr>
            <a:spLocks noGrp="1"/>
          </p:cNvSpPr>
          <p:nvPr>
            <p:ph type="dt" sz="half" idx="10"/>
          </p:nvPr>
        </p:nvSpPr>
        <p:spPr/>
        <p:txBody>
          <a:bodyPr/>
          <a:lstStyle/>
          <a:p>
            <a:fld id="{7559BF3C-4DB6-4035-9314-C67672851BA7}" type="datetimeFigureOut">
              <a:rPr lang="en-IN" smtClean="0"/>
              <a:t>24-08-2026</a:t>
            </a:fld>
            <a:endParaRPr lang="en-IN"/>
          </a:p>
        </p:txBody>
      </p:sp>
      <p:sp>
        <p:nvSpPr>
          <p:cNvPr id="5" name="Footer Placeholder 4">
            <a:extLst>
              <a:ext uri="{FF2B5EF4-FFF2-40B4-BE49-F238E27FC236}">
                <a16:creationId xmlns:a16="http://schemas.microsoft.com/office/drawing/2014/main" id="{E1D72A3D-5850-EC1B-3642-D50EE36CBF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F81A59-CE86-B386-7B47-602C0FE21C2A}"/>
              </a:ext>
            </a:extLst>
          </p:cNvPr>
          <p:cNvSpPr>
            <a:spLocks noGrp="1"/>
          </p:cNvSpPr>
          <p:nvPr>
            <p:ph type="sldNum" sz="quarter" idx="12"/>
          </p:nvPr>
        </p:nvSpPr>
        <p:spPr/>
        <p:txBody>
          <a:bodyPr/>
          <a:lstStyle/>
          <a:p>
            <a:fld id="{5553B87A-460D-439E-AF9A-B70FCE0D0803}" type="slidenum">
              <a:rPr lang="en-IN" smtClean="0"/>
              <a:t>‹#›</a:t>
            </a:fld>
            <a:endParaRPr lang="en-IN"/>
          </a:p>
        </p:txBody>
      </p:sp>
    </p:spTree>
    <p:extLst>
      <p:ext uri="{BB962C8B-B14F-4D97-AF65-F5344CB8AC3E}">
        <p14:creationId xmlns:p14="http://schemas.microsoft.com/office/powerpoint/2010/main" val="1032388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E64543-0703-E0D1-9C49-682F86E34B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EC5D40-732C-28BA-573D-9AE39059D9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DEE2EF-7E2B-4478-C493-E638BBA6288F}"/>
              </a:ext>
            </a:extLst>
          </p:cNvPr>
          <p:cNvSpPr>
            <a:spLocks noGrp="1"/>
          </p:cNvSpPr>
          <p:nvPr>
            <p:ph type="dt" sz="half" idx="10"/>
          </p:nvPr>
        </p:nvSpPr>
        <p:spPr/>
        <p:txBody>
          <a:bodyPr/>
          <a:lstStyle/>
          <a:p>
            <a:fld id="{7559BF3C-4DB6-4035-9314-C67672851BA7}" type="datetimeFigureOut">
              <a:rPr lang="en-IN" smtClean="0"/>
              <a:t>24-08-2026</a:t>
            </a:fld>
            <a:endParaRPr lang="en-IN"/>
          </a:p>
        </p:txBody>
      </p:sp>
      <p:sp>
        <p:nvSpPr>
          <p:cNvPr id="5" name="Footer Placeholder 4">
            <a:extLst>
              <a:ext uri="{FF2B5EF4-FFF2-40B4-BE49-F238E27FC236}">
                <a16:creationId xmlns:a16="http://schemas.microsoft.com/office/drawing/2014/main" id="{43955070-C3BA-64EF-0A4F-7C9DECEED3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A403FE-2918-931A-9EBE-28A150BEAA2E}"/>
              </a:ext>
            </a:extLst>
          </p:cNvPr>
          <p:cNvSpPr>
            <a:spLocks noGrp="1"/>
          </p:cNvSpPr>
          <p:nvPr>
            <p:ph type="sldNum" sz="quarter" idx="12"/>
          </p:nvPr>
        </p:nvSpPr>
        <p:spPr/>
        <p:txBody>
          <a:bodyPr/>
          <a:lstStyle/>
          <a:p>
            <a:fld id="{5553B87A-460D-439E-AF9A-B70FCE0D0803}" type="slidenum">
              <a:rPr lang="en-IN" smtClean="0"/>
              <a:t>‹#›</a:t>
            </a:fld>
            <a:endParaRPr lang="en-IN"/>
          </a:p>
        </p:txBody>
      </p:sp>
    </p:spTree>
    <p:extLst>
      <p:ext uri="{BB962C8B-B14F-4D97-AF65-F5344CB8AC3E}">
        <p14:creationId xmlns:p14="http://schemas.microsoft.com/office/powerpoint/2010/main" val="2292229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2270D0-7B3A-F797-3741-979C17DD63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09BEFD-A9A5-3D27-36B9-002F78EB80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FF735F-7CDF-8C7A-2C81-2E6C794E8E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59BF3C-4DB6-4035-9314-C67672851BA7}" type="datetimeFigureOut">
              <a:rPr lang="en-IN" smtClean="0"/>
              <a:t>24-08-2026</a:t>
            </a:fld>
            <a:endParaRPr lang="en-IN"/>
          </a:p>
        </p:txBody>
      </p:sp>
      <p:sp>
        <p:nvSpPr>
          <p:cNvPr id="5" name="Footer Placeholder 4">
            <a:extLst>
              <a:ext uri="{FF2B5EF4-FFF2-40B4-BE49-F238E27FC236}">
                <a16:creationId xmlns:a16="http://schemas.microsoft.com/office/drawing/2014/main" id="{BF87253F-83F8-A033-DF73-49A2795C4C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D0E28DA-7F01-FFCA-F048-C4BA07665E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53B87A-460D-439E-AF9A-B70FCE0D0803}" type="slidenum">
              <a:rPr lang="en-IN" smtClean="0"/>
              <a:t>‹#›</a:t>
            </a:fld>
            <a:endParaRPr lang="en-IN"/>
          </a:p>
        </p:txBody>
      </p:sp>
    </p:spTree>
    <p:extLst>
      <p:ext uri="{BB962C8B-B14F-4D97-AF65-F5344CB8AC3E}">
        <p14:creationId xmlns:p14="http://schemas.microsoft.com/office/powerpoint/2010/main" val="3849105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D04E8-5DB1-588C-DCDB-60774FA13BC8}"/>
              </a:ext>
            </a:extLst>
          </p:cNvPr>
          <p:cNvSpPr>
            <a:spLocks noGrp="1"/>
          </p:cNvSpPr>
          <p:nvPr>
            <p:ph type="ctrTitle"/>
          </p:nvPr>
        </p:nvSpPr>
        <p:spPr/>
        <p:txBody>
          <a:bodyPr/>
          <a:lstStyle/>
          <a:p>
            <a:r>
              <a:rPr lang="en-IN" dirty="0"/>
              <a:t>Bio-Mechanics Study of Human Arm.</a:t>
            </a:r>
          </a:p>
        </p:txBody>
      </p:sp>
      <p:sp>
        <p:nvSpPr>
          <p:cNvPr id="3" name="Subtitle 2">
            <a:extLst>
              <a:ext uri="{FF2B5EF4-FFF2-40B4-BE49-F238E27FC236}">
                <a16:creationId xmlns:a16="http://schemas.microsoft.com/office/drawing/2014/main" id="{29CF6CE0-F1A4-24EC-666D-ECC4C6FC3B14}"/>
              </a:ext>
            </a:extLst>
          </p:cNvPr>
          <p:cNvSpPr>
            <a:spLocks noGrp="1"/>
          </p:cNvSpPr>
          <p:nvPr>
            <p:ph type="subTitle" idx="1"/>
          </p:nvPr>
        </p:nvSpPr>
        <p:spPr>
          <a:xfrm>
            <a:off x="1524000" y="4186238"/>
            <a:ext cx="9144000" cy="1655762"/>
          </a:xfrm>
        </p:spPr>
        <p:txBody>
          <a:bodyPr/>
          <a:lstStyle/>
          <a:p>
            <a:pPr algn="l"/>
            <a:r>
              <a:rPr lang="en-IN" dirty="0"/>
              <a:t>Presented by: Atharv Nagvekar</a:t>
            </a:r>
            <a:br>
              <a:rPr lang="en-IN" dirty="0"/>
            </a:br>
            <a:r>
              <a:rPr lang="en-IN" dirty="0"/>
              <a:t>Group: ATRC [Student Intern]</a:t>
            </a:r>
          </a:p>
          <a:p>
            <a:pPr algn="l"/>
            <a:r>
              <a:rPr lang="en-IN" dirty="0"/>
              <a:t>Under the guidance of: Arvind Bansode [Sc-E]</a:t>
            </a:r>
          </a:p>
          <a:p>
            <a:pPr algn="l"/>
            <a:endParaRPr lang="en-IN" dirty="0"/>
          </a:p>
        </p:txBody>
      </p:sp>
    </p:spTree>
    <p:extLst>
      <p:ext uri="{BB962C8B-B14F-4D97-AF65-F5344CB8AC3E}">
        <p14:creationId xmlns:p14="http://schemas.microsoft.com/office/powerpoint/2010/main" val="1034981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A0FDD4-0ED6-C075-A27D-A0460A3B5F7F}"/>
              </a:ext>
            </a:extLst>
          </p:cNvPr>
          <p:cNvSpPr txBox="1"/>
          <p:nvPr/>
        </p:nvSpPr>
        <p:spPr>
          <a:xfrm>
            <a:off x="355601" y="355600"/>
            <a:ext cx="11472332" cy="1754326"/>
          </a:xfrm>
          <a:prstGeom prst="rect">
            <a:avLst/>
          </a:prstGeom>
          <a:noFill/>
        </p:spPr>
        <p:txBody>
          <a:bodyPr wrap="square" rtlCol="0">
            <a:spAutoFit/>
          </a:bodyPr>
          <a:lstStyle/>
          <a:p>
            <a:r>
              <a:rPr lang="en-IN" dirty="0"/>
              <a:t>Topic: Bio-Mechanics Study of Human Arm for deriving the characteristics of the actuator parameters based on human muscle capability and analysis &amp; simulation of Bio-Mechanic Using available software.</a:t>
            </a:r>
          </a:p>
          <a:p>
            <a:endParaRPr lang="en-IN" dirty="0"/>
          </a:p>
          <a:p>
            <a:r>
              <a:rPr lang="en-IN" dirty="0"/>
              <a:t>Schedule for 6 months [June 26 – Jan 27]</a:t>
            </a:r>
          </a:p>
          <a:p>
            <a:endParaRPr lang="en-IN" dirty="0"/>
          </a:p>
          <a:p>
            <a:endParaRPr lang="en-IN" dirty="0"/>
          </a:p>
        </p:txBody>
      </p:sp>
      <p:graphicFrame>
        <p:nvGraphicFramePr>
          <p:cNvPr id="5" name="Table 4">
            <a:extLst>
              <a:ext uri="{FF2B5EF4-FFF2-40B4-BE49-F238E27FC236}">
                <a16:creationId xmlns:a16="http://schemas.microsoft.com/office/drawing/2014/main" id="{8668D837-362A-4E4E-DFAF-0F179873A825}"/>
              </a:ext>
            </a:extLst>
          </p:cNvPr>
          <p:cNvGraphicFramePr>
            <a:graphicFrameLocks noGrp="1"/>
          </p:cNvGraphicFramePr>
          <p:nvPr>
            <p:extLst>
              <p:ext uri="{D42A27DB-BD31-4B8C-83A1-F6EECF244321}">
                <p14:modId xmlns:p14="http://schemas.microsoft.com/office/powerpoint/2010/main" val="2032802243"/>
              </p:ext>
            </p:extLst>
          </p:nvPr>
        </p:nvGraphicFramePr>
        <p:xfrm>
          <a:off x="728134" y="1693333"/>
          <a:ext cx="10727266" cy="4485640"/>
        </p:xfrm>
        <a:graphic>
          <a:graphicData uri="http://schemas.openxmlformats.org/drawingml/2006/table">
            <a:tbl>
              <a:tblPr firstRow="1" bandRow="1">
                <a:tableStyleId>{5C22544A-7EE6-4342-B048-85BDC9FD1C3A}</a:tableStyleId>
              </a:tblPr>
              <a:tblGrid>
                <a:gridCol w="960984">
                  <a:extLst>
                    <a:ext uri="{9D8B030D-6E8A-4147-A177-3AD203B41FA5}">
                      <a16:colId xmlns:a16="http://schemas.microsoft.com/office/drawing/2014/main" val="4211423117"/>
                    </a:ext>
                  </a:extLst>
                </a:gridCol>
                <a:gridCol w="3136882">
                  <a:extLst>
                    <a:ext uri="{9D8B030D-6E8A-4147-A177-3AD203B41FA5}">
                      <a16:colId xmlns:a16="http://schemas.microsoft.com/office/drawing/2014/main" val="2583203506"/>
                    </a:ext>
                  </a:extLst>
                </a:gridCol>
                <a:gridCol w="3801534">
                  <a:extLst>
                    <a:ext uri="{9D8B030D-6E8A-4147-A177-3AD203B41FA5}">
                      <a16:colId xmlns:a16="http://schemas.microsoft.com/office/drawing/2014/main" val="1690392856"/>
                    </a:ext>
                  </a:extLst>
                </a:gridCol>
                <a:gridCol w="1828800">
                  <a:extLst>
                    <a:ext uri="{9D8B030D-6E8A-4147-A177-3AD203B41FA5}">
                      <a16:colId xmlns:a16="http://schemas.microsoft.com/office/drawing/2014/main" val="482228436"/>
                    </a:ext>
                  </a:extLst>
                </a:gridCol>
                <a:gridCol w="999066">
                  <a:extLst>
                    <a:ext uri="{9D8B030D-6E8A-4147-A177-3AD203B41FA5}">
                      <a16:colId xmlns:a16="http://schemas.microsoft.com/office/drawing/2014/main" val="1213220440"/>
                    </a:ext>
                  </a:extLst>
                </a:gridCol>
              </a:tblGrid>
              <a:tr h="370840">
                <a:tc>
                  <a:txBody>
                    <a:bodyPr/>
                    <a:lstStyle/>
                    <a:p>
                      <a:pPr algn="ctr"/>
                      <a:r>
                        <a:rPr lang="en-IN" dirty="0"/>
                        <a:t>Sr. No</a:t>
                      </a:r>
                    </a:p>
                  </a:txBody>
                  <a:tcPr/>
                </a:tc>
                <a:tc>
                  <a:txBody>
                    <a:bodyPr/>
                    <a:lstStyle/>
                    <a:p>
                      <a:pPr algn="just"/>
                      <a:r>
                        <a:rPr lang="en-IN" dirty="0"/>
                        <a:t>Task</a:t>
                      </a:r>
                    </a:p>
                  </a:txBody>
                  <a:tcPr/>
                </a:tc>
                <a:tc>
                  <a:txBody>
                    <a:bodyPr/>
                    <a:lstStyle/>
                    <a:p>
                      <a:pPr algn="just"/>
                      <a:r>
                        <a:rPr lang="en-IN" dirty="0"/>
                        <a:t>Methodology </a:t>
                      </a:r>
                    </a:p>
                  </a:txBody>
                  <a:tcPr/>
                </a:tc>
                <a:tc>
                  <a:txBody>
                    <a:bodyPr/>
                    <a:lstStyle/>
                    <a:p>
                      <a:pPr algn="just"/>
                      <a:r>
                        <a:rPr lang="en-IN" dirty="0"/>
                        <a:t>Result </a:t>
                      </a:r>
                    </a:p>
                  </a:txBody>
                  <a:tcPr/>
                </a:tc>
                <a:tc>
                  <a:txBody>
                    <a:bodyPr/>
                    <a:lstStyle/>
                    <a:p>
                      <a:pPr algn="ctr"/>
                      <a:r>
                        <a:rPr lang="en-IN" dirty="0"/>
                        <a:t>Timeline</a:t>
                      </a:r>
                    </a:p>
                  </a:txBody>
                  <a:tcPr/>
                </a:tc>
                <a:extLst>
                  <a:ext uri="{0D108BD9-81ED-4DB2-BD59-A6C34878D82A}">
                    <a16:rowId xmlns:a16="http://schemas.microsoft.com/office/drawing/2014/main" val="656430831"/>
                  </a:ext>
                </a:extLst>
              </a:tr>
              <a:tr h="370840">
                <a:tc>
                  <a:txBody>
                    <a:bodyPr/>
                    <a:lstStyle/>
                    <a:p>
                      <a:pPr algn="ctr"/>
                      <a:r>
                        <a:rPr lang="en-IN" dirty="0"/>
                        <a:t>1</a:t>
                      </a:r>
                    </a:p>
                  </a:txBody>
                  <a:tcPr/>
                </a:tc>
                <a:tc>
                  <a:txBody>
                    <a:bodyPr/>
                    <a:lstStyle/>
                    <a:p>
                      <a:pPr algn="just"/>
                      <a:r>
                        <a:rPr lang="en-IN" dirty="0"/>
                        <a:t>Bio-Mechanics Study of Human Arm</a:t>
                      </a:r>
                    </a:p>
                  </a:txBody>
                  <a:tcPr/>
                </a:tc>
                <a:tc>
                  <a:txBody>
                    <a:bodyPr/>
                    <a:lstStyle/>
                    <a:p>
                      <a:pPr algn="just"/>
                      <a:r>
                        <a:rPr lang="en-IN" dirty="0"/>
                        <a:t>Study of present research work being carried out world wide</a:t>
                      </a:r>
                    </a:p>
                  </a:txBody>
                  <a:tcPr/>
                </a:tc>
                <a:tc>
                  <a:txBody>
                    <a:bodyPr/>
                    <a:lstStyle/>
                    <a:p>
                      <a:pPr algn="just"/>
                      <a:r>
                        <a:rPr lang="en-IN" dirty="0"/>
                        <a:t>Detailed understanding Bio-Mechanics of Human Arm</a:t>
                      </a:r>
                    </a:p>
                  </a:txBody>
                  <a:tcPr/>
                </a:tc>
                <a:tc>
                  <a:txBody>
                    <a:bodyPr/>
                    <a:lstStyle/>
                    <a:p>
                      <a:pPr algn="ctr"/>
                      <a:r>
                        <a:rPr lang="en-IN" dirty="0"/>
                        <a:t>Jun-Sep 26</a:t>
                      </a:r>
                    </a:p>
                  </a:txBody>
                  <a:tcPr/>
                </a:tc>
                <a:extLst>
                  <a:ext uri="{0D108BD9-81ED-4DB2-BD59-A6C34878D82A}">
                    <a16:rowId xmlns:a16="http://schemas.microsoft.com/office/drawing/2014/main" val="769977973"/>
                  </a:ext>
                </a:extLst>
              </a:tr>
              <a:tr h="370840">
                <a:tc>
                  <a:txBody>
                    <a:bodyPr/>
                    <a:lstStyle/>
                    <a:p>
                      <a:pPr algn="ctr"/>
                      <a:r>
                        <a:rPr lang="en-IN" dirty="0"/>
                        <a:t>2</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dirty="0"/>
                        <a:t>Bio-Mechanics Study of Human Arm for deriving the characteristics of the actuator parameters based on human muscle capability</a:t>
                      </a:r>
                    </a:p>
                    <a:p>
                      <a:pPr algn="just"/>
                      <a:endParaRPr lang="en-IN" dirty="0"/>
                    </a:p>
                  </a:txBody>
                  <a:tcPr/>
                </a:tc>
                <a:tc>
                  <a:txBody>
                    <a:bodyPr/>
                    <a:lstStyle/>
                    <a:p>
                      <a:pPr algn="just"/>
                      <a:r>
                        <a:rPr lang="en-IN" dirty="0"/>
                        <a:t>Study of present research work being</a:t>
                      </a:r>
                    </a:p>
                  </a:txBody>
                  <a:tcPr/>
                </a:tc>
                <a:tc>
                  <a:txBody>
                    <a:bodyPr/>
                    <a:lstStyle/>
                    <a:p>
                      <a:pPr algn="just"/>
                      <a:r>
                        <a:rPr lang="en-IN" dirty="0"/>
                        <a:t>Detailed report of the study and analysis</a:t>
                      </a:r>
                    </a:p>
                  </a:txBody>
                  <a:tcPr/>
                </a:tc>
                <a:tc>
                  <a:txBody>
                    <a:bodyPr/>
                    <a:lstStyle/>
                    <a:p>
                      <a:pPr algn="ctr"/>
                      <a:r>
                        <a:rPr lang="en-IN" dirty="0"/>
                        <a:t>Oct-Nov 26</a:t>
                      </a:r>
                    </a:p>
                  </a:txBody>
                  <a:tcPr/>
                </a:tc>
                <a:extLst>
                  <a:ext uri="{0D108BD9-81ED-4DB2-BD59-A6C34878D82A}">
                    <a16:rowId xmlns:a16="http://schemas.microsoft.com/office/drawing/2014/main" val="3830786165"/>
                  </a:ext>
                </a:extLst>
              </a:tr>
              <a:tr h="370840">
                <a:tc>
                  <a:txBody>
                    <a:bodyPr/>
                    <a:lstStyle/>
                    <a:p>
                      <a:pPr algn="ctr"/>
                      <a:r>
                        <a:rPr lang="en-IN" dirty="0"/>
                        <a:t>3</a:t>
                      </a:r>
                    </a:p>
                  </a:txBody>
                  <a:tcPr/>
                </a:tc>
                <a:tc>
                  <a:txBody>
                    <a:bodyPr/>
                    <a:lstStyle/>
                    <a:p>
                      <a:pPr algn="just"/>
                      <a:r>
                        <a:rPr lang="en-IN" dirty="0"/>
                        <a:t>Analysis &amp; simulation of Bio-Mechanic Using available software</a:t>
                      </a:r>
                    </a:p>
                  </a:txBody>
                  <a:tcPr/>
                </a:tc>
                <a:tc>
                  <a:txBody>
                    <a:bodyPr/>
                    <a:lstStyle/>
                    <a:p>
                      <a:pPr algn="just"/>
                      <a:r>
                        <a:rPr lang="en-IN" dirty="0"/>
                        <a:t>Simulations of different configurations</a:t>
                      </a:r>
                    </a:p>
                  </a:txBody>
                  <a:tcPr/>
                </a:tc>
                <a:tc>
                  <a:txBody>
                    <a:bodyPr/>
                    <a:lstStyle/>
                    <a:p>
                      <a:pPr algn="just"/>
                      <a:r>
                        <a:rPr lang="en-IN" dirty="0"/>
                        <a:t>Comparison with standard literature actuator</a:t>
                      </a:r>
                    </a:p>
                  </a:txBody>
                  <a:tcPr/>
                </a:tc>
                <a:tc>
                  <a:txBody>
                    <a:bodyPr/>
                    <a:lstStyle/>
                    <a:p>
                      <a:pPr algn="ctr"/>
                      <a:r>
                        <a:rPr lang="en-IN" dirty="0"/>
                        <a:t>Dec- Jan 27</a:t>
                      </a:r>
                    </a:p>
                  </a:txBody>
                  <a:tcPr/>
                </a:tc>
                <a:extLst>
                  <a:ext uri="{0D108BD9-81ED-4DB2-BD59-A6C34878D82A}">
                    <a16:rowId xmlns:a16="http://schemas.microsoft.com/office/drawing/2014/main" val="273746258"/>
                  </a:ext>
                </a:extLst>
              </a:tr>
            </a:tbl>
          </a:graphicData>
        </a:graphic>
      </p:graphicFrame>
    </p:spTree>
    <p:extLst>
      <p:ext uri="{BB962C8B-B14F-4D97-AF65-F5344CB8AC3E}">
        <p14:creationId xmlns:p14="http://schemas.microsoft.com/office/powerpoint/2010/main" val="2707457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B46C23C-F0EA-A205-FA00-035C35B1F8DD}"/>
              </a:ext>
            </a:extLst>
          </p:cNvPr>
          <p:cNvSpPr txBox="1"/>
          <p:nvPr/>
        </p:nvSpPr>
        <p:spPr>
          <a:xfrm>
            <a:off x="524933" y="609600"/>
            <a:ext cx="5571067" cy="5355312"/>
          </a:xfrm>
          <a:prstGeom prst="rect">
            <a:avLst/>
          </a:prstGeom>
          <a:noFill/>
        </p:spPr>
        <p:txBody>
          <a:bodyPr wrap="square" rtlCol="0">
            <a:spAutoFit/>
          </a:bodyPr>
          <a:lstStyle/>
          <a:p>
            <a:r>
              <a:rPr lang="en-IN" dirty="0"/>
              <a:t>Objective: </a:t>
            </a:r>
          </a:p>
          <a:p>
            <a:r>
              <a:rPr lang="en-IN" dirty="0"/>
              <a:t>To study the biomechanics and mechanical properties of the human arm muscles, derive actuator parameters based on human muscle capability, and analyse the biomechanical system using suitable simulation software </a:t>
            </a:r>
          </a:p>
          <a:p>
            <a:endParaRPr lang="en-IN" dirty="0"/>
          </a:p>
          <a:p>
            <a:r>
              <a:rPr lang="en-IN" dirty="0"/>
              <a:t>The human arm is a complex biomechanical system in which muscles generate force and motion through coordinated interaction with bones and joints.</a:t>
            </a:r>
          </a:p>
          <a:p>
            <a:endParaRPr lang="en-IN" dirty="0"/>
          </a:p>
          <a:p>
            <a:r>
              <a:rPr lang="en-IN" dirty="0"/>
              <a:t>The overall objective of the internship is to study the biomechanics of the human arm, understand the mechanical capability of human muscles, derive relevant actuator parameters, and finally perform analysis and simulation using available software.</a:t>
            </a:r>
          </a:p>
          <a:p>
            <a:endParaRPr lang="en-IN" dirty="0"/>
          </a:p>
          <a:p>
            <a:endParaRPr lang="en-IN" dirty="0"/>
          </a:p>
          <a:p>
            <a:endParaRPr lang="en-IN" dirty="0"/>
          </a:p>
          <a:p>
            <a:endParaRPr lang="en-IN" dirty="0"/>
          </a:p>
        </p:txBody>
      </p:sp>
      <p:pic>
        <p:nvPicPr>
          <p:cNvPr id="8" name="Picture 7">
            <a:extLst>
              <a:ext uri="{FF2B5EF4-FFF2-40B4-BE49-F238E27FC236}">
                <a16:creationId xmlns:a16="http://schemas.microsoft.com/office/drawing/2014/main" id="{86582E08-8CAC-4713-E973-010EA3563B1F}"/>
              </a:ext>
            </a:extLst>
          </p:cNvPr>
          <p:cNvPicPr>
            <a:picLocks noChangeAspect="1"/>
          </p:cNvPicPr>
          <p:nvPr/>
        </p:nvPicPr>
        <p:blipFill>
          <a:blip r:embed="rId2"/>
          <a:stretch>
            <a:fillRect/>
          </a:stretch>
        </p:blipFill>
        <p:spPr>
          <a:xfrm>
            <a:off x="6096000" y="609600"/>
            <a:ext cx="5973234" cy="3982156"/>
          </a:xfrm>
          <a:prstGeom prst="rect">
            <a:avLst/>
          </a:prstGeom>
        </p:spPr>
      </p:pic>
    </p:spTree>
    <p:extLst>
      <p:ext uri="{BB962C8B-B14F-4D97-AF65-F5344CB8AC3E}">
        <p14:creationId xmlns:p14="http://schemas.microsoft.com/office/powerpoint/2010/main" val="4204151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EE4D72-78D7-8F45-A8AC-911EF34ECF56}"/>
              </a:ext>
            </a:extLst>
          </p:cNvPr>
          <p:cNvSpPr txBox="1"/>
          <p:nvPr/>
        </p:nvSpPr>
        <p:spPr>
          <a:xfrm>
            <a:off x="829734" y="618066"/>
            <a:ext cx="10566399" cy="4801314"/>
          </a:xfrm>
          <a:prstGeom prst="rect">
            <a:avLst/>
          </a:prstGeom>
          <a:noFill/>
        </p:spPr>
        <p:txBody>
          <a:bodyPr wrap="square" rtlCol="0">
            <a:spAutoFit/>
          </a:bodyPr>
          <a:lstStyle/>
          <a:p>
            <a:r>
              <a:rPr lang="en-IN" b="1" dirty="0"/>
              <a:t>Bones in Muscles involved in Human Arm are</a:t>
            </a:r>
            <a:r>
              <a:rPr lang="en-IN" dirty="0"/>
              <a:t>:</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Major Bones</a:t>
            </a:r>
          </a:p>
          <a:p>
            <a:pPr marL="800100" lvl="1" indent="-342900">
              <a:buFont typeface="+mj-lt"/>
              <a:buAutoNum type="arabicPeriod"/>
            </a:pPr>
            <a:r>
              <a:rPr lang="en-IN" dirty="0"/>
              <a:t>Humerus – Upper arm bone </a:t>
            </a:r>
          </a:p>
          <a:p>
            <a:pPr marL="800100" lvl="1" indent="-342900">
              <a:buFont typeface="+mj-lt"/>
              <a:buAutoNum type="arabicPeriod"/>
            </a:pPr>
            <a:r>
              <a:rPr lang="en-IN" dirty="0"/>
              <a:t>Radius – Forearm bone on the thumb side </a:t>
            </a:r>
          </a:p>
          <a:p>
            <a:pPr marL="800100" lvl="1" indent="-342900">
              <a:buFont typeface="+mj-lt"/>
              <a:buAutoNum type="arabicPeriod"/>
            </a:pPr>
            <a:r>
              <a:rPr lang="en-IN" dirty="0"/>
              <a:t>Ulna – Forearm bone on the little-finger side</a:t>
            </a:r>
          </a:p>
          <a:p>
            <a:pPr marL="342900" lvl="0" indent="-342900">
              <a:buFont typeface="+mj-lt"/>
              <a:buAutoNum type="arabicPeriod"/>
            </a:pPr>
            <a:endParaRPr lang="en-IN" dirty="0"/>
          </a:p>
          <a:p>
            <a:pPr marL="285750" lvl="0" indent="-285750">
              <a:buFont typeface="Arial" panose="020B0604020202020204" pitchFamily="34" charset="0"/>
              <a:buChar char="•"/>
            </a:pPr>
            <a:r>
              <a:rPr lang="en-IN" b="1" dirty="0"/>
              <a:t>Major Muscles</a:t>
            </a:r>
          </a:p>
          <a:p>
            <a:pPr marL="800100" lvl="1" indent="-342900">
              <a:buFont typeface="+mj-lt"/>
              <a:buAutoNum type="arabicPeriod"/>
            </a:pPr>
            <a:r>
              <a:rPr lang="en-IN" dirty="0"/>
              <a:t>Biceps brachii </a:t>
            </a:r>
          </a:p>
          <a:p>
            <a:pPr marL="800100" lvl="1" indent="-342900">
              <a:buFont typeface="+mj-lt"/>
              <a:buAutoNum type="arabicPeriod"/>
            </a:pPr>
            <a:r>
              <a:rPr lang="en-IN" dirty="0"/>
              <a:t>Brachialis </a:t>
            </a:r>
          </a:p>
          <a:p>
            <a:pPr marL="800100" lvl="1" indent="-342900">
              <a:buFont typeface="+mj-lt"/>
              <a:buAutoNum type="arabicPeriod"/>
            </a:pPr>
            <a:r>
              <a:rPr lang="en-IN" dirty="0"/>
              <a:t>Brachioradialis </a:t>
            </a:r>
          </a:p>
          <a:p>
            <a:pPr marL="800100" lvl="1" indent="-342900">
              <a:buFont typeface="+mj-lt"/>
              <a:buAutoNum type="arabicPeriod"/>
            </a:pPr>
            <a:r>
              <a:rPr lang="en-IN" dirty="0"/>
              <a:t>Triceps brachii </a:t>
            </a:r>
          </a:p>
          <a:p>
            <a:pPr marL="800100" lvl="1" indent="-342900">
              <a:buFont typeface="+mj-lt"/>
              <a:buAutoNum type="arabicPeriod"/>
            </a:pPr>
            <a:r>
              <a:rPr lang="en-IN" dirty="0" err="1"/>
              <a:t>Anconeus</a:t>
            </a:r>
            <a:r>
              <a:rPr lang="en-IN" dirty="0"/>
              <a:t> </a:t>
            </a:r>
          </a:p>
          <a:p>
            <a:pPr marL="800100" lvl="1" indent="-342900">
              <a:buFont typeface="+mj-lt"/>
              <a:buAutoNum type="arabicPeriod"/>
            </a:pPr>
            <a:r>
              <a:rPr lang="en-IN" dirty="0"/>
              <a:t>Pronator teres</a:t>
            </a:r>
          </a:p>
          <a:p>
            <a:pPr marL="342900" lvl="0" indent="-342900">
              <a:buFont typeface="+mj-lt"/>
              <a:buAutoNum type="arabicPeriod"/>
            </a:pPr>
            <a:endParaRPr lang="en-IN" dirty="0"/>
          </a:p>
          <a:p>
            <a:pPr marL="285750" lvl="0" indent="-285750">
              <a:buFont typeface="Arial" panose="020B0604020202020204" pitchFamily="34" charset="0"/>
              <a:buChar char="•"/>
            </a:pPr>
            <a:endParaRPr lang="en-IN" dirty="0"/>
          </a:p>
          <a:p>
            <a:endParaRPr lang="en-IN" dirty="0"/>
          </a:p>
        </p:txBody>
      </p:sp>
      <p:graphicFrame>
        <p:nvGraphicFramePr>
          <p:cNvPr id="3" name="Table 2">
            <a:extLst>
              <a:ext uri="{FF2B5EF4-FFF2-40B4-BE49-F238E27FC236}">
                <a16:creationId xmlns:a16="http://schemas.microsoft.com/office/drawing/2014/main" id="{FB8A8618-D608-866F-33F3-020889F2D3CC}"/>
              </a:ext>
            </a:extLst>
          </p:cNvPr>
          <p:cNvGraphicFramePr>
            <a:graphicFrameLocks noGrp="1"/>
          </p:cNvGraphicFramePr>
          <p:nvPr>
            <p:extLst>
              <p:ext uri="{D42A27DB-BD31-4B8C-83A1-F6EECF244321}">
                <p14:modId xmlns:p14="http://schemas.microsoft.com/office/powerpoint/2010/main" val="3941633146"/>
              </p:ext>
            </p:extLst>
          </p:nvPr>
        </p:nvGraphicFramePr>
        <p:xfrm>
          <a:off x="5775959" y="762000"/>
          <a:ext cx="673947" cy="450426"/>
        </p:xfrm>
        <a:graphic>
          <a:graphicData uri="http://schemas.openxmlformats.org/drawingml/2006/table">
            <a:tbl>
              <a:tblPr>
                <a:tableStyleId>{073A0DAA-6AF3-43AB-8588-CEC1D06C72B9}</a:tableStyleId>
              </a:tblPr>
              <a:tblGrid>
                <a:gridCol w="673947">
                  <a:extLst>
                    <a:ext uri="{9D8B030D-6E8A-4147-A177-3AD203B41FA5}">
                      <a16:colId xmlns:a16="http://schemas.microsoft.com/office/drawing/2014/main" val="1891693762"/>
                    </a:ext>
                  </a:extLst>
                </a:gridCol>
              </a:tblGrid>
              <a:tr h="450426">
                <a:tc>
                  <a:txBody>
                    <a:bodyPr/>
                    <a:lstStyle/>
                    <a:p>
                      <a:pPr>
                        <a:buNone/>
                      </a:pPr>
                      <a:endParaRPr lang="en-IN" dirty="0"/>
                    </a:p>
                  </a:txBody>
                  <a:tcPr anchor="ctr">
                    <a:solidFill>
                      <a:schemeClr val="bg1"/>
                    </a:solidFill>
                  </a:tcPr>
                </a:tc>
                <a:extLst>
                  <a:ext uri="{0D108BD9-81ED-4DB2-BD59-A6C34878D82A}">
                    <a16:rowId xmlns:a16="http://schemas.microsoft.com/office/drawing/2014/main" val="2941454971"/>
                  </a:ext>
                </a:extLst>
              </a:tr>
            </a:tbl>
          </a:graphicData>
        </a:graphic>
      </p:graphicFrame>
    </p:spTree>
    <p:extLst>
      <p:ext uri="{BB962C8B-B14F-4D97-AF65-F5344CB8AC3E}">
        <p14:creationId xmlns:p14="http://schemas.microsoft.com/office/powerpoint/2010/main" val="1330025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3A39A-FCEE-1A13-B136-3B6C41D17E13}"/>
              </a:ext>
            </a:extLst>
          </p:cNvPr>
          <p:cNvSpPr txBox="1"/>
          <p:nvPr/>
        </p:nvSpPr>
        <p:spPr>
          <a:xfrm>
            <a:off x="601133" y="550334"/>
            <a:ext cx="11108267" cy="4247317"/>
          </a:xfrm>
          <a:prstGeom prst="rect">
            <a:avLst/>
          </a:prstGeom>
          <a:noFill/>
        </p:spPr>
        <p:txBody>
          <a:bodyPr wrap="square">
            <a:spAutoFit/>
          </a:bodyPr>
          <a:lstStyle/>
          <a:p>
            <a:pPr>
              <a:buNone/>
            </a:pPr>
            <a:r>
              <a:rPr lang="en-IN" b="1" dirty="0"/>
              <a:t>Types of Motion Around the Elbow Joint:</a:t>
            </a:r>
          </a:p>
          <a:p>
            <a:pPr>
              <a:buNone/>
            </a:pPr>
            <a:endParaRPr lang="en-IN" b="1" dirty="0"/>
          </a:p>
          <a:p>
            <a:pPr>
              <a:buNone/>
            </a:pPr>
            <a:r>
              <a:rPr lang="en-IN" dirty="0"/>
              <a:t>The human arm performs four major movements involving the </a:t>
            </a:r>
            <a:r>
              <a:rPr lang="en-IN" b="1" dirty="0"/>
              <a:t>elbow and forearm</a:t>
            </a:r>
            <a:r>
              <a:rPr lang="en-IN" dirty="0"/>
              <a:t>:</a:t>
            </a:r>
          </a:p>
          <a:p>
            <a:pPr>
              <a:buNone/>
            </a:pPr>
            <a:endParaRPr lang="en-IN" b="1" dirty="0"/>
          </a:p>
          <a:p>
            <a:pPr>
              <a:buNone/>
            </a:pPr>
            <a:r>
              <a:rPr lang="en-IN" b="1" dirty="0"/>
              <a:t>Flexion</a:t>
            </a:r>
          </a:p>
          <a:p>
            <a:pPr>
              <a:buNone/>
            </a:pPr>
            <a:r>
              <a:rPr lang="en-IN" dirty="0"/>
              <a:t>Bending of the forearm towards the upper arm, decreasing the angle at the elbow joint.</a:t>
            </a:r>
          </a:p>
          <a:p>
            <a:pPr>
              <a:buNone/>
            </a:pPr>
            <a:endParaRPr lang="en-IN" b="1" dirty="0"/>
          </a:p>
          <a:p>
            <a:pPr>
              <a:buNone/>
            </a:pPr>
            <a:r>
              <a:rPr lang="en-IN" b="1" dirty="0"/>
              <a:t>Extension</a:t>
            </a:r>
          </a:p>
          <a:p>
            <a:pPr>
              <a:buNone/>
            </a:pPr>
            <a:r>
              <a:rPr lang="en-IN" dirty="0"/>
              <a:t>Straightening of the forearm, increasing the angle between the upper arm and forearm.</a:t>
            </a:r>
          </a:p>
          <a:p>
            <a:pPr>
              <a:buNone/>
            </a:pPr>
            <a:endParaRPr lang="en-IN" b="1" dirty="0"/>
          </a:p>
          <a:p>
            <a:pPr>
              <a:buNone/>
            </a:pPr>
            <a:r>
              <a:rPr lang="en-IN" b="1" dirty="0"/>
              <a:t>Pronation</a:t>
            </a:r>
          </a:p>
          <a:p>
            <a:pPr>
              <a:buNone/>
            </a:pPr>
            <a:r>
              <a:rPr lang="en-IN" dirty="0"/>
              <a:t>Rotational movement of the forearm that turns the palm </a:t>
            </a:r>
            <a:r>
              <a:rPr lang="en-IN" b="1" dirty="0"/>
              <a:t>downward</a:t>
            </a:r>
            <a:r>
              <a:rPr lang="en-IN" dirty="0"/>
              <a:t>.</a:t>
            </a:r>
          </a:p>
          <a:p>
            <a:pPr>
              <a:buNone/>
            </a:pPr>
            <a:endParaRPr lang="en-IN" b="1" dirty="0"/>
          </a:p>
          <a:p>
            <a:pPr>
              <a:buNone/>
            </a:pPr>
            <a:r>
              <a:rPr lang="en-IN" b="1" dirty="0"/>
              <a:t>Supination</a:t>
            </a:r>
          </a:p>
          <a:p>
            <a:pPr>
              <a:buNone/>
            </a:pPr>
            <a:r>
              <a:rPr lang="en-IN" dirty="0"/>
              <a:t>Rotational movement of the forearm that turns the palm </a:t>
            </a:r>
            <a:r>
              <a:rPr lang="en-IN" b="1" dirty="0"/>
              <a:t>upward</a:t>
            </a:r>
            <a:r>
              <a:rPr lang="en-IN" dirty="0"/>
              <a:t>.</a:t>
            </a:r>
          </a:p>
        </p:txBody>
      </p:sp>
    </p:spTree>
    <p:extLst>
      <p:ext uri="{BB962C8B-B14F-4D97-AF65-F5344CB8AC3E}">
        <p14:creationId xmlns:p14="http://schemas.microsoft.com/office/powerpoint/2010/main" val="665294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A3F121-B2B6-A2E3-251C-93BD20BDB46F}"/>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1216719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21B115-6687-9D2B-2651-E6FA366FF516}"/>
              </a:ext>
            </a:extLst>
          </p:cNvPr>
          <p:cNvSpPr txBox="1"/>
          <p:nvPr/>
        </p:nvSpPr>
        <p:spPr>
          <a:xfrm>
            <a:off x="778933" y="491067"/>
            <a:ext cx="11328400" cy="923330"/>
          </a:xfrm>
          <a:prstGeom prst="rect">
            <a:avLst/>
          </a:prstGeom>
          <a:noFill/>
        </p:spPr>
        <p:txBody>
          <a:bodyPr wrap="square" rtlCol="0">
            <a:spAutoFit/>
          </a:bodyPr>
          <a:lstStyle/>
          <a:p>
            <a:r>
              <a:rPr lang="en-IN" dirty="0"/>
              <a:t>Mechanical Properties of Muscles:</a:t>
            </a:r>
          </a:p>
          <a:p>
            <a:endParaRPr lang="en-IN" dirty="0"/>
          </a:p>
          <a:p>
            <a:r>
              <a:rPr lang="en-IN" dirty="0"/>
              <a:t>1. Biceps Brachii</a:t>
            </a:r>
          </a:p>
        </p:txBody>
      </p:sp>
    </p:spTree>
    <p:extLst>
      <p:ext uri="{BB962C8B-B14F-4D97-AF65-F5344CB8AC3E}">
        <p14:creationId xmlns:p14="http://schemas.microsoft.com/office/powerpoint/2010/main" val="267452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382</Words>
  <Application>Microsoft Office PowerPoint</Application>
  <PresentationFormat>Widescreen</PresentationFormat>
  <Paragraphs>67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Bio-Mechanics Study of Human Arm.</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Atharv Nagvekar</dc:creator>
  <cp:lastModifiedBy>Atharv Nagvekar</cp:lastModifiedBy>
  <cp:revision>3</cp:revision>
  <dcterms:created xsi:type="dcterms:W3CDTF">2026-08-24T15:24:42Z</dcterms:created>
  <dcterms:modified xsi:type="dcterms:W3CDTF">2026-08-24T17:22:47Z</dcterms:modified>
</cp:coreProperties>
</file>